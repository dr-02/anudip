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78"/>
  </p:notesMasterIdLst>
  <p:sldIdLst>
    <p:sldId id="256" r:id="rId2"/>
    <p:sldId id="257" r:id="rId3"/>
    <p:sldId id="269" r:id="rId4"/>
    <p:sldId id="271" r:id="rId5"/>
    <p:sldId id="272" r:id="rId6"/>
    <p:sldId id="277" r:id="rId7"/>
    <p:sldId id="275" r:id="rId8"/>
    <p:sldId id="278" r:id="rId9"/>
    <p:sldId id="276" r:id="rId10"/>
    <p:sldId id="279" r:id="rId11"/>
    <p:sldId id="258" r:id="rId12"/>
    <p:sldId id="280" r:id="rId13"/>
    <p:sldId id="281" r:id="rId14"/>
    <p:sldId id="282" r:id="rId15"/>
    <p:sldId id="283" r:id="rId16"/>
    <p:sldId id="298" r:id="rId17"/>
    <p:sldId id="284" r:id="rId18"/>
    <p:sldId id="285" r:id="rId19"/>
    <p:sldId id="286" r:id="rId20"/>
    <p:sldId id="287" r:id="rId21"/>
    <p:sldId id="288" r:id="rId22"/>
    <p:sldId id="259" r:id="rId23"/>
    <p:sldId id="290" r:id="rId24"/>
    <p:sldId id="291" r:id="rId25"/>
    <p:sldId id="292" r:id="rId26"/>
    <p:sldId id="293" r:id="rId27"/>
    <p:sldId id="294" r:id="rId28"/>
    <p:sldId id="299" r:id="rId29"/>
    <p:sldId id="296" r:id="rId30"/>
    <p:sldId id="297" r:id="rId31"/>
    <p:sldId id="260" r:id="rId32"/>
    <p:sldId id="300" r:id="rId33"/>
    <p:sldId id="302" r:id="rId34"/>
    <p:sldId id="303" r:id="rId35"/>
    <p:sldId id="304" r:id="rId36"/>
    <p:sldId id="305" r:id="rId37"/>
    <p:sldId id="306" r:id="rId38"/>
    <p:sldId id="307" r:id="rId39"/>
    <p:sldId id="261" r:id="rId40"/>
    <p:sldId id="308" r:id="rId41"/>
    <p:sldId id="309" r:id="rId42"/>
    <p:sldId id="310" r:id="rId43"/>
    <p:sldId id="311" r:id="rId44"/>
    <p:sldId id="312" r:id="rId45"/>
    <p:sldId id="313" r:id="rId46"/>
    <p:sldId id="314" r:id="rId47"/>
    <p:sldId id="315" r:id="rId48"/>
    <p:sldId id="262" r:id="rId49"/>
    <p:sldId id="316" r:id="rId50"/>
    <p:sldId id="317" r:id="rId51"/>
    <p:sldId id="318" r:id="rId52"/>
    <p:sldId id="263" r:id="rId53"/>
    <p:sldId id="319" r:id="rId54"/>
    <p:sldId id="320" r:id="rId55"/>
    <p:sldId id="321" r:id="rId56"/>
    <p:sldId id="322" r:id="rId57"/>
    <p:sldId id="323" r:id="rId58"/>
    <p:sldId id="327" r:id="rId59"/>
    <p:sldId id="324" r:id="rId60"/>
    <p:sldId id="328" r:id="rId61"/>
    <p:sldId id="332" r:id="rId62"/>
    <p:sldId id="330" r:id="rId63"/>
    <p:sldId id="331" r:id="rId64"/>
    <p:sldId id="337" r:id="rId65"/>
    <p:sldId id="335" r:id="rId66"/>
    <p:sldId id="338" r:id="rId67"/>
    <p:sldId id="339" r:id="rId68"/>
    <p:sldId id="341" r:id="rId69"/>
    <p:sldId id="342" r:id="rId70"/>
    <p:sldId id="333" r:id="rId71"/>
    <p:sldId id="326" r:id="rId72"/>
    <p:sldId id="343" r:id="rId73"/>
    <p:sldId id="344" r:id="rId74"/>
    <p:sldId id="345" r:id="rId75"/>
    <p:sldId id="346" r:id="rId76"/>
    <p:sldId id="347" r:id="rId7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ep Roy" initials="DR" lastIdx="2" clrIdx="0">
    <p:extLst>
      <p:ext uri="{19B8F6BF-5375-455C-9EA6-DF929625EA0E}">
        <p15:presenceInfo xmlns:p15="http://schemas.microsoft.com/office/powerpoint/2012/main" userId="de1398f82bf036f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68" autoAdjust="0"/>
    <p:restoredTop sz="94851" autoAdjust="0"/>
  </p:normalViewPr>
  <p:slideViewPr>
    <p:cSldViewPr snapToGrid="0">
      <p:cViewPr varScale="1">
        <p:scale>
          <a:sx n="72" d="100"/>
          <a:sy n="72" d="100"/>
        </p:scale>
        <p:origin x="105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B49D48-B43C-4CF1-89A7-ABF0F6600338}" type="datetimeFigureOut">
              <a:rPr lang="en-IN" smtClean="0"/>
              <a:t>10-05-2026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E91118-9B7D-404C-BFC7-1C2C8DA01791}" type="slidenum">
              <a:rPr lang="en-IN" smtClean="0"/>
              <a:t>‹#›</a:t>
            </a:fld>
            <a:endParaRPr lang="en-IN"/>
          </a:p>
        </p:txBody>
      </p:sp>
    </p:spTree>
    <p:extLst>
      <p:ext uri="{BB962C8B-B14F-4D97-AF65-F5344CB8AC3E}">
        <p14:creationId xmlns:p14="http://schemas.microsoft.com/office/powerpoint/2010/main" val="1738978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E91118-9B7D-404C-BFC7-1C2C8DA01791}" type="slidenum">
              <a:rPr lang="en-IN" smtClean="0"/>
              <a:t>66</a:t>
            </a:fld>
            <a:endParaRPr lang="en-IN"/>
          </a:p>
        </p:txBody>
      </p:sp>
    </p:spTree>
    <p:extLst>
      <p:ext uri="{BB962C8B-B14F-4D97-AF65-F5344CB8AC3E}">
        <p14:creationId xmlns:p14="http://schemas.microsoft.com/office/powerpoint/2010/main" val="1361844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92B4-9CAA-8465-FF26-C8E251346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3F628-6650-A691-008A-8CB6782454E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9E41906-4AF0-BA36-EAED-9BD5DCED607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FCD7DC-8746-D5B4-EECA-F8A99EF1383D}"/>
              </a:ext>
            </a:extLst>
          </p:cNvPr>
          <p:cNvSpPr>
            <a:spLocks noGrp="1"/>
          </p:cNvSpPr>
          <p:nvPr>
            <p:ph type="sldNum" sz="quarter" idx="5"/>
          </p:nvPr>
        </p:nvSpPr>
        <p:spPr/>
        <p:txBody>
          <a:bodyPr/>
          <a:lstStyle/>
          <a:p>
            <a:fld id="{06E91118-9B7D-404C-BFC7-1C2C8DA01791}" type="slidenum">
              <a:rPr lang="en-IN" smtClean="0"/>
              <a:t>67</a:t>
            </a:fld>
            <a:endParaRPr lang="en-IN"/>
          </a:p>
        </p:txBody>
      </p:sp>
    </p:spTree>
    <p:extLst>
      <p:ext uri="{BB962C8B-B14F-4D97-AF65-F5344CB8AC3E}">
        <p14:creationId xmlns:p14="http://schemas.microsoft.com/office/powerpoint/2010/main" val="3731228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F310D-7A3D-E68B-0E37-E001356F4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018D8-3A1F-76A2-4686-E540DFB1045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A986DD4-D2E8-AA3C-CF9D-A23AA1C827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8977ED6-7F10-AF5E-5FCA-8C2FD39F3F34}"/>
              </a:ext>
            </a:extLst>
          </p:cNvPr>
          <p:cNvSpPr>
            <a:spLocks noGrp="1"/>
          </p:cNvSpPr>
          <p:nvPr>
            <p:ph type="sldNum" sz="quarter" idx="5"/>
          </p:nvPr>
        </p:nvSpPr>
        <p:spPr/>
        <p:txBody>
          <a:bodyPr/>
          <a:lstStyle/>
          <a:p>
            <a:fld id="{06E91118-9B7D-404C-BFC7-1C2C8DA01791}" type="slidenum">
              <a:rPr lang="en-IN" smtClean="0"/>
              <a:t>68</a:t>
            </a:fld>
            <a:endParaRPr lang="en-IN"/>
          </a:p>
        </p:txBody>
      </p:sp>
    </p:spTree>
    <p:extLst>
      <p:ext uri="{BB962C8B-B14F-4D97-AF65-F5344CB8AC3E}">
        <p14:creationId xmlns:p14="http://schemas.microsoft.com/office/powerpoint/2010/main" val="4163722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DE38-2CF0-9FF7-2CCA-A0BCF6C5F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99C0F-A863-6ED7-328B-C022B54724B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56B6F80-B65D-E765-F1AC-085091949A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24440A4-DF01-FA30-9E52-224515361304}"/>
              </a:ext>
            </a:extLst>
          </p:cNvPr>
          <p:cNvSpPr>
            <a:spLocks noGrp="1"/>
          </p:cNvSpPr>
          <p:nvPr>
            <p:ph type="sldNum" sz="quarter" idx="5"/>
          </p:nvPr>
        </p:nvSpPr>
        <p:spPr/>
        <p:txBody>
          <a:bodyPr/>
          <a:lstStyle/>
          <a:p>
            <a:fld id="{06E91118-9B7D-404C-BFC7-1C2C8DA01791}" type="slidenum">
              <a:rPr lang="en-IN" smtClean="0"/>
              <a:t>69</a:t>
            </a:fld>
            <a:endParaRPr lang="en-IN"/>
          </a:p>
        </p:txBody>
      </p:sp>
    </p:spTree>
    <p:extLst>
      <p:ext uri="{BB962C8B-B14F-4D97-AF65-F5344CB8AC3E}">
        <p14:creationId xmlns:p14="http://schemas.microsoft.com/office/powerpoint/2010/main" val="3552167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1AB152-CD52-41C6-99F0-248270556078}"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372199-EC9D-4C86-9588-D8C567EFB70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1468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1AB152-CD52-41C6-99F0-248270556078}"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372199-EC9D-4C86-9588-D8C567EFB70D}" type="slidenum">
              <a:rPr lang="en-IN" smtClean="0"/>
              <a:t>‹#›</a:t>
            </a:fld>
            <a:endParaRPr lang="en-IN"/>
          </a:p>
        </p:txBody>
      </p:sp>
    </p:spTree>
    <p:extLst>
      <p:ext uri="{BB962C8B-B14F-4D97-AF65-F5344CB8AC3E}">
        <p14:creationId xmlns:p14="http://schemas.microsoft.com/office/powerpoint/2010/main" val="3811782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1AB152-CD52-41C6-99F0-248270556078}"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372199-EC9D-4C86-9588-D8C567EFB70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8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1AB152-CD52-41C6-99F0-248270556078}"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372199-EC9D-4C86-9588-D8C567EFB70D}" type="slidenum">
              <a:rPr lang="en-IN" smtClean="0"/>
              <a:t>‹#›</a:t>
            </a:fld>
            <a:endParaRPr lang="en-IN"/>
          </a:p>
        </p:txBody>
      </p:sp>
    </p:spTree>
    <p:extLst>
      <p:ext uri="{BB962C8B-B14F-4D97-AF65-F5344CB8AC3E}">
        <p14:creationId xmlns:p14="http://schemas.microsoft.com/office/powerpoint/2010/main" val="1151460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1AB152-CD52-41C6-99F0-248270556078}" type="datetimeFigureOut">
              <a:rPr lang="en-IN" smtClean="0"/>
              <a:t>10-05-2026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372199-EC9D-4C86-9588-D8C567EFB70D}" type="slidenum">
              <a:rPr lang="en-IN" smtClean="0"/>
              <a:t>‹#›</a:t>
            </a:fld>
            <a:endParaRPr lang="en-IN"/>
          </a:p>
        </p:txBody>
      </p:sp>
    </p:spTree>
    <p:extLst>
      <p:ext uri="{BB962C8B-B14F-4D97-AF65-F5344CB8AC3E}">
        <p14:creationId xmlns:p14="http://schemas.microsoft.com/office/powerpoint/2010/main" val="1965212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1AB152-CD52-41C6-99F0-248270556078}" type="datetimeFigureOut">
              <a:rPr lang="en-IN" smtClean="0"/>
              <a:t>10-05-2026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372199-EC9D-4C86-9588-D8C567EFB70D}" type="slidenum">
              <a:rPr lang="en-IN" smtClean="0"/>
              <a:t>‹#›</a:t>
            </a:fld>
            <a:endParaRPr lang="en-IN"/>
          </a:p>
        </p:txBody>
      </p:sp>
    </p:spTree>
    <p:extLst>
      <p:ext uri="{BB962C8B-B14F-4D97-AF65-F5344CB8AC3E}">
        <p14:creationId xmlns:p14="http://schemas.microsoft.com/office/powerpoint/2010/main" val="1964442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301AB152-CD52-41C6-99F0-248270556078}" type="datetimeFigureOut">
              <a:rPr lang="en-IN" smtClean="0"/>
              <a:t>10-05-2026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6372199-EC9D-4C86-9588-D8C567EFB70D}" type="slidenum">
              <a:rPr lang="en-IN" smtClean="0"/>
              <a:t>‹#›</a:t>
            </a:fld>
            <a:endParaRPr lang="en-IN"/>
          </a:p>
        </p:txBody>
      </p:sp>
    </p:spTree>
    <p:extLst>
      <p:ext uri="{BB962C8B-B14F-4D97-AF65-F5344CB8AC3E}">
        <p14:creationId xmlns:p14="http://schemas.microsoft.com/office/powerpoint/2010/main" val="1589335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01AB152-CD52-41C6-99F0-248270556078}" type="datetimeFigureOut">
              <a:rPr lang="en-IN" smtClean="0"/>
              <a:t>10-05-2026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6372199-EC9D-4C86-9588-D8C567EFB70D}" type="slidenum">
              <a:rPr lang="en-IN" smtClean="0"/>
              <a:t>‹#›</a:t>
            </a:fld>
            <a:endParaRPr lang="en-IN"/>
          </a:p>
        </p:txBody>
      </p:sp>
    </p:spTree>
    <p:extLst>
      <p:ext uri="{BB962C8B-B14F-4D97-AF65-F5344CB8AC3E}">
        <p14:creationId xmlns:p14="http://schemas.microsoft.com/office/powerpoint/2010/main" val="2128163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1AB152-CD52-41C6-99F0-248270556078}"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372199-EC9D-4C86-9588-D8C567EFB70D}" type="slidenum">
              <a:rPr lang="en-IN" smtClean="0"/>
              <a:t>‹#›</a:t>
            </a:fld>
            <a:endParaRPr lang="en-IN"/>
          </a:p>
        </p:txBody>
      </p:sp>
    </p:spTree>
    <p:extLst>
      <p:ext uri="{BB962C8B-B14F-4D97-AF65-F5344CB8AC3E}">
        <p14:creationId xmlns:p14="http://schemas.microsoft.com/office/powerpoint/2010/main" val="3207174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1AB152-CD52-41C6-99F0-248270556078}"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372199-EC9D-4C86-9588-D8C567EFB70D}" type="slidenum">
              <a:rPr lang="en-IN" smtClean="0"/>
              <a:t>‹#›</a:t>
            </a:fld>
            <a:endParaRPr lang="en-IN"/>
          </a:p>
        </p:txBody>
      </p:sp>
    </p:spTree>
    <p:extLst>
      <p:ext uri="{BB962C8B-B14F-4D97-AF65-F5344CB8AC3E}">
        <p14:creationId xmlns:p14="http://schemas.microsoft.com/office/powerpoint/2010/main" val="207190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1AB152-CD52-41C6-99F0-248270556078}"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372199-EC9D-4C86-9588-D8C567EFB70D}" type="slidenum">
              <a:rPr lang="en-IN" smtClean="0"/>
              <a:t>‹#›</a:t>
            </a:fld>
            <a:endParaRPr lang="en-IN"/>
          </a:p>
        </p:txBody>
      </p:sp>
    </p:spTree>
    <p:extLst>
      <p:ext uri="{BB962C8B-B14F-4D97-AF65-F5344CB8AC3E}">
        <p14:creationId xmlns:p14="http://schemas.microsoft.com/office/powerpoint/2010/main" val="233294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01AB152-CD52-41C6-99F0-248270556078}" type="datetimeFigureOut">
              <a:rPr lang="en-IN" smtClean="0"/>
              <a:t>10-05-2026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6372199-EC9D-4C86-9588-D8C567EFB70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546470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9A80C-1DE1-D7CE-078D-9F38BC1CB1A8}"/>
              </a:ext>
            </a:extLst>
          </p:cNvPr>
          <p:cNvSpPr>
            <a:spLocks noGrp="1"/>
          </p:cNvSpPr>
          <p:nvPr>
            <p:ph type="ctrTitle"/>
          </p:nvPr>
        </p:nvSpPr>
        <p:spPr/>
        <p:txBody>
          <a:bodyPr anchor="b"/>
          <a:lstStyle/>
          <a:p>
            <a:r>
              <a:rPr lang="en-IN" dirty="0"/>
              <a:t>Information Technology </a:t>
            </a:r>
          </a:p>
        </p:txBody>
      </p:sp>
      <p:sp>
        <p:nvSpPr>
          <p:cNvPr id="3" name="Subtitle 2">
            <a:extLst>
              <a:ext uri="{FF2B5EF4-FFF2-40B4-BE49-F238E27FC236}">
                <a16:creationId xmlns:a16="http://schemas.microsoft.com/office/drawing/2014/main" id="{B488F7A7-AFF4-91FD-D004-179AE90C0DAF}"/>
              </a:ext>
            </a:extLst>
          </p:cNvPr>
          <p:cNvSpPr>
            <a:spLocks noGrp="1"/>
          </p:cNvSpPr>
          <p:nvPr>
            <p:ph type="subTitle" idx="1"/>
          </p:nvPr>
        </p:nvSpPr>
        <p:spPr/>
        <p:txBody>
          <a:bodyPr/>
          <a:lstStyle/>
          <a:p>
            <a:r>
              <a:rPr lang="en-IN" dirty="0"/>
              <a:t>Name – Deep roy</a:t>
            </a:r>
          </a:p>
        </p:txBody>
      </p:sp>
    </p:spTree>
    <p:extLst>
      <p:ext uri="{BB962C8B-B14F-4D97-AF65-F5344CB8AC3E}">
        <p14:creationId xmlns:p14="http://schemas.microsoft.com/office/powerpoint/2010/main" val="2345999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ABDA3-87AC-82FA-45BA-CEB40D90AEA8}"/>
              </a:ext>
            </a:extLst>
          </p:cNvPr>
          <p:cNvSpPr>
            <a:spLocks noGrp="1"/>
          </p:cNvSpPr>
          <p:nvPr>
            <p:ph type="title"/>
          </p:nvPr>
        </p:nvSpPr>
        <p:spPr/>
        <p:txBody>
          <a:bodyPr anchor="ctr"/>
          <a:lstStyle/>
          <a:p>
            <a:r>
              <a:rPr lang="en-US" b="1" dirty="0"/>
              <a:t>Introduction to IT and Business Systems</a:t>
            </a:r>
            <a:endParaRPr lang="en-IN" b="1" dirty="0"/>
          </a:p>
        </p:txBody>
      </p:sp>
      <p:sp>
        <p:nvSpPr>
          <p:cNvPr id="3" name="Content Placeholder 2">
            <a:extLst>
              <a:ext uri="{FF2B5EF4-FFF2-40B4-BE49-F238E27FC236}">
                <a16:creationId xmlns:a16="http://schemas.microsoft.com/office/drawing/2014/main" id="{5AB5B833-99D4-5392-4EC1-1BCBA5E3A84F}"/>
              </a:ext>
            </a:extLst>
          </p:cNvPr>
          <p:cNvSpPr>
            <a:spLocks noGrp="1"/>
          </p:cNvSpPr>
          <p:nvPr>
            <p:ph idx="1"/>
          </p:nvPr>
        </p:nvSpPr>
        <p:spPr>
          <a:xfrm>
            <a:off x="1097280" y="2306320"/>
            <a:ext cx="10058400" cy="3562774"/>
          </a:xfrm>
        </p:spPr>
        <p:txBody>
          <a:bodyPr>
            <a:normAutofit/>
          </a:bodyPr>
          <a:lstStyle/>
          <a:p>
            <a:pPr marL="457200" indent="-457200">
              <a:buFont typeface="+mj-lt"/>
              <a:buAutoNum type="arabicPeriod"/>
            </a:pPr>
            <a:r>
              <a:rPr lang="en-US" dirty="0"/>
              <a:t>Information Technology (IT) uses computers, software, and networks to process and manage data.</a:t>
            </a:r>
          </a:p>
          <a:p>
            <a:pPr marL="457200" indent="-457200">
              <a:buFont typeface="+mj-lt"/>
              <a:buAutoNum type="arabicPeriod"/>
            </a:pPr>
            <a:r>
              <a:rPr lang="en-US" dirty="0"/>
              <a:t>IT supports communication, data storage, and business operations.</a:t>
            </a:r>
          </a:p>
          <a:p>
            <a:pPr marL="457200" indent="-457200">
              <a:buFont typeface="+mj-lt"/>
              <a:buAutoNum type="arabicPeriod"/>
            </a:pPr>
            <a:r>
              <a:rPr lang="en-US" dirty="0"/>
              <a:t>Business systems integrate processes like finance, sales, and operations.</a:t>
            </a:r>
          </a:p>
          <a:p>
            <a:pPr marL="457200" indent="-457200">
              <a:buFont typeface="+mj-lt"/>
              <a:buAutoNum type="arabicPeriod"/>
            </a:pPr>
            <a:r>
              <a:rPr lang="en-US" dirty="0"/>
              <a:t>IT + Business systems together improve efficiency and decision-making.</a:t>
            </a:r>
          </a:p>
          <a:p>
            <a:pPr marL="457200" indent="-457200">
              <a:buFont typeface="+mj-lt"/>
              <a:buAutoNum type="arabicPeriod"/>
            </a:pPr>
            <a:r>
              <a:rPr lang="en-US" dirty="0"/>
              <a:t>Foundation for digital transformation in modern organizations.</a:t>
            </a:r>
            <a:endParaRPr lang="en-IN" dirty="0"/>
          </a:p>
        </p:txBody>
      </p:sp>
    </p:spTree>
    <p:extLst>
      <p:ext uri="{BB962C8B-B14F-4D97-AF65-F5344CB8AC3E}">
        <p14:creationId xmlns:p14="http://schemas.microsoft.com/office/powerpoint/2010/main" val="3710682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3723-68CB-BECA-0714-AC3A714BA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AD6B5-D816-D7B2-16EE-F84E90A5E5F8}"/>
              </a:ext>
            </a:extLst>
          </p:cNvPr>
          <p:cNvSpPr>
            <a:spLocks noGrp="1"/>
          </p:cNvSpPr>
          <p:nvPr>
            <p:ph type="title"/>
          </p:nvPr>
        </p:nvSpPr>
        <p:spPr/>
        <p:txBody>
          <a:bodyPr anchor="ctr"/>
          <a:lstStyle/>
          <a:p>
            <a:r>
              <a:rPr lang="en-IN" dirty="0"/>
              <a:t>Fundamentals of Information Technology</a:t>
            </a:r>
          </a:p>
        </p:txBody>
      </p:sp>
      <p:sp>
        <p:nvSpPr>
          <p:cNvPr id="3" name="Content Placeholder 2">
            <a:extLst>
              <a:ext uri="{FF2B5EF4-FFF2-40B4-BE49-F238E27FC236}">
                <a16:creationId xmlns:a16="http://schemas.microsoft.com/office/drawing/2014/main" id="{9EE3796B-789B-25A9-DB69-3D50A216D5D4}"/>
              </a:ext>
            </a:extLst>
          </p:cNvPr>
          <p:cNvSpPr>
            <a:spLocks noGrp="1"/>
          </p:cNvSpPr>
          <p:nvPr>
            <p:ph idx="1"/>
          </p:nvPr>
        </p:nvSpPr>
        <p:spPr>
          <a:xfrm>
            <a:off x="1097280" y="2616200"/>
            <a:ext cx="10058400" cy="3307080"/>
          </a:xfrm>
        </p:spPr>
        <p:txBody>
          <a:bodyPr>
            <a:normAutofit lnSpcReduction="10000"/>
          </a:bodyPr>
          <a:lstStyle/>
          <a:p>
            <a:pPr marL="658368" lvl="1" indent="-457200">
              <a:buFont typeface="+mj-lt"/>
              <a:buAutoNum type="arabicPeriod"/>
            </a:pPr>
            <a:r>
              <a:rPr lang="en-US" sz="2000" b="1" dirty="0"/>
              <a:t>IT = use of hardware, software, and networks to manage information: </a:t>
            </a:r>
            <a:r>
              <a:rPr lang="en-US" sz="2000" dirty="0"/>
              <a:t>Information Technology involves using interconnected systems of hardware, software, and networks to collect, process, store, and distribute data efficiently.</a:t>
            </a:r>
          </a:p>
          <a:p>
            <a:pPr marL="658368" lvl="1" indent="-457200">
              <a:buFont typeface="+mj-lt"/>
              <a:buAutoNum type="arabicPeriod"/>
            </a:pPr>
            <a:r>
              <a:rPr lang="en-US" sz="2000" b="1" dirty="0"/>
              <a:t>Includes computers, servers, databases, and cloud systems: </a:t>
            </a:r>
            <a:r>
              <a:rPr lang="en-US" sz="2000" dirty="0"/>
              <a:t>IT infrastructure consists of devices and platforms like computers, servers, databases, and cloud technologies that work together to handle and manage data.</a:t>
            </a:r>
          </a:p>
          <a:p>
            <a:pPr marL="658368" lvl="1" indent="-457200">
              <a:buFont typeface="+mj-lt"/>
              <a:buAutoNum type="arabicPeriod"/>
            </a:pPr>
            <a:r>
              <a:rPr lang="en-US" sz="2000" b="1" dirty="0"/>
              <a:t>Supports communication, data processing, and storage: </a:t>
            </a:r>
            <a:r>
              <a:rPr lang="en-US" sz="2000" dirty="0"/>
              <a:t>IT enables fast communication, efficient data processing, and secure storage, ensuring smooth flow of information across systems.</a:t>
            </a:r>
          </a:p>
          <a:p>
            <a:pPr marL="658368" lvl="1" indent="-457200">
              <a:buFont typeface="+mj-lt"/>
              <a:buAutoNum type="arabicPeriod"/>
            </a:pPr>
            <a:r>
              <a:rPr lang="en-US" sz="2000" b="1" dirty="0"/>
              <a:t>Backbone of modern digital infrastructure: </a:t>
            </a:r>
            <a:r>
              <a:rPr lang="en-US" sz="2000" dirty="0"/>
              <a:t>IT forms the core foundation that supports all digital operations, services, and technologies in today’s connected world.</a:t>
            </a:r>
            <a:endParaRPr lang="en-IN" sz="2000" dirty="0"/>
          </a:p>
        </p:txBody>
      </p:sp>
      <p:sp>
        <p:nvSpPr>
          <p:cNvPr id="4" name="Title 1">
            <a:extLst>
              <a:ext uri="{FF2B5EF4-FFF2-40B4-BE49-F238E27FC236}">
                <a16:creationId xmlns:a16="http://schemas.microsoft.com/office/drawing/2014/main" id="{8CE0C957-FFA1-5DBE-4CD5-E7B302AF39B3}"/>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Basics of IT</a:t>
            </a:r>
          </a:p>
        </p:txBody>
      </p:sp>
    </p:spTree>
    <p:extLst>
      <p:ext uri="{BB962C8B-B14F-4D97-AF65-F5344CB8AC3E}">
        <p14:creationId xmlns:p14="http://schemas.microsoft.com/office/powerpoint/2010/main" val="3626995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16F9-BC7E-DB5F-9084-57D2D4169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450181-04FE-99DF-7C89-B217F805BFAF}"/>
              </a:ext>
            </a:extLst>
          </p:cNvPr>
          <p:cNvSpPr>
            <a:spLocks noGrp="1"/>
          </p:cNvSpPr>
          <p:nvPr>
            <p:ph type="title"/>
          </p:nvPr>
        </p:nvSpPr>
        <p:spPr/>
        <p:txBody>
          <a:bodyPr anchor="ctr"/>
          <a:lstStyle/>
          <a:p>
            <a:r>
              <a:rPr lang="en-IN" dirty="0"/>
              <a:t>Fundamentals of Information Technology</a:t>
            </a:r>
          </a:p>
        </p:txBody>
      </p:sp>
      <p:sp>
        <p:nvSpPr>
          <p:cNvPr id="3" name="Content Placeholder 2">
            <a:extLst>
              <a:ext uri="{FF2B5EF4-FFF2-40B4-BE49-F238E27FC236}">
                <a16:creationId xmlns:a16="http://schemas.microsoft.com/office/drawing/2014/main" id="{F441797A-5691-0024-83A8-EEBB54ADE98A}"/>
              </a:ext>
            </a:extLst>
          </p:cNvPr>
          <p:cNvSpPr>
            <a:spLocks noGrp="1"/>
          </p:cNvSpPr>
          <p:nvPr>
            <p:ph idx="1"/>
          </p:nvPr>
        </p:nvSpPr>
        <p:spPr>
          <a:xfrm>
            <a:off x="1097280" y="2616200"/>
            <a:ext cx="10058400" cy="2856653"/>
          </a:xfrm>
        </p:spPr>
        <p:txBody>
          <a:bodyPr>
            <a:normAutofit/>
          </a:bodyPr>
          <a:lstStyle/>
          <a:p>
            <a:pPr marL="658368" lvl="1" indent="-457200">
              <a:buFont typeface="+mj-lt"/>
              <a:buAutoNum type="arabicPeriod"/>
            </a:pPr>
            <a:r>
              <a:rPr lang="en-US" sz="2000" dirty="0"/>
              <a:t>Hardware: CPU, RAM, storage devices</a:t>
            </a:r>
          </a:p>
          <a:p>
            <a:pPr marL="658368" lvl="1" indent="-457200">
              <a:buFont typeface="+mj-lt"/>
              <a:buAutoNum type="arabicPeriod"/>
            </a:pPr>
            <a:r>
              <a:rPr lang="en-US" sz="2000" dirty="0"/>
              <a:t>Software: OS, applications, utilities</a:t>
            </a:r>
          </a:p>
          <a:p>
            <a:pPr marL="658368" lvl="1" indent="-457200">
              <a:buFont typeface="+mj-lt"/>
              <a:buAutoNum type="arabicPeriod"/>
            </a:pPr>
            <a:r>
              <a:rPr lang="en-US" sz="2000" dirty="0"/>
              <a:t>Core functions: cybersecurity, networking, data management</a:t>
            </a:r>
          </a:p>
          <a:p>
            <a:pPr marL="658368" lvl="1" indent="-457200">
              <a:buFont typeface="+mj-lt"/>
              <a:buAutoNum type="arabicPeriod"/>
            </a:pPr>
            <a:r>
              <a:rPr lang="en-US" sz="2000" dirty="0"/>
              <a:t>IT enables automation, efficiency, and innovation in organizations</a:t>
            </a:r>
            <a:endParaRPr lang="en-IN" sz="2000" dirty="0"/>
          </a:p>
        </p:txBody>
      </p:sp>
      <p:sp>
        <p:nvSpPr>
          <p:cNvPr id="4" name="Title 1">
            <a:extLst>
              <a:ext uri="{FF2B5EF4-FFF2-40B4-BE49-F238E27FC236}">
                <a16:creationId xmlns:a16="http://schemas.microsoft.com/office/drawing/2014/main" id="{41B4E776-BA52-D0A9-F4DE-9B455BE22781}"/>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Core Components &amp; Functions</a:t>
            </a:r>
          </a:p>
        </p:txBody>
      </p:sp>
    </p:spTree>
    <p:extLst>
      <p:ext uri="{BB962C8B-B14F-4D97-AF65-F5344CB8AC3E}">
        <p14:creationId xmlns:p14="http://schemas.microsoft.com/office/powerpoint/2010/main" val="342811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9900-3A93-AAE0-80E0-003783356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3481A-896C-72E6-2243-B429C7B4C3CF}"/>
              </a:ext>
            </a:extLst>
          </p:cNvPr>
          <p:cNvSpPr>
            <a:spLocks noGrp="1"/>
          </p:cNvSpPr>
          <p:nvPr>
            <p:ph type="title"/>
          </p:nvPr>
        </p:nvSpPr>
        <p:spPr/>
        <p:txBody>
          <a:bodyPr anchor="ctr"/>
          <a:lstStyle/>
          <a:p>
            <a:r>
              <a:rPr lang="en-US" dirty="0"/>
              <a:t>Role of IT in Business Operations</a:t>
            </a:r>
            <a:endParaRPr lang="en-IN" dirty="0"/>
          </a:p>
        </p:txBody>
      </p:sp>
      <p:sp>
        <p:nvSpPr>
          <p:cNvPr id="3" name="Content Placeholder 2">
            <a:extLst>
              <a:ext uri="{FF2B5EF4-FFF2-40B4-BE49-F238E27FC236}">
                <a16:creationId xmlns:a16="http://schemas.microsoft.com/office/drawing/2014/main" id="{D6EA2A13-1458-6904-C4CB-3E0551ECFB49}"/>
              </a:ext>
            </a:extLst>
          </p:cNvPr>
          <p:cNvSpPr>
            <a:spLocks noGrp="1"/>
          </p:cNvSpPr>
          <p:nvPr>
            <p:ph idx="1"/>
          </p:nvPr>
        </p:nvSpPr>
        <p:spPr>
          <a:xfrm>
            <a:off x="1097280" y="2616200"/>
            <a:ext cx="10058400" cy="2856653"/>
          </a:xfrm>
        </p:spPr>
        <p:txBody>
          <a:bodyPr>
            <a:normAutofit/>
          </a:bodyPr>
          <a:lstStyle/>
          <a:p>
            <a:pPr marL="201168" lvl="1" indent="0">
              <a:buNone/>
            </a:pPr>
            <a:r>
              <a:rPr lang="en-US" sz="2000" dirty="0"/>
              <a:t>IT improves operational efficiency by automating tasks, reducing manual effort, and speeding up business processes. </a:t>
            </a:r>
          </a:p>
          <a:p>
            <a:pPr marL="201168" lvl="1" indent="0">
              <a:buNone/>
            </a:pPr>
            <a:r>
              <a:rPr lang="en-US" sz="2000" dirty="0"/>
              <a:t>It also enhances communication through emails, messaging platforms, and real-time collaboration tools, enabling quick and effective information sharing.</a:t>
            </a:r>
          </a:p>
          <a:p>
            <a:pPr marL="658368" lvl="1" indent="-457200">
              <a:buFont typeface="+mj-lt"/>
              <a:buAutoNum type="arabicPeriod"/>
            </a:pPr>
            <a:r>
              <a:rPr lang="en-US" sz="2000" dirty="0"/>
              <a:t>Automates tasks → reduces errors and saves time</a:t>
            </a:r>
          </a:p>
          <a:p>
            <a:pPr marL="658368" lvl="1" indent="-457200">
              <a:buFont typeface="+mj-lt"/>
              <a:buAutoNum type="arabicPeriod"/>
            </a:pPr>
            <a:r>
              <a:rPr lang="en-US" sz="2000" dirty="0"/>
              <a:t>Improves productivity and workflow efficiency</a:t>
            </a:r>
          </a:p>
          <a:p>
            <a:pPr marL="658368" lvl="1" indent="-457200">
              <a:buFont typeface="+mj-lt"/>
              <a:buAutoNum type="arabicPeriod"/>
            </a:pPr>
            <a:r>
              <a:rPr lang="en-US" sz="2000" dirty="0"/>
              <a:t>Enables communication via email, chat, video conferencing</a:t>
            </a:r>
          </a:p>
          <a:p>
            <a:pPr marL="658368" lvl="1" indent="-457200">
              <a:buFont typeface="+mj-lt"/>
              <a:buAutoNum type="arabicPeriod"/>
            </a:pPr>
            <a:r>
              <a:rPr lang="en-US" sz="2000" dirty="0"/>
              <a:t>Supports remote work and global collaboration</a:t>
            </a:r>
            <a:endParaRPr lang="en-IN" sz="2000" dirty="0"/>
          </a:p>
        </p:txBody>
      </p:sp>
      <p:sp>
        <p:nvSpPr>
          <p:cNvPr id="4" name="Title 1">
            <a:extLst>
              <a:ext uri="{FF2B5EF4-FFF2-40B4-BE49-F238E27FC236}">
                <a16:creationId xmlns:a16="http://schemas.microsoft.com/office/drawing/2014/main" id="{41DC6CF4-3BDC-B0F0-FDEB-68F6DA3CFE19}"/>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Efficiency &amp; Communication</a:t>
            </a:r>
          </a:p>
        </p:txBody>
      </p:sp>
    </p:spTree>
    <p:extLst>
      <p:ext uri="{BB962C8B-B14F-4D97-AF65-F5344CB8AC3E}">
        <p14:creationId xmlns:p14="http://schemas.microsoft.com/office/powerpoint/2010/main" val="2208806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E3D87-2728-9ACB-3C69-324B9545D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9915F-FDE7-D718-39BF-C7D1ECEF168A}"/>
              </a:ext>
            </a:extLst>
          </p:cNvPr>
          <p:cNvSpPr>
            <a:spLocks noGrp="1"/>
          </p:cNvSpPr>
          <p:nvPr>
            <p:ph type="title"/>
          </p:nvPr>
        </p:nvSpPr>
        <p:spPr/>
        <p:txBody>
          <a:bodyPr anchor="ctr"/>
          <a:lstStyle/>
          <a:p>
            <a:r>
              <a:rPr lang="en-US"/>
              <a:t>Role of IT in Business Operations</a:t>
            </a:r>
            <a:endParaRPr lang="en-IN" dirty="0"/>
          </a:p>
        </p:txBody>
      </p:sp>
      <p:sp>
        <p:nvSpPr>
          <p:cNvPr id="3" name="Content Placeholder 2">
            <a:extLst>
              <a:ext uri="{FF2B5EF4-FFF2-40B4-BE49-F238E27FC236}">
                <a16:creationId xmlns:a16="http://schemas.microsoft.com/office/drawing/2014/main" id="{157584A6-0311-C283-E46A-12E1E4D614AA}"/>
              </a:ext>
            </a:extLst>
          </p:cNvPr>
          <p:cNvSpPr>
            <a:spLocks noGrp="1"/>
          </p:cNvSpPr>
          <p:nvPr>
            <p:ph idx="1"/>
          </p:nvPr>
        </p:nvSpPr>
        <p:spPr>
          <a:xfrm>
            <a:off x="1097280" y="2616200"/>
            <a:ext cx="10058400" cy="2856653"/>
          </a:xfrm>
        </p:spPr>
        <p:txBody>
          <a:bodyPr>
            <a:normAutofit/>
          </a:bodyPr>
          <a:lstStyle/>
          <a:p>
            <a:pPr marL="658368" lvl="1" indent="-457200">
              <a:buFont typeface="+mj-lt"/>
              <a:buAutoNum type="arabicPeriod"/>
            </a:pPr>
            <a:r>
              <a:rPr lang="en-US" sz="2000" b="1" dirty="0"/>
              <a:t>Manages and analyzes large business data: </a:t>
            </a:r>
            <a:r>
              <a:rPr lang="en-US" sz="2000" dirty="0"/>
              <a:t>IT systems efficiently store, process, and analyze vast amounts of business data to generate meaningful insights.</a:t>
            </a:r>
          </a:p>
          <a:p>
            <a:pPr marL="658368" lvl="1" indent="-457200">
              <a:buFont typeface="+mj-lt"/>
              <a:buAutoNum type="arabicPeriod"/>
            </a:pPr>
            <a:r>
              <a:rPr lang="en-US" sz="2000" b="1" dirty="0"/>
              <a:t>Helps in better decision-making:</a:t>
            </a:r>
            <a:r>
              <a:rPr lang="en-US" sz="2000" dirty="0"/>
              <a:t> Accurate data and analytics support informed, timely, and strategic business decisions.</a:t>
            </a:r>
          </a:p>
          <a:p>
            <a:pPr marL="658368" lvl="1" indent="-457200">
              <a:buFont typeface="+mj-lt"/>
              <a:buAutoNum type="arabicPeriod"/>
            </a:pPr>
            <a:r>
              <a:rPr lang="en-US" sz="2000" b="1" dirty="0"/>
              <a:t>Improves customer engagement using CRM systems: </a:t>
            </a:r>
            <a:r>
              <a:rPr lang="en-US" sz="2000" dirty="0"/>
              <a:t>CRM systems help track customer interactions and personalize services, enhancing satisfaction and loyalty.</a:t>
            </a:r>
          </a:p>
          <a:p>
            <a:pPr marL="658368" lvl="1" indent="-457200">
              <a:buFont typeface="+mj-lt"/>
              <a:buAutoNum type="arabicPeriod"/>
            </a:pPr>
            <a:r>
              <a:rPr lang="en-US" sz="2000" b="1" dirty="0"/>
              <a:t>Drives innovation and competitive advantage: </a:t>
            </a:r>
            <a:r>
              <a:rPr lang="en-US" sz="2000" dirty="0"/>
              <a:t>IT enables new ideas, technologies, and processes that help businesses stay ahead of competitors.</a:t>
            </a:r>
            <a:endParaRPr lang="en-IN" sz="2000" dirty="0"/>
          </a:p>
        </p:txBody>
      </p:sp>
      <p:sp>
        <p:nvSpPr>
          <p:cNvPr id="4" name="Title 1">
            <a:extLst>
              <a:ext uri="{FF2B5EF4-FFF2-40B4-BE49-F238E27FC236}">
                <a16:creationId xmlns:a16="http://schemas.microsoft.com/office/drawing/2014/main" id="{195167BE-9DE0-73A6-078D-FFC4CA69672E}"/>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Data, Customers &amp; Innovation</a:t>
            </a:r>
          </a:p>
        </p:txBody>
      </p:sp>
    </p:spTree>
    <p:extLst>
      <p:ext uri="{BB962C8B-B14F-4D97-AF65-F5344CB8AC3E}">
        <p14:creationId xmlns:p14="http://schemas.microsoft.com/office/powerpoint/2010/main" val="1013829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1B245-F640-6F23-3F96-621855815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61461E-3C12-122A-620A-2182E8745EC8}"/>
              </a:ext>
            </a:extLst>
          </p:cNvPr>
          <p:cNvSpPr>
            <a:spLocks noGrp="1"/>
          </p:cNvSpPr>
          <p:nvPr>
            <p:ph type="title"/>
          </p:nvPr>
        </p:nvSpPr>
        <p:spPr/>
        <p:txBody>
          <a:bodyPr anchor="ctr"/>
          <a:lstStyle/>
          <a:p>
            <a:r>
              <a:rPr lang="en-US" dirty="0"/>
              <a:t>Overview of Business Systems (e.g., ERP, CRM)</a:t>
            </a:r>
            <a:endParaRPr lang="en-IN" dirty="0"/>
          </a:p>
        </p:txBody>
      </p:sp>
      <p:sp>
        <p:nvSpPr>
          <p:cNvPr id="3" name="Content Placeholder 2">
            <a:extLst>
              <a:ext uri="{FF2B5EF4-FFF2-40B4-BE49-F238E27FC236}">
                <a16:creationId xmlns:a16="http://schemas.microsoft.com/office/drawing/2014/main" id="{EA0C9266-9F87-AEAC-03DE-A02CCC8BD441}"/>
              </a:ext>
            </a:extLst>
          </p:cNvPr>
          <p:cNvSpPr>
            <a:spLocks noGrp="1"/>
          </p:cNvSpPr>
          <p:nvPr>
            <p:ph idx="1"/>
          </p:nvPr>
        </p:nvSpPr>
        <p:spPr>
          <a:xfrm>
            <a:off x="1097280" y="2616200"/>
            <a:ext cx="7315200" cy="3418840"/>
          </a:xfrm>
        </p:spPr>
        <p:txBody>
          <a:bodyPr>
            <a:normAutofit/>
          </a:bodyPr>
          <a:lstStyle/>
          <a:p>
            <a:pPr lvl="1" algn="just">
              <a:buFont typeface="Arial" panose="020B0604020202020204" pitchFamily="34" charset="0"/>
              <a:buChar char="•"/>
            </a:pPr>
            <a:r>
              <a:rPr lang="en-US" sz="2000" dirty="0"/>
              <a:t>ERP is a centralized software system that integrates all major business functions into a single platform. Instead of different departments working in isolation, ERP connects them, ensuring smooth data flow and coordination. It helps organizations operate efficiently by providing real-time information across departments.</a:t>
            </a:r>
          </a:p>
          <a:p>
            <a:pPr lvl="1" algn="just">
              <a:buFont typeface="Arial" panose="020B0604020202020204" pitchFamily="34" charset="0"/>
              <a:buChar char="•"/>
            </a:pPr>
            <a:r>
              <a:rPr lang="en-US" sz="2000" dirty="0"/>
              <a:t>Integrates core business processes into one system</a:t>
            </a:r>
          </a:p>
          <a:p>
            <a:pPr lvl="1" algn="just">
              <a:buFont typeface="Arial" panose="020B0604020202020204" pitchFamily="34" charset="0"/>
              <a:buChar char="•"/>
            </a:pPr>
            <a:r>
              <a:rPr lang="en-US" sz="2000" dirty="0"/>
              <a:t>Covers finance, HR, supply chain, inventory</a:t>
            </a:r>
          </a:p>
          <a:p>
            <a:pPr lvl="1" algn="just">
              <a:buFont typeface="Arial" panose="020B0604020202020204" pitchFamily="34" charset="0"/>
              <a:buChar char="•"/>
            </a:pPr>
            <a:r>
              <a:rPr lang="en-US" sz="2000" dirty="0"/>
              <a:t>Eliminates data duplication and silos</a:t>
            </a:r>
          </a:p>
          <a:p>
            <a:pPr lvl="1" algn="just">
              <a:buFont typeface="Arial" panose="020B0604020202020204" pitchFamily="34" charset="0"/>
              <a:buChar char="•"/>
            </a:pPr>
            <a:r>
              <a:rPr lang="en-US" sz="2000" dirty="0"/>
              <a:t>Enables real-time reporting and decision-making</a:t>
            </a:r>
          </a:p>
          <a:p>
            <a:pPr lvl="1" algn="just">
              <a:buFont typeface="Arial" panose="020B0604020202020204" pitchFamily="34" charset="0"/>
              <a:buChar char="•"/>
            </a:pPr>
            <a:r>
              <a:rPr lang="en-US" sz="2000" dirty="0"/>
              <a:t>Improves productivity and operational efficiency</a:t>
            </a:r>
          </a:p>
        </p:txBody>
      </p:sp>
      <p:sp>
        <p:nvSpPr>
          <p:cNvPr id="4" name="Title 1">
            <a:extLst>
              <a:ext uri="{FF2B5EF4-FFF2-40B4-BE49-F238E27FC236}">
                <a16:creationId xmlns:a16="http://schemas.microsoft.com/office/drawing/2014/main" id="{67A19AED-C739-E86C-99A2-D58CFBB4BB6C}"/>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ERP Systems</a:t>
            </a:r>
          </a:p>
        </p:txBody>
      </p:sp>
      <p:pic>
        <p:nvPicPr>
          <p:cNvPr id="6" name="Picture 5">
            <a:extLst>
              <a:ext uri="{FF2B5EF4-FFF2-40B4-BE49-F238E27FC236}">
                <a16:creationId xmlns:a16="http://schemas.microsoft.com/office/drawing/2014/main" id="{8363B090-49A5-3CEA-E6CB-03643B9BB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4080" y="2616200"/>
            <a:ext cx="3677920" cy="3418840"/>
          </a:xfrm>
          <a:prstGeom prst="rect">
            <a:avLst/>
          </a:prstGeom>
        </p:spPr>
      </p:pic>
    </p:spTree>
    <p:extLst>
      <p:ext uri="{BB962C8B-B14F-4D97-AF65-F5344CB8AC3E}">
        <p14:creationId xmlns:p14="http://schemas.microsoft.com/office/powerpoint/2010/main" val="1973965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BFDB4-68C0-13B2-5BC6-624E92879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6ED0A-26A4-1642-129B-006B9C2F572E}"/>
              </a:ext>
            </a:extLst>
          </p:cNvPr>
          <p:cNvSpPr>
            <a:spLocks noGrp="1"/>
          </p:cNvSpPr>
          <p:nvPr>
            <p:ph type="title"/>
          </p:nvPr>
        </p:nvSpPr>
        <p:spPr/>
        <p:txBody>
          <a:bodyPr anchor="ctr"/>
          <a:lstStyle/>
          <a:p>
            <a:r>
              <a:rPr lang="en-US" dirty="0"/>
              <a:t>Overview of Business Systems (e.g., ERP, CRM)</a:t>
            </a:r>
            <a:endParaRPr lang="en-IN" dirty="0"/>
          </a:p>
        </p:txBody>
      </p:sp>
      <p:sp>
        <p:nvSpPr>
          <p:cNvPr id="3" name="Content Placeholder 2">
            <a:extLst>
              <a:ext uri="{FF2B5EF4-FFF2-40B4-BE49-F238E27FC236}">
                <a16:creationId xmlns:a16="http://schemas.microsoft.com/office/drawing/2014/main" id="{D0E0FF61-F528-4816-D2EB-9F135E942581}"/>
              </a:ext>
            </a:extLst>
          </p:cNvPr>
          <p:cNvSpPr>
            <a:spLocks noGrp="1"/>
          </p:cNvSpPr>
          <p:nvPr>
            <p:ph idx="1"/>
          </p:nvPr>
        </p:nvSpPr>
        <p:spPr>
          <a:xfrm>
            <a:off x="1097280" y="2616200"/>
            <a:ext cx="10058400" cy="1132841"/>
          </a:xfrm>
        </p:spPr>
        <p:txBody>
          <a:bodyPr>
            <a:normAutofit/>
          </a:bodyPr>
          <a:lstStyle/>
          <a:p>
            <a:pPr marL="201168" lvl="1" indent="0" algn="just">
              <a:buNone/>
            </a:pPr>
            <a:r>
              <a:rPr lang="en-US" sz="2000" dirty="0"/>
              <a:t>CRM systems help businesses manage interactions with current and potential customers. It stores all customer-related data in one place, making it easier to track communication, improve relationships, and boost sales performance.</a:t>
            </a:r>
            <a:endParaRPr lang="en-IN" sz="2000" dirty="0"/>
          </a:p>
        </p:txBody>
      </p:sp>
      <p:sp>
        <p:nvSpPr>
          <p:cNvPr id="4" name="Title 1">
            <a:extLst>
              <a:ext uri="{FF2B5EF4-FFF2-40B4-BE49-F238E27FC236}">
                <a16:creationId xmlns:a16="http://schemas.microsoft.com/office/drawing/2014/main" id="{ED682196-72B0-EBEE-6214-7797B777B187}"/>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CRM Systems</a:t>
            </a:r>
          </a:p>
        </p:txBody>
      </p:sp>
      <p:pic>
        <p:nvPicPr>
          <p:cNvPr id="5" name="Picture 4">
            <a:extLst>
              <a:ext uri="{FF2B5EF4-FFF2-40B4-BE49-F238E27FC236}">
                <a16:creationId xmlns:a16="http://schemas.microsoft.com/office/drawing/2014/main" id="{A5AA9820-01AD-CD40-884A-0B0115DF7AC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rcRect l="8010" t="18815" r="8373" b="10814"/>
          <a:stretch>
            <a:fillRect/>
          </a:stretch>
        </p:blipFill>
        <p:spPr>
          <a:xfrm>
            <a:off x="6126480" y="3363684"/>
            <a:ext cx="5262880" cy="2711997"/>
          </a:xfrm>
          <a:prstGeom prst="rect">
            <a:avLst/>
          </a:prstGeom>
          <a:effectLst>
            <a:outerShdw blurRad="50800" dist="38100" dir="2700000" algn="tl" rotWithShape="0">
              <a:prstClr val="black">
                <a:alpha val="40000"/>
              </a:prstClr>
            </a:outerShdw>
          </a:effectLst>
        </p:spPr>
      </p:pic>
      <p:sp>
        <p:nvSpPr>
          <p:cNvPr id="6" name="Content Placeholder 2">
            <a:extLst>
              <a:ext uri="{FF2B5EF4-FFF2-40B4-BE49-F238E27FC236}">
                <a16:creationId xmlns:a16="http://schemas.microsoft.com/office/drawing/2014/main" id="{49382128-D944-3704-FF0A-2690CB780ECA}"/>
              </a:ext>
            </a:extLst>
          </p:cNvPr>
          <p:cNvSpPr txBox="1">
            <a:spLocks/>
          </p:cNvSpPr>
          <p:nvPr/>
        </p:nvSpPr>
        <p:spPr>
          <a:xfrm>
            <a:off x="1097280" y="3525521"/>
            <a:ext cx="4795520" cy="2550160"/>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658368" lvl="1" indent="-457200">
              <a:buFont typeface="+mj-lt"/>
              <a:buAutoNum type="arabicPeriod"/>
            </a:pPr>
            <a:r>
              <a:rPr lang="en-US" sz="2000" dirty="0"/>
              <a:t>Manages customer interactions and relationships</a:t>
            </a:r>
          </a:p>
          <a:p>
            <a:pPr marL="658368" lvl="1" indent="-457200">
              <a:buFont typeface="+mj-lt"/>
              <a:buAutoNum type="arabicPeriod"/>
            </a:pPr>
            <a:r>
              <a:rPr lang="en-US" sz="2000" dirty="0"/>
              <a:t>Stores customer data, sales, and communication history</a:t>
            </a:r>
          </a:p>
          <a:p>
            <a:pPr marL="658368" lvl="1" indent="-457200">
              <a:buFont typeface="+mj-lt"/>
              <a:buAutoNum type="arabicPeriod"/>
            </a:pPr>
            <a:r>
              <a:rPr lang="en-US" sz="2000" dirty="0"/>
              <a:t>Helps personalize customer experience</a:t>
            </a:r>
          </a:p>
          <a:p>
            <a:pPr marL="658368" lvl="1" indent="-457200">
              <a:buFont typeface="+mj-lt"/>
              <a:buAutoNum type="arabicPeriod"/>
            </a:pPr>
            <a:r>
              <a:rPr lang="en-US" sz="2000" dirty="0"/>
              <a:t>Improves customer satisfaction and retention</a:t>
            </a:r>
          </a:p>
          <a:p>
            <a:pPr marL="658368" lvl="1" indent="-457200">
              <a:buFont typeface="+mj-lt"/>
              <a:buAutoNum type="arabicPeriod"/>
            </a:pPr>
            <a:r>
              <a:rPr lang="en-US" sz="2000" dirty="0"/>
              <a:t>Supports marketing, sales, and service teams</a:t>
            </a:r>
            <a:endParaRPr lang="en-IN" sz="2000" dirty="0"/>
          </a:p>
        </p:txBody>
      </p:sp>
    </p:spTree>
    <p:extLst>
      <p:ext uri="{BB962C8B-B14F-4D97-AF65-F5344CB8AC3E}">
        <p14:creationId xmlns:p14="http://schemas.microsoft.com/office/powerpoint/2010/main" val="3904011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EAF3-9B5E-B91A-250D-F67275A17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80ACA-58D9-6E06-C391-35193A6F11D1}"/>
              </a:ext>
            </a:extLst>
          </p:cNvPr>
          <p:cNvSpPr>
            <a:spLocks noGrp="1"/>
          </p:cNvSpPr>
          <p:nvPr>
            <p:ph type="title"/>
          </p:nvPr>
        </p:nvSpPr>
        <p:spPr/>
        <p:txBody>
          <a:bodyPr anchor="ctr"/>
          <a:lstStyle/>
          <a:p>
            <a:r>
              <a:rPr lang="en-US" dirty="0"/>
              <a:t>Interplay between IT and Business Strategy</a:t>
            </a:r>
            <a:endParaRPr lang="en-IN" dirty="0"/>
          </a:p>
        </p:txBody>
      </p:sp>
      <p:sp>
        <p:nvSpPr>
          <p:cNvPr id="3" name="Content Placeholder 2">
            <a:extLst>
              <a:ext uri="{FF2B5EF4-FFF2-40B4-BE49-F238E27FC236}">
                <a16:creationId xmlns:a16="http://schemas.microsoft.com/office/drawing/2014/main" id="{39EABC6D-C1BD-850A-B974-53611847EBE6}"/>
              </a:ext>
            </a:extLst>
          </p:cNvPr>
          <p:cNvSpPr>
            <a:spLocks noGrp="1"/>
          </p:cNvSpPr>
          <p:nvPr>
            <p:ph idx="1"/>
          </p:nvPr>
        </p:nvSpPr>
        <p:spPr>
          <a:xfrm>
            <a:off x="1153160" y="2616200"/>
            <a:ext cx="10002520" cy="3713480"/>
          </a:xfrm>
        </p:spPr>
        <p:txBody>
          <a:bodyPr>
            <a:normAutofit/>
          </a:bodyPr>
          <a:lstStyle/>
          <a:p>
            <a:pPr marL="658368" lvl="1" indent="-457200">
              <a:buFont typeface="+mj-lt"/>
              <a:buAutoNum type="arabicPeriod"/>
            </a:pPr>
            <a:r>
              <a:rPr lang="en-US" sz="2000" b="1" dirty="0"/>
              <a:t>IT strategy must align with business goals : </a:t>
            </a:r>
            <a:r>
              <a:rPr lang="en-US" sz="2000" dirty="0"/>
              <a:t>IT plans and systems should directly support the company’s objectives, ensuring technology investments contribute to overall growth, competitiveness, and success rather than operating in isolation.</a:t>
            </a:r>
          </a:p>
          <a:p>
            <a:pPr marL="658368" lvl="1" indent="-457200">
              <a:buFont typeface="+mj-lt"/>
              <a:buAutoNum type="arabicPeriod"/>
            </a:pPr>
            <a:r>
              <a:rPr lang="en-US" sz="2000" b="1" dirty="0"/>
              <a:t>Helps organizations achieve long-term objectives : </a:t>
            </a:r>
            <a:r>
              <a:rPr lang="en-US" sz="2000" dirty="0"/>
              <a:t>A well-defined IT strategy provides a clear roadmap for future development, enabling organizations to scale operations, adapt to changes, and consistently move toward their long-term vision.</a:t>
            </a:r>
          </a:p>
          <a:p>
            <a:pPr marL="658368" lvl="1" indent="-457200">
              <a:buFont typeface="+mj-lt"/>
              <a:buAutoNum type="arabicPeriod"/>
            </a:pPr>
            <a:r>
              <a:rPr lang="en-US" sz="2000" b="1" dirty="0"/>
              <a:t>Supports decision-making using data insights : </a:t>
            </a:r>
            <a:r>
              <a:rPr lang="en-US" sz="2000" dirty="0"/>
              <a:t>IT systems collect and analyze large volumes of data, transforming them into meaningful insights that help managers make accurate, timely, and evidence-based decisions.</a:t>
            </a:r>
          </a:p>
          <a:p>
            <a:pPr marL="658368" lvl="1" indent="-457200">
              <a:buFont typeface="+mj-lt"/>
              <a:buAutoNum type="arabicPeriod"/>
            </a:pPr>
            <a:r>
              <a:rPr lang="en-US" sz="2000" b="1" dirty="0"/>
              <a:t>Ensures efficient resource utilization : </a:t>
            </a:r>
            <a:r>
              <a:rPr lang="en-US" sz="2000" dirty="0"/>
              <a:t>An effective IT strategy optimizes the use of resources such as time, budget, and manpower by reducing redundancy, improving processes, and ensuring maximum productivity with minimal waste.</a:t>
            </a:r>
            <a:endParaRPr lang="en-IN" sz="2000" dirty="0"/>
          </a:p>
        </p:txBody>
      </p:sp>
      <p:sp>
        <p:nvSpPr>
          <p:cNvPr id="4" name="Title 1">
            <a:extLst>
              <a:ext uri="{FF2B5EF4-FFF2-40B4-BE49-F238E27FC236}">
                <a16:creationId xmlns:a16="http://schemas.microsoft.com/office/drawing/2014/main" id="{5F1E6719-EA93-147E-22B3-212B6D5A2006}"/>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Alignment of IT &amp; Business Strategy</a:t>
            </a:r>
            <a:endParaRPr lang="en-IN" sz="4000" dirty="0"/>
          </a:p>
        </p:txBody>
      </p:sp>
    </p:spTree>
    <p:extLst>
      <p:ext uri="{BB962C8B-B14F-4D97-AF65-F5344CB8AC3E}">
        <p14:creationId xmlns:p14="http://schemas.microsoft.com/office/powerpoint/2010/main" val="3533891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39DD-256E-AF1F-194C-214F064A1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4D252-C2EB-67F0-A67F-5A2689433392}"/>
              </a:ext>
            </a:extLst>
          </p:cNvPr>
          <p:cNvSpPr>
            <a:spLocks noGrp="1"/>
          </p:cNvSpPr>
          <p:nvPr>
            <p:ph type="title"/>
          </p:nvPr>
        </p:nvSpPr>
        <p:spPr/>
        <p:txBody>
          <a:bodyPr anchor="ctr"/>
          <a:lstStyle/>
          <a:p>
            <a:r>
              <a:rPr lang="en-US" dirty="0"/>
              <a:t>Interplay between IT and Business Strategy</a:t>
            </a:r>
            <a:endParaRPr lang="en-IN" dirty="0"/>
          </a:p>
        </p:txBody>
      </p:sp>
      <p:sp>
        <p:nvSpPr>
          <p:cNvPr id="3" name="Content Placeholder 2">
            <a:extLst>
              <a:ext uri="{FF2B5EF4-FFF2-40B4-BE49-F238E27FC236}">
                <a16:creationId xmlns:a16="http://schemas.microsoft.com/office/drawing/2014/main" id="{276CE09B-FC6B-804E-D87F-B725CD0CE624}"/>
              </a:ext>
            </a:extLst>
          </p:cNvPr>
          <p:cNvSpPr>
            <a:spLocks noGrp="1"/>
          </p:cNvSpPr>
          <p:nvPr>
            <p:ph idx="1"/>
          </p:nvPr>
        </p:nvSpPr>
        <p:spPr>
          <a:xfrm>
            <a:off x="1097280" y="2616200"/>
            <a:ext cx="10058400" cy="3754120"/>
          </a:xfrm>
        </p:spPr>
        <p:txBody>
          <a:bodyPr>
            <a:normAutofit/>
          </a:bodyPr>
          <a:lstStyle/>
          <a:p>
            <a:pPr marL="658368" lvl="1" indent="-457200">
              <a:buFont typeface="+mj-lt"/>
              <a:buAutoNum type="arabicPeriod"/>
            </a:pPr>
            <a:r>
              <a:rPr lang="en-US" sz="2000" b="1" dirty="0"/>
              <a:t>Enables digital transformation and innovation:</a:t>
            </a:r>
            <a:r>
              <a:rPr lang="en-US" sz="2000" dirty="0"/>
              <a:t> IT strategy drives the adoption of modern technologies and fosters continuous innovation, helping organizations transform traditional processes into efficient digital solutions.</a:t>
            </a:r>
          </a:p>
          <a:p>
            <a:pPr marL="658368" lvl="1" indent="-457200">
              <a:buFont typeface="+mj-lt"/>
              <a:buAutoNum type="arabicPeriod"/>
            </a:pPr>
            <a:r>
              <a:rPr lang="en-US" sz="2000" b="1" dirty="0"/>
              <a:t>Provides competitive advantage in the market: </a:t>
            </a:r>
            <a:r>
              <a:rPr lang="en-US" sz="2000" dirty="0"/>
              <a:t>By leveraging advanced IT systems, businesses can offer better services, improve efficiency, and differentiate themselves from competitors in a fast-changing market.</a:t>
            </a:r>
          </a:p>
          <a:p>
            <a:pPr marL="658368" lvl="1" indent="-457200">
              <a:buFont typeface="+mj-lt"/>
              <a:buAutoNum type="arabicPeriod"/>
            </a:pPr>
            <a:r>
              <a:rPr lang="en-US" sz="2000" b="1" dirty="0"/>
              <a:t>Improves agility and adaptability: </a:t>
            </a:r>
            <a:r>
              <a:rPr lang="en-US" sz="2000" dirty="0"/>
              <a:t>A strong IT framework allows organizations to quickly respond to market changes, customer demands, and emerging trends with minimal disruption.</a:t>
            </a:r>
          </a:p>
          <a:p>
            <a:pPr marL="658368" lvl="1" indent="-457200">
              <a:buFont typeface="+mj-lt"/>
              <a:buAutoNum type="arabicPeriod"/>
            </a:pPr>
            <a:r>
              <a:rPr lang="en-US" sz="2000" b="1" dirty="0"/>
              <a:t>Supports growth and scalability of businesses: </a:t>
            </a:r>
            <a:r>
              <a:rPr lang="en-US" sz="2000" dirty="0"/>
              <a:t>IT infrastructure is designed to expand with business needs, enabling smooth scaling of operations, services, and customer base without major system overhauls.</a:t>
            </a:r>
            <a:endParaRPr lang="en-IN" sz="2000" dirty="0"/>
          </a:p>
        </p:txBody>
      </p:sp>
      <p:sp>
        <p:nvSpPr>
          <p:cNvPr id="4" name="Title 1">
            <a:extLst>
              <a:ext uri="{FF2B5EF4-FFF2-40B4-BE49-F238E27FC236}">
                <a16:creationId xmlns:a16="http://schemas.microsoft.com/office/drawing/2014/main" id="{5CD1ACE0-0568-16FA-2C20-9CF9918D63BB}"/>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Strategic Benefits of IT Integration</a:t>
            </a:r>
            <a:endParaRPr lang="en-IN" sz="4000" dirty="0"/>
          </a:p>
        </p:txBody>
      </p:sp>
    </p:spTree>
    <p:extLst>
      <p:ext uri="{BB962C8B-B14F-4D97-AF65-F5344CB8AC3E}">
        <p14:creationId xmlns:p14="http://schemas.microsoft.com/office/powerpoint/2010/main" val="843232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D249C-AE6F-5341-9FF7-C546C10AE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0A499-7A1E-E34F-5A0A-F6E31AC86E7D}"/>
              </a:ext>
            </a:extLst>
          </p:cNvPr>
          <p:cNvSpPr>
            <a:spLocks noGrp="1"/>
          </p:cNvSpPr>
          <p:nvPr>
            <p:ph type="title"/>
          </p:nvPr>
        </p:nvSpPr>
        <p:spPr/>
        <p:txBody>
          <a:bodyPr anchor="ctr"/>
          <a:lstStyle/>
          <a:p>
            <a:r>
              <a:rPr lang="en-US" b="1" dirty="0"/>
              <a:t>Data Types, Sources, and Lifecycle</a:t>
            </a:r>
            <a:endParaRPr lang="en-IN" b="1" dirty="0"/>
          </a:p>
        </p:txBody>
      </p:sp>
      <p:sp>
        <p:nvSpPr>
          <p:cNvPr id="3" name="Content Placeholder 2">
            <a:extLst>
              <a:ext uri="{FF2B5EF4-FFF2-40B4-BE49-F238E27FC236}">
                <a16:creationId xmlns:a16="http://schemas.microsoft.com/office/drawing/2014/main" id="{DE13137B-5A21-5FBE-FFB6-46033C6E8596}"/>
              </a:ext>
            </a:extLst>
          </p:cNvPr>
          <p:cNvSpPr>
            <a:spLocks noGrp="1"/>
          </p:cNvSpPr>
          <p:nvPr>
            <p:ph idx="1"/>
          </p:nvPr>
        </p:nvSpPr>
        <p:spPr/>
        <p:txBody>
          <a:bodyPr/>
          <a:lstStyle/>
          <a:p>
            <a:pPr marL="0" indent="0">
              <a:buNone/>
            </a:pPr>
            <a:r>
              <a:rPr lang="en-US" dirty="0"/>
              <a:t>It refers to the classification of data (structured, unstructured, semi-structured) and where it originates from, such as databases, sensors, user inputs, and online systems. It also includes how data is collected, stored, processed, and used within an organization. The data lifecycle describes the stages data goes through—from creation and storage to usage, sharing, archiving, and eventual deletion.</a:t>
            </a:r>
          </a:p>
          <a:p>
            <a:pPr marL="457200" indent="-457200">
              <a:buFont typeface="+mj-lt"/>
              <a:buAutoNum type="arabicPeriod"/>
            </a:pPr>
            <a:r>
              <a:rPr lang="en-US" dirty="0"/>
              <a:t>Data = raw facts used for decision-making and analysis</a:t>
            </a:r>
          </a:p>
          <a:p>
            <a:pPr marL="457200" indent="-457200">
              <a:buFont typeface="+mj-lt"/>
              <a:buAutoNum type="arabicPeriod"/>
            </a:pPr>
            <a:r>
              <a:rPr lang="en-US" dirty="0"/>
              <a:t>Comes in different types and formats (structured, unstructured, etc.)</a:t>
            </a:r>
          </a:p>
          <a:p>
            <a:pPr marL="457200" indent="-457200">
              <a:buFont typeface="+mj-lt"/>
              <a:buAutoNum type="arabicPeriod"/>
            </a:pPr>
            <a:r>
              <a:rPr lang="en-US" dirty="0"/>
              <a:t>Generated from multiple sources like systems, users, and external platforms</a:t>
            </a:r>
          </a:p>
          <a:p>
            <a:pPr marL="457200" indent="-457200">
              <a:buFont typeface="+mj-lt"/>
              <a:buAutoNum type="arabicPeriod"/>
            </a:pPr>
            <a:r>
              <a:rPr lang="en-US" dirty="0"/>
              <a:t>Managed through a lifecycle: creation → storage → usage → deletion</a:t>
            </a:r>
          </a:p>
          <a:p>
            <a:pPr marL="457200" indent="-457200">
              <a:buFont typeface="+mj-lt"/>
              <a:buAutoNum type="arabicPeriod"/>
            </a:pPr>
            <a:r>
              <a:rPr lang="en-US" dirty="0"/>
              <a:t>High-quality data is essential for accurate insights and business success</a:t>
            </a:r>
          </a:p>
        </p:txBody>
      </p:sp>
    </p:spTree>
    <p:extLst>
      <p:ext uri="{BB962C8B-B14F-4D97-AF65-F5344CB8AC3E}">
        <p14:creationId xmlns:p14="http://schemas.microsoft.com/office/powerpoint/2010/main" val="321850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2FADC-0B5E-8331-CD89-180831D7D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71E1F-E4D5-1C73-0320-5FEDE83CC583}"/>
              </a:ext>
            </a:extLst>
          </p:cNvPr>
          <p:cNvSpPr>
            <a:spLocks noGrp="1"/>
          </p:cNvSpPr>
          <p:nvPr>
            <p:ph type="title"/>
          </p:nvPr>
        </p:nvSpPr>
        <p:spPr/>
        <p:txBody>
          <a:bodyPr anchor="ctr"/>
          <a:lstStyle/>
          <a:p>
            <a:r>
              <a:rPr lang="en-US" dirty="0"/>
              <a:t>Understanding Different Data Types</a:t>
            </a:r>
            <a:endParaRPr lang="en-IN" dirty="0"/>
          </a:p>
        </p:txBody>
      </p:sp>
      <p:sp>
        <p:nvSpPr>
          <p:cNvPr id="3" name="Content Placeholder 2">
            <a:extLst>
              <a:ext uri="{FF2B5EF4-FFF2-40B4-BE49-F238E27FC236}">
                <a16:creationId xmlns:a16="http://schemas.microsoft.com/office/drawing/2014/main" id="{FA655976-945D-6F98-3B23-EC8204644764}"/>
              </a:ext>
            </a:extLst>
          </p:cNvPr>
          <p:cNvSpPr>
            <a:spLocks noGrp="1"/>
          </p:cNvSpPr>
          <p:nvPr>
            <p:ph idx="1"/>
          </p:nvPr>
        </p:nvSpPr>
        <p:spPr>
          <a:xfrm>
            <a:off x="1097280" y="2616200"/>
            <a:ext cx="10058400" cy="3662680"/>
          </a:xfrm>
        </p:spPr>
        <p:txBody>
          <a:bodyPr>
            <a:normAutofit lnSpcReduction="10000"/>
          </a:bodyPr>
          <a:lstStyle/>
          <a:p>
            <a:pPr marL="658368" lvl="1" indent="-457200">
              <a:buFont typeface="+mj-lt"/>
              <a:buAutoNum type="arabicPeriod"/>
            </a:pPr>
            <a:r>
              <a:rPr lang="en-US" sz="2000" b="1" dirty="0"/>
              <a:t>Structured Data : </a:t>
            </a:r>
            <a:r>
              <a:rPr lang="en-US" sz="2000" dirty="0"/>
              <a:t>Structured data is highly organized and stored in a predefined format like tables. It is easy to store, search, and analyze using tools like SQL. This type of data is commonly used in databases.</a:t>
            </a:r>
          </a:p>
          <a:p>
            <a:pPr lvl="3">
              <a:buFont typeface="Arial" panose="020B0604020202020204" pitchFamily="34" charset="0"/>
              <a:buChar char="•"/>
            </a:pPr>
            <a:r>
              <a:rPr lang="en-US" sz="2000" dirty="0"/>
              <a:t>Organized in rows &amp; columns (tables, databases)</a:t>
            </a:r>
          </a:p>
          <a:p>
            <a:pPr lvl="3">
              <a:buFont typeface="Arial" panose="020B0604020202020204" pitchFamily="34" charset="0"/>
              <a:buChar char="•"/>
            </a:pPr>
            <a:r>
              <a:rPr lang="en-US" sz="2000" dirty="0"/>
              <a:t>Easy to search and analyze using SQL</a:t>
            </a:r>
          </a:p>
          <a:p>
            <a:pPr lvl="3">
              <a:buFont typeface="Arial" panose="020B0604020202020204" pitchFamily="34" charset="0"/>
              <a:buChar char="•"/>
            </a:pPr>
            <a:r>
              <a:rPr lang="en-US" sz="2000" dirty="0"/>
              <a:t>Example: bank records, inventory</a:t>
            </a:r>
          </a:p>
          <a:p>
            <a:pPr marL="658368" lvl="1" indent="-457200">
              <a:buFont typeface="+mj-lt"/>
              <a:buAutoNum type="arabicPeriod"/>
            </a:pPr>
            <a:r>
              <a:rPr lang="en-US" sz="2000" b="1" dirty="0"/>
              <a:t>Unstructured Data : </a:t>
            </a:r>
            <a:r>
              <a:rPr lang="en-US" sz="2000" dirty="0"/>
              <a:t>Unstructured data does not follow a specific format or structure. It is more complex to process and analyze but contains valuable insights when properly handled.</a:t>
            </a:r>
          </a:p>
          <a:p>
            <a:pPr lvl="3">
              <a:buFont typeface="Arial" panose="020B0604020202020204" pitchFamily="34" charset="0"/>
              <a:buChar char="•"/>
            </a:pPr>
            <a:r>
              <a:rPr lang="en-US" sz="2000" dirty="0"/>
              <a:t>No fixed format or structure</a:t>
            </a:r>
          </a:p>
          <a:p>
            <a:pPr lvl="3">
              <a:buFont typeface="Arial" panose="020B0604020202020204" pitchFamily="34" charset="0"/>
              <a:buChar char="•"/>
            </a:pPr>
            <a:r>
              <a:rPr lang="en-US" sz="2000" dirty="0"/>
              <a:t>Harder to analyze and process</a:t>
            </a:r>
          </a:p>
          <a:p>
            <a:pPr lvl="3">
              <a:buFont typeface="Arial" panose="020B0604020202020204" pitchFamily="34" charset="0"/>
              <a:buChar char="•"/>
            </a:pPr>
            <a:r>
              <a:rPr lang="en-US" sz="2000" dirty="0"/>
              <a:t>Example: images, videos, emails</a:t>
            </a:r>
            <a:endParaRPr lang="en-IN" sz="2000" dirty="0"/>
          </a:p>
        </p:txBody>
      </p:sp>
      <p:sp>
        <p:nvSpPr>
          <p:cNvPr id="4" name="Title 1">
            <a:extLst>
              <a:ext uri="{FF2B5EF4-FFF2-40B4-BE49-F238E27FC236}">
                <a16:creationId xmlns:a16="http://schemas.microsoft.com/office/drawing/2014/main" id="{50CF82CD-9707-9160-387E-1F7729980911}"/>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Structured &amp; Unstructured Data</a:t>
            </a:r>
            <a:endParaRPr lang="en-IN" sz="4000" dirty="0"/>
          </a:p>
        </p:txBody>
      </p:sp>
    </p:spTree>
    <p:extLst>
      <p:ext uri="{BB962C8B-B14F-4D97-AF65-F5344CB8AC3E}">
        <p14:creationId xmlns:p14="http://schemas.microsoft.com/office/powerpoint/2010/main" val="1570129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95F56-1211-95D1-9069-EDCCB6AE9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725618-5705-211F-0259-9DFFE1061DBA}"/>
              </a:ext>
            </a:extLst>
          </p:cNvPr>
          <p:cNvSpPr>
            <a:spLocks noGrp="1"/>
          </p:cNvSpPr>
          <p:nvPr>
            <p:ph type="title"/>
          </p:nvPr>
        </p:nvSpPr>
        <p:spPr/>
        <p:txBody>
          <a:bodyPr anchor="ctr"/>
          <a:lstStyle/>
          <a:p>
            <a:r>
              <a:rPr lang="en-US" dirty="0"/>
              <a:t>Understanding Different Data Types</a:t>
            </a:r>
            <a:endParaRPr lang="en-IN" dirty="0"/>
          </a:p>
        </p:txBody>
      </p:sp>
      <p:sp>
        <p:nvSpPr>
          <p:cNvPr id="3" name="Content Placeholder 2">
            <a:extLst>
              <a:ext uri="{FF2B5EF4-FFF2-40B4-BE49-F238E27FC236}">
                <a16:creationId xmlns:a16="http://schemas.microsoft.com/office/drawing/2014/main" id="{810280AD-A28D-5173-00B2-7779E885BA30}"/>
              </a:ext>
            </a:extLst>
          </p:cNvPr>
          <p:cNvSpPr>
            <a:spLocks noGrp="1"/>
          </p:cNvSpPr>
          <p:nvPr>
            <p:ph idx="1"/>
          </p:nvPr>
        </p:nvSpPr>
        <p:spPr>
          <a:xfrm>
            <a:off x="1097280" y="2616200"/>
            <a:ext cx="10058400" cy="3418840"/>
          </a:xfrm>
        </p:spPr>
        <p:txBody>
          <a:bodyPr>
            <a:normAutofit/>
          </a:bodyPr>
          <a:lstStyle/>
          <a:p>
            <a:pPr marL="201168" lvl="1" indent="0">
              <a:buNone/>
            </a:pPr>
            <a:r>
              <a:rPr lang="en-US" sz="2000" dirty="0"/>
              <a:t>Semi-structured data is data that does not follow a fixed table format like databases but still contains some organized elements such as tags, keys, or markers. It is partially structured, making it easier to store and analyze than unstructured data but more flexible than structured data. Common examples include JSON, XML files, emails, and log files.</a:t>
            </a:r>
          </a:p>
          <a:p>
            <a:pPr marL="658368" lvl="1" indent="-457200">
              <a:buFont typeface="+mj-lt"/>
              <a:buAutoNum type="arabicPeriod"/>
            </a:pPr>
            <a:r>
              <a:rPr lang="en-US" sz="2000" dirty="0"/>
              <a:t>Does not follow strict table format but has some structure</a:t>
            </a:r>
          </a:p>
          <a:p>
            <a:pPr marL="658368" lvl="1" indent="-457200">
              <a:buFont typeface="+mj-lt"/>
              <a:buAutoNum type="arabicPeriod"/>
            </a:pPr>
            <a:r>
              <a:rPr lang="en-US" sz="2000" dirty="0"/>
              <a:t>Uses tags, metadata (XML, JSON)</a:t>
            </a:r>
          </a:p>
          <a:p>
            <a:pPr marL="658368" lvl="1" indent="-457200">
              <a:buFont typeface="+mj-lt"/>
              <a:buAutoNum type="arabicPeriod"/>
            </a:pPr>
            <a:r>
              <a:rPr lang="en-US" sz="2000" dirty="0"/>
              <a:t>Flexible and scalable for modern applications</a:t>
            </a:r>
          </a:p>
          <a:p>
            <a:pPr marL="658368" lvl="1" indent="-457200">
              <a:buFont typeface="+mj-lt"/>
              <a:buAutoNum type="arabicPeriod"/>
            </a:pPr>
            <a:r>
              <a:rPr lang="en-US" sz="2000" dirty="0"/>
              <a:t>Combines features of structured and unstructured</a:t>
            </a:r>
            <a:endParaRPr lang="en-IN" sz="2000" dirty="0"/>
          </a:p>
        </p:txBody>
      </p:sp>
      <p:sp>
        <p:nvSpPr>
          <p:cNvPr id="4" name="Title 1">
            <a:extLst>
              <a:ext uri="{FF2B5EF4-FFF2-40B4-BE49-F238E27FC236}">
                <a16:creationId xmlns:a16="http://schemas.microsoft.com/office/drawing/2014/main" id="{13180535-D847-E347-A205-4521B179FC90}"/>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Semi-Structured Data</a:t>
            </a:r>
            <a:endParaRPr lang="en-IN" sz="4000" dirty="0"/>
          </a:p>
        </p:txBody>
      </p:sp>
    </p:spTree>
    <p:extLst>
      <p:ext uri="{BB962C8B-B14F-4D97-AF65-F5344CB8AC3E}">
        <p14:creationId xmlns:p14="http://schemas.microsoft.com/office/powerpoint/2010/main" val="3274704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CDDEA-80C2-F3DD-EE3C-FCD4515AC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AA611-BCB8-CECF-A3EC-728494F9DA55}"/>
              </a:ext>
            </a:extLst>
          </p:cNvPr>
          <p:cNvSpPr>
            <a:spLocks noGrp="1"/>
          </p:cNvSpPr>
          <p:nvPr>
            <p:ph type="title"/>
          </p:nvPr>
        </p:nvSpPr>
        <p:spPr/>
        <p:txBody>
          <a:bodyPr anchor="ctr"/>
          <a:lstStyle/>
          <a:p>
            <a:r>
              <a:rPr lang="en-US" dirty="0"/>
              <a:t>Common Data Sources</a:t>
            </a:r>
            <a:endParaRPr lang="en-IN" dirty="0"/>
          </a:p>
        </p:txBody>
      </p:sp>
      <p:sp>
        <p:nvSpPr>
          <p:cNvPr id="3" name="Content Placeholder 2">
            <a:extLst>
              <a:ext uri="{FF2B5EF4-FFF2-40B4-BE49-F238E27FC236}">
                <a16:creationId xmlns:a16="http://schemas.microsoft.com/office/drawing/2014/main" id="{C53DBC3C-E69E-11F6-5680-4FE2952EF395}"/>
              </a:ext>
            </a:extLst>
          </p:cNvPr>
          <p:cNvSpPr>
            <a:spLocks noGrp="1"/>
          </p:cNvSpPr>
          <p:nvPr>
            <p:ph idx="1"/>
          </p:nvPr>
        </p:nvSpPr>
        <p:spPr>
          <a:xfrm>
            <a:off x="1097280" y="2616200"/>
            <a:ext cx="10058400" cy="3418840"/>
          </a:xfrm>
        </p:spPr>
        <p:txBody>
          <a:bodyPr>
            <a:normAutofit/>
          </a:bodyPr>
          <a:lstStyle/>
          <a:p>
            <a:pPr marL="658368" lvl="1" indent="-457200">
              <a:buFont typeface="+mj-lt"/>
              <a:buAutoNum type="arabicPeriod"/>
            </a:pPr>
            <a:r>
              <a:rPr lang="en-US" sz="2000" b="1" dirty="0"/>
              <a:t>Internal Sources : </a:t>
            </a:r>
            <a:r>
              <a:rPr lang="en-US" sz="2000" dirty="0"/>
              <a:t>Internal data is generated within the organization, such as sales records, employee details, and operational data, helping in performance analysis and decision-making.</a:t>
            </a:r>
          </a:p>
          <a:p>
            <a:pPr lvl="3">
              <a:buFont typeface="Arial" panose="020B0604020202020204" pitchFamily="34" charset="0"/>
              <a:buChar char="•"/>
            </a:pPr>
            <a:r>
              <a:rPr lang="en-US" sz="2000" dirty="0"/>
              <a:t>Data generated within organization</a:t>
            </a:r>
          </a:p>
          <a:p>
            <a:pPr lvl="3">
              <a:buFont typeface="Arial" panose="020B0604020202020204" pitchFamily="34" charset="0"/>
              <a:buChar char="•"/>
            </a:pPr>
            <a:r>
              <a:rPr lang="en-US" sz="2000" dirty="0"/>
              <a:t>Example: sales data, employee records</a:t>
            </a:r>
          </a:p>
          <a:p>
            <a:pPr marL="658368" lvl="1" indent="-457200">
              <a:buFont typeface="+mj-lt"/>
              <a:buAutoNum type="arabicPeriod"/>
            </a:pPr>
            <a:r>
              <a:rPr lang="en-US" sz="2000" b="1" dirty="0"/>
              <a:t>External Sources : </a:t>
            </a:r>
            <a:r>
              <a:rPr lang="en-US" sz="2000" dirty="0"/>
              <a:t>External data comes from outside sources like market trends, competitors, and social media, providing insights into the business environment and customer behavior.</a:t>
            </a:r>
          </a:p>
          <a:p>
            <a:pPr lvl="2">
              <a:buFont typeface="Arial" panose="020B0604020202020204" pitchFamily="34" charset="0"/>
              <a:buChar char="•"/>
            </a:pPr>
            <a:r>
              <a:rPr lang="en-US" sz="2000" dirty="0"/>
              <a:t>Data from outside organizations</a:t>
            </a:r>
          </a:p>
          <a:p>
            <a:pPr lvl="2">
              <a:buFont typeface="Arial" panose="020B0604020202020204" pitchFamily="34" charset="0"/>
              <a:buChar char="•"/>
            </a:pPr>
            <a:r>
              <a:rPr lang="en-US" sz="2000" dirty="0"/>
              <a:t>Example: market trends, social media</a:t>
            </a:r>
            <a:endParaRPr lang="en-IN" sz="2000" dirty="0"/>
          </a:p>
        </p:txBody>
      </p:sp>
      <p:sp>
        <p:nvSpPr>
          <p:cNvPr id="4" name="Title 1">
            <a:extLst>
              <a:ext uri="{FF2B5EF4-FFF2-40B4-BE49-F238E27FC236}">
                <a16:creationId xmlns:a16="http://schemas.microsoft.com/office/drawing/2014/main" id="{CE94A0E9-B837-D69A-6C2A-44D7133CEBAF}"/>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Internal &amp; External Sources</a:t>
            </a:r>
            <a:endParaRPr lang="en-IN" sz="4000" dirty="0"/>
          </a:p>
        </p:txBody>
      </p:sp>
    </p:spTree>
    <p:extLst>
      <p:ext uri="{BB962C8B-B14F-4D97-AF65-F5344CB8AC3E}">
        <p14:creationId xmlns:p14="http://schemas.microsoft.com/office/powerpoint/2010/main" val="1739596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0D8BD-A386-AC2D-075F-DC9AFAA7B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485A8-4A8D-924D-D59A-4D87CBF46D52}"/>
              </a:ext>
            </a:extLst>
          </p:cNvPr>
          <p:cNvSpPr>
            <a:spLocks noGrp="1"/>
          </p:cNvSpPr>
          <p:nvPr>
            <p:ph type="title"/>
          </p:nvPr>
        </p:nvSpPr>
        <p:spPr/>
        <p:txBody>
          <a:bodyPr anchor="ctr"/>
          <a:lstStyle/>
          <a:p>
            <a:r>
              <a:rPr lang="en-US" dirty="0"/>
              <a:t>Common Data Sources</a:t>
            </a:r>
            <a:endParaRPr lang="en-IN" dirty="0"/>
          </a:p>
        </p:txBody>
      </p:sp>
      <p:sp>
        <p:nvSpPr>
          <p:cNvPr id="3" name="Content Placeholder 2">
            <a:extLst>
              <a:ext uri="{FF2B5EF4-FFF2-40B4-BE49-F238E27FC236}">
                <a16:creationId xmlns:a16="http://schemas.microsoft.com/office/drawing/2014/main" id="{4ADD2576-D6B8-0C8D-B12F-8E76967638C1}"/>
              </a:ext>
            </a:extLst>
          </p:cNvPr>
          <p:cNvSpPr>
            <a:spLocks noGrp="1"/>
          </p:cNvSpPr>
          <p:nvPr>
            <p:ph idx="1"/>
          </p:nvPr>
        </p:nvSpPr>
        <p:spPr>
          <a:xfrm>
            <a:off x="1097280" y="2616200"/>
            <a:ext cx="6045200" cy="3693160"/>
          </a:xfrm>
        </p:spPr>
        <p:txBody>
          <a:bodyPr>
            <a:noAutofit/>
          </a:bodyPr>
          <a:lstStyle/>
          <a:p>
            <a:pPr marL="201168" lvl="1" indent="0">
              <a:buNone/>
            </a:pPr>
            <a:r>
              <a:rPr lang="en-IN" sz="2000" b="1" dirty="0"/>
              <a:t>Databases : </a:t>
            </a:r>
            <a:r>
              <a:rPr lang="en-US" sz="2000" dirty="0"/>
              <a:t>A database is an organized collection of data that allows efficient storage, retrieval, and management. It is essential for handling structured data in applications and systems.</a:t>
            </a:r>
            <a:endParaRPr lang="en-IN" sz="2000" dirty="0"/>
          </a:p>
          <a:p>
            <a:pPr lvl="4">
              <a:buFont typeface="Arial" panose="020B0604020202020204" pitchFamily="34" charset="0"/>
              <a:buChar char="•"/>
            </a:pPr>
            <a:r>
              <a:rPr lang="en-IN" sz="2000" dirty="0"/>
              <a:t>Stores structured data systematically</a:t>
            </a:r>
          </a:p>
          <a:p>
            <a:pPr lvl="4">
              <a:buFont typeface="Arial" panose="020B0604020202020204" pitchFamily="34" charset="0"/>
              <a:buChar char="•"/>
            </a:pPr>
            <a:r>
              <a:rPr lang="en-IN" sz="2000" dirty="0"/>
              <a:t>Ensures data consistency and security</a:t>
            </a:r>
          </a:p>
          <a:p>
            <a:pPr lvl="4">
              <a:buFont typeface="Arial" panose="020B0604020202020204" pitchFamily="34" charset="0"/>
              <a:buChar char="•"/>
            </a:pPr>
            <a:r>
              <a:rPr lang="en-IN" sz="2000" dirty="0"/>
              <a:t>Supports fast data retrieval</a:t>
            </a:r>
          </a:p>
          <a:p>
            <a:pPr lvl="4">
              <a:buFont typeface="Arial" panose="020B0604020202020204" pitchFamily="34" charset="0"/>
              <a:buChar char="•"/>
            </a:pPr>
            <a:r>
              <a:rPr lang="en-IN" sz="2000" dirty="0"/>
              <a:t>Managed using DBMS (Database Management System)</a:t>
            </a:r>
          </a:p>
        </p:txBody>
      </p:sp>
      <p:sp>
        <p:nvSpPr>
          <p:cNvPr id="4" name="Title 1">
            <a:extLst>
              <a:ext uri="{FF2B5EF4-FFF2-40B4-BE49-F238E27FC236}">
                <a16:creationId xmlns:a16="http://schemas.microsoft.com/office/drawing/2014/main" id="{26F885DA-1D7B-32B9-8315-E32C0207C447}"/>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Databases</a:t>
            </a:r>
            <a:endParaRPr lang="en-IN" sz="4000" dirty="0"/>
          </a:p>
        </p:txBody>
      </p:sp>
      <p:pic>
        <p:nvPicPr>
          <p:cNvPr id="6" name="Picture 5">
            <a:extLst>
              <a:ext uri="{FF2B5EF4-FFF2-40B4-BE49-F238E27FC236}">
                <a16:creationId xmlns:a16="http://schemas.microsoft.com/office/drawing/2014/main" id="{C45C33F3-FD27-9085-BEC1-BC4AB9E27208}"/>
              </a:ext>
            </a:extLst>
          </p:cNvPr>
          <p:cNvPicPr>
            <a:picLocks noChangeAspect="1"/>
          </p:cNvPicPr>
          <p:nvPr/>
        </p:nvPicPr>
        <p:blipFill>
          <a:blip r:embed="rId2">
            <a:extLst>
              <a:ext uri="{28A0092B-C50C-407E-A947-70E740481C1C}">
                <a14:useLocalDpi xmlns:a14="http://schemas.microsoft.com/office/drawing/2010/main" val="0"/>
              </a:ext>
            </a:extLst>
          </a:blip>
          <a:srcRect l="7990" t="6036" r="6165" b="5722"/>
          <a:stretch>
            <a:fillRect/>
          </a:stretch>
        </p:blipFill>
        <p:spPr>
          <a:xfrm>
            <a:off x="7142480" y="2000667"/>
            <a:ext cx="4013200" cy="422596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62362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6C135-732D-A04B-2FA6-127E76B1243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E7C327E-7DB1-F1DA-802F-928F7D5D46E1}"/>
              </a:ext>
            </a:extLst>
          </p:cNvPr>
          <p:cNvPicPr>
            <a:picLocks noChangeAspect="1"/>
          </p:cNvPicPr>
          <p:nvPr/>
        </p:nvPicPr>
        <p:blipFill>
          <a:blip r:embed="rId2"/>
          <a:srcRect t="29227" b="17965"/>
          <a:stretch>
            <a:fillRect/>
          </a:stretch>
        </p:blipFill>
        <p:spPr>
          <a:xfrm>
            <a:off x="1615440" y="4066957"/>
            <a:ext cx="9022080" cy="2587843"/>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BADBBDE5-E8B3-1B49-2609-CB7170ADC312}"/>
              </a:ext>
            </a:extLst>
          </p:cNvPr>
          <p:cNvSpPr>
            <a:spLocks noGrp="1"/>
          </p:cNvSpPr>
          <p:nvPr>
            <p:ph type="title"/>
          </p:nvPr>
        </p:nvSpPr>
        <p:spPr/>
        <p:txBody>
          <a:bodyPr anchor="ctr"/>
          <a:lstStyle/>
          <a:p>
            <a:r>
              <a:rPr lang="en-US" dirty="0"/>
              <a:t>Common Data Sources</a:t>
            </a:r>
            <a:endParaRPr lang="en-IN" dirty="0"/>
          </a:p>
        </p:txBody>
      </p:sp>
      <p:sp>
        <p:nvSpPr>
          <p:cNvPr id="3" name="Content Placeholder 2">
            <a:extLst>
              <a:ext uri="{FF2B5EF4-FFF2-40B4-BE49-F238E27FC236}">
                <a16:creationId xmlns:a16="http://schemas.microsoft.com/office/drawing/2014/main" id="{6A394D6F-7AEE-1066-2136-D5AF98B03ACA}"/>
              </a:ext>
            </a:extLst>
          </p:cNvPr>
          <p:cNvSpPr>
            <a:spLocks noGrp="1"/>
          </p:cNvSpPr>
          <p:nvPr>
            <p:ph idx="1"/>
          </p:nvPr>
        </p:nvSpPr>
        <p:spPr>
          <a:xfrm>
            <a:off x="1097280" y="2616200"/>
            <a:ext cx="10058400" cy="1450757"/>
          </a:xfrm>
        </p:spPr>
        <p:txBody>
          <a:bodyPr>
            <a:noAutofit/>
          </a:bodyPr>
          <a:lstStyle/>
          <a:p>
            <a:pPr marL="201168" lvl="1" indent="0">
              <a:buNone/>
            </a:pPr>
            <a:r>
              <a:rPr lang="en-IN" sz="2000" b="1" dirty="0"/>
              <a:t>APIs (Application Programming Interfaces): </a:t>
            </a:r>
            <a:r>
              <a:rPr lang="en-US" sz="2000" dirty="0"/>
              <a:t>An application program interface (API) is a defined set of rules that allows different software systems to communicate</a:t>
            </a:r>
            <a:r>
              <a:rPr lang="en-US" sz="2000" b="1" dirty="0"/>
              <a:t>. </a:t>
            </a:r>
            <a:r>
              <a:rPr lang="en-US" sz="2000" dirty="0"/>
              <a:t>APIs act as a bridge that allows different software systems to communicate with each other. They enable applications to request and exchange data in real-time.</a:t>
            </a:r>
            <a:endParaRPr lang="en-IN" sz="2000" dirty="0"/>
          </a:p>
        </p:txBody>
      </p:sp>
      <p:sp>
        <p:nvSpPr>
          <p:cNvPr id="4" name="Title 1">
            <a:extLst>
              <a:ext uri="{FF2B5EF4-FFF2-40B4-BE49-F238E27FC236}">
                <a16:creationId xmlns:a16="http://schemas.microsoft.com/office/drawing/2014/main" id="{6A6AE248-923C-4676-1887-C69588F20292}"/>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APIs**</a:t>
            </a:r>
            <a:endParaRPr lang="en-IN" sz="4000" dirty="0"/>
          </a:p>
        </p:txBody>
      </p:sp>
    </p:spTree>
    <p:extLst>
      <p:ext uri="{BB962C8B-B14F-4D97-AF65-F5344CB8AC3E}">
        <p14:creationId xmlns:p14="http://schemas.microsoft.com/office/powerpoint/2010/main" val="3828733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165F8-A44E-DCB2-6961-B52917A67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8F4CD3-5685-6B8A-23F6-B99D663312E2}"/>
              </a:ext>
            </a:extLst>
          </p:cNvPr>
          <p:cNvSpPr>
            <a:spLocks noGrp="1"/>
          </p:cNvSpPr>
          <p:nvPr>
            <p:ph type="title"/>
          </p:nvPr>
        </p:nvSpPr>
        <p:spPr/>
        <p:txBody>
          <a:bodyPr anchor="ctr"/>
          <a:lstStyle/>
          <a:p>
            <a:r>
              <a:rPr lang="en-US" dirty="0"/>
              <a:t>Data Collection Methods</a:t>
            </a:r>
            <a:endParaRPr lang="en-IN" dirty="0"/>
          </a:p>
        </p:txBody>
      </p:sp>
      <p:sp>
        <p:nvSpPr>
          <p:cNvPr id="3" name="Content Placeholder 2">
            <a:extLst>
              <a:ext uri="{FF2B5EF4-FFF2-40B4-BE49-F238E27FC236}">
                <a16:creationId xmlns:a16="http://schemas.microsoft.com/office/drawing/2014/main" id="{1E33352E-0F79-2BA6-56CC-054CB6C3FF38}"/>
              </a:ext>
            </a:extLst>
          </p:cNvPr>
          <p:cNvSpPr>
            <a:spLocks noGrp="1"/>
          </p:cNvSpPr>
          <p:nvPr>
            <p:ph idx="1"/>
          </p:nvPr>
        </p:nvSpPr>
        <p:spPr>
          <a:xfrm>
            <a:off x="1097280" y="2616200"/>
            <a:ext cx="10058400" cy="3418840"/>
          </a:xfrm>
        </p:spPr>
        <p:txBody>
          <a:bodyPr>
            <a:normAutofit/>
          </a:bodyPr>
          <a:lstStyle/>
          <a:p>
            <a:pPr marL="201168" lvl="1" indent="0">
              <a:buNone/>
            </a:pPr>
            <a:r>
              <a:rPr lang="en-US" sz="2000" dirty="0"/>
              <a:t>It is the process of collecting original, first-hand data directly from sources using methods like surveys, interviews, sensors, or user inputs. This data is specific, accurate, and collected for a particular purpose or problem in the organization. IT tools and systems help in efficiently gathering, storing, and analyzing this real-time data for decision-making.</a:t>
            </a:r>
          </a:p>
          <a:p>
            <a:pPr marL="658368" lvl="1" indent="-457200">
              <a:buFont typeface="+mj-lt"/>
              <a:buAutoNum type="arabicPeriod"/>
            </a:pPr>
            <a:r>
              <a:rPr lang="en-US" sz="2000" dirty="0"/>
              <a:t>Data collected from existing sources</a:t>
            </a:r>
          </a:p>
          <a:p>
            <a:pPr marL="658368" lvl="1" indent="-457200">
              <a:buFont typeface="+mj-lt"/>
              <a:buAutoNum type="arabicPeriod"/>
            </a:pPr>
            <a:r>
              <a:rPr lang="en-US" sz="2000" dirty="0"/>
              <a:t>Examples: reports, websites, databases</a:t>
            </a:r>
          </a:p>
          <a:p>
            <a:pPr marL="658368" lvl="1" indent="-457200">
              <a:buFont typeface="+mj-lt"/>
              <a:buAutoNum type="arabicPeriod"/>
            </a:pPr>
            <a:r>
              <a:rPr lang="en-US" sz="2000" dirty="0"/>
              <a:t>Cost-effective and faster but may be less specific</a:t>
            </a:r>
            <a:endParaRPr lang="en-IN" sz="2000" dirty="0"/>
          </a:p>
        </p:txBody>
      </p:sp>
      <p:sp>
        <p:nvSpPr>
          <p:cNvPr id="4" name="Title 1">
            <a:extLst>
              <a:ext uri="{FF2B5EF4-FFF2-40B4-BE49-F238E27FC236}">
                <a16:creationId xmlns:a16="http://schemas.microsoft.com/office/drawing/2014/main" id="{73BE3D39-F6F3-5B85-F424-53DDFA5B26CD}"/>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Primary Data Collection</a:t>
            </a:r>
            <a:endParaRPr lang="en-IN" sz="4000" dirty="0"/>
          </a:p>
        </p:txBody>
      </p:sp>
    </p:spTree>
    <p:extLst>
      <p:ext uri="{BB962C8B-B14F-4D97-AF65-F5344CB8AC3E}">
        <p14:creationId xmlns:p14="http://schemas.microsoft.com/office/powerpoint/2010/main" val="689189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590E-5599-5FB5-8A2A-7A1059E83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FF2EE-E917-D816-F141-E88DAE6F5FD7}"/>
              </a:ext>
            </a:extLst>
          </p:cNvPr>
          <p:cNvSpPr>
            <a:spLocks noGrp="1"/>
          </p:cNvSpPr>
          <p:nvPr>
            <p:ph type="title"/>
          </p:nvPr>
        </p:nvSpPr>
        <p:spPr/>
        <p:txBody>
          <a:bodyPr anchor="ctr"/>
          <a:lstStyle/>
          <a:p>
            <a:r>
              <a:rPr lang="en-US" dirty="0"/>
              <a:t>Data Collection Methods</a:t>
            </a:r>
            <a:endParaRPr lang="en-IN" dirty="0"/>
          </a:p>
        </p:txBody>
      </p:sp>
      <p:sp>
        <p:nvSpPr>
          <p:cNvPr id="3" name="Content Placeholder 2">
            <a:extLst>
              <a:ext uri="{FF2B5EF4-FFF2-40B4-BE49-F238E27FC236}">
                <a16:creationId xmlns:a16="http://schemas.microsoft.com/office/drawing/2014/main" id="{989AD9B0-C5F8-B294-EE17-09AB09D56878}"/>
              </a:ext>
            </a:extLst>
          </p:cNvPr>
          <p:cNvSpPr>
            <a:spLocks noGrp="1"/>
          </p:cNvSpPr>
          <p:nvPr>
            <p:ph idx="1"/>
          </p:nvPr>
        </p:nvSpPr>
        <p:spPr>
          <a:xfrm>
            <a:off x="1097280" y="2616200"/>
            <a:ext cx="10058400" cy="3418840"/>
          </a:xfrm>
        </p:spPr>
        <p:txBody>
          <a:bodyPr>
            <a:normAutofit/>
          </a:bodyPr>
          <a:lstStyle/>
          <a:p>
            <a:pPr marL="658368" lvl="1" indent="-457200">
              <a:buFont typeface="+mj-lt"/>
              <a:buAutoNum type="arabicPeriod"/>
            </a:pPr>
            <a:r>
              <a:rPr lang="en-IN" sz="2000" b="1" dirty="0"/>
              <a:t>Databases</a:t>
            </a:r>
          </a:p>
          <a:p>
            <a:pPr lvl="3"/>
            <a:r>
              <a:rPr lang="en-US" sz="2000" dirty="0"/>
              <a:t>Databases store already collected structured data in an organized manner (tables, rows, columns), making it easy to access and manage. They are widely used for fast and efficient data retrieval, analysis, and reporting in business operations Allow systems to exchange data</a:t>
            </a:r>
            <a:endParaRPr lang="en-IN" sz="2000" dirty="0"/>
          </a:p>
          <a:p>
            <a:pPr marL="658368" lvl="1" indent="-457200">
              <a:buFont typeface="+mj-lt"/>
              <a:buAutoNum type="arabicPeriod" startAt="2"/>
            </a:pPr>
            <a:r>
              <a:rPr lang="en-IN" sz="2000" b="1" dirty="0"/>
              <a:t>APIs (Application Programming Interfaces)</a:t>
            </a:r>
          </a:p>
          <a:p>
            <a:pPr lvl="3"/>
            <a:r>
              <a:rPr lang="en-US" sz="2000" dirty="0"/>
              <a:t>APIs allow different software systems to communicate and exchange data automatically without manual effort. They are used to fetch real-time or existing data from external platforms like websites, apps, or cloud services for integration and analysis.</a:t>
            </a:r>
            <a:endParaRPr lang="en-IN" sz="2000" dirty="0"/>
          </a:p>
        </p:txBody>
      </p:sp>
      <p:sp>
        <p:nvSpPr>
          <p:cNvPr id="4" name="Title 1">
            <a:extLst>
              <a:ext uri="{FF2B5EF4-FFF2-40B4-BE49-F238E27FC236}">
                <a16:creationId xmlns:a16="http://schemas.microsoft.com/office/drawing/2014/main" id="{044B56AB-368D-1162-D2F5-8A71523E18E2}"/>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Secondary Data Collection</a:t>
            </a:r>
            <a:endParaRPr lang="en-IN" sz="4000" dirty="0"/>
          </a:p>
        </p:txBody>
      </p:sp>
    </p:spTree>
    <p:extLst>
      <p:ext uri="{BB962C8B-B14F-4D97-AF65-F5344CB8AC3E}">
        <p14:creationId xmlns:p14="http://schemas.microsoft.com/office/powerpoint/2010/main" val="202183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918D-2563-7BF1-D09C-202ACC543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4762A-BF59-B709-49D2-F4ABB7849054}"/>
              </a:ext>
            </a:extLst>
          </p:cNvPr>
          <p:cNvSpPr>
            <a:spLocks noGrp="1"/>
          </p:cNvSpPr>
          <p:nvPr>
            <p:ph type="title"/>
          </p:nvPr>
        </p:nvSpPr>
        <p:spPr/>
        <p:txBody>
          <a:bodyPr anchor="ctr"/>
          <a:lstStyle/>
          <a:p>
            <a:r>
              <a:rPr lang="en-US" dirty="0"/>
              <a:t>Data Lifecycle Management</a:t>
            </a:r>
            <a:endParaRPr lang="en-IN" dirty="0"/>
          </a:p>
        </p:txBody>
      </p:sp>
      <p:sp>
        <p:nvSpPr>
          <p:cNvPr id="3" name="Content Placeholder 2">
            <a:extLst>
              <a:ext uri="{FF2B5EF4-FFF2-40B4-BE49-F238E27FC236}">
                <a16:creationId xmlns:a16="http://schemas.microsoft.com/office/drawing/2014/main" id="{33A51D52-AA7A-FD43-965E-91884ADF7C30}"/>
              </a:ext>
            </a:extLst>
          </p:cNvPr>
          <p:cNvSpPr>
            <a:spLocks noGrp="1"/>
          </p:cNvSpPr>
          <p:nvPr>
            <p:ph idx="1"/>
          </p:nvPr>
        </p:nvSpPr>
        <p:spPr>
          <a:xfrm>
            <a:off x="1097280" y="2616200"/>
            <a:ext cx="10058400" cy="3418840"/>
          </a:xfrm>
        </p:spPr>
        <p:txBody>
          <a:bodyPr>
            <a:normAutofit/>
          </a:bodyPr>
          <a:lstStyle/>
          <a:p>
            <a:pPr marL="201168" lvl="1" indent="0">
              <a:buNone/>
            </a:pPr>
            <a:r>
              <a:rPr lang="en-US" sz="2000" dirty="0"/>
              <a:t>Data is generated from sources like user inputs, transactions, sensors, or applications and then securely stored in databases, data warehouses, or cloud systems. Proper storage ensures data is organized, protected, and easily accessible for future processing, analysis, and decision-making.</a:t>
            </a:r>
          </a:p>
          <a:p>
            <a:pPr marL="658368" lvl="1" indent="-457200">
              <a:buFont typeface="+mj-lt"/>
              <a:buAutoNum type="arabicPeriod"/>
            </a:pPr>
            <a:r>
              <a:rPr lang="en-US" sz="2000" dirty="0"/>
              <a:t>Creation: Data generated from systems, users, or devices</a:t>
            </a:r>
          </a:p>
          <a:p>
            <a:pPr marL="658368" lvl="1" indent="-457200">
              <a:buFont typeface="+mj-lt"/>
              <a:buAutoNum type="arabicPeriod"/>
            </a:pPr>
            <a:r>
              <a:rPr lang="en-US" sz="2000" dirty="0"/>
              <a:t>Storage: Saved in databases, cloud, or data warehouses</a:t>
            </a:r>
          </a:p>
          <a:p>
            <a:pPr marL="658368" lvl="1" indent="-457200">
              <a:buFont typeface="+mj-lt"/>
              <a:buAutoNum type="arabicPeriod"/>
            </a:pPr>
            <a:r>
              <a:rPr lang="en-US" sz="2000" dirty="0"/>
              <a:t>Ensures data availability and security</a:t>
            </a:r>
            <a:endParaRPr lang="en-IN" sz="2000" dirty="0"/>
          </a:p>
        </p:txBody>
      </p:sp>
      <p:sp>
        <p:nvSpPr>
          <p:cNvPr id="4" name="Title 1">
            <a:extLst>
              <a:ext uri="{FF2B5EF4-FFF2-40B4-BE49-F238E27FC236}">
                <a16:creationId xmlns:a16="http://schemas.microsoft.com/office/drawing/2014/main" id="{E73BB531-AB8A-2BC3-6792-A41FAB4C1E03}"/>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Data Creation &amp; Storage</a:t>
            </a:r>
            <a:endParaRPr lang="en-IN" sz="4000" dirty="0"/>
          </a:p>
        </p:txBody>
      </p:sp>
    </p:spTree>
    <p:extLst>
      <p:ext uri="{BB962C8B-B14F-4D97-AF65-F5344CB8AC3E}">
        <p14:creationId xmlns:p14="http://schemas.microsoft.com/office/powerpoint/2010/main" val="188025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3354E-52E2-C577-7D03-46CC2CED5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C119A-6753-6775-1D2B-CE9997F31FE3}"/>
              </a:ext>
            </a:extLst>
          </p:cNvPr>
          <p:cNvSpPr>
            <a:spLocks noGrp="1"/>
          </p:cNvSpPr>
          <p:nvPr>
            <p:ph type="title"/>
          </p:nvPr>
        </p:nvSpPr>
        <p:spPr/>
        <p:txBody>
          <a:bodyPr anchor="ctr"/>
          <a:lstStyle/>
          <a:p>
            <a:r>
              <a:rPr lang="en-US" dirty="0"/>
              <a:t>Data Lifecycle Management</a:t>
            </a:r>
            <a:endParaRPr lang="en-IN" dirty="0"/>
          </a:p>
        </p:txBody>
      </p:sp>
      <p:sp>
        <p:nvSpPr>
          <p:cNvPr id="3" name="Content Placeholder 2">
            <a:extLst>
              <a:ext uri="{FF2B5EF4-FFF2-40B4-BE49-F238E27FC236}">
                <a16:creationId xmlns:a16="http://schemas.microsoft.com/office/drawing/2014/main" id="{9A4ADA29-F64A-3B83-1342-2378DF92964D}"/>
              </a:ext>
            </a:extLst>
          </p:cNvPr>
          <p:cNvSpPr>
            <a:spLocks noGrp="1"/>
          </p:cNvSpPr>
          <p:nvPr>
            <p:ph idx="1"/>
          </p:nvPr>
        </p:nvSpPr>
        <p:spPr>
          <a:xfrm>
            <a:off x="1097280" y="2616200"/>
            <a:ext cx="10058400" cy="3418840"/>
          </a:xfrm>
        </p:spPr>
        <p:txBody>
          <a:bodyPr>
            <a:normAutofit/>
          </a:bodyPr>
          <a:lstStyle/>
          <a:p>
            <a:pPr marL="201168" lvl="1" indent="0">
              <a:buNone/>
            </a:pPr>
            <a:r>
              <a:rPr lang="en-US" sz="2000" dirty="0"/>
              <a:t>Data is actively used for analysis, reporting, and decision-making to support business operations and strategies. After its active use, it is archived for long-term storage and compliance, and eventually deleted when no longer needed to save space and maintain data security.</a:t>
            </a:r>
          </a:p>
          <a:p>
            <a:pPr marL="658368" lvl="1" indent="-457200">
              <a:buFont typeface="+mj-lt"/>
              <a:buAutoNum type="arabicPeriod"/>
            </a:pPr>
            <a:r>
              <a:rPr lang="en-US" sz="2000" dirty="0"/>
              <a:t>Usage: Data analyzed for decision-making</a:t>
            </a:r>
          </a:p>
          <a:p>
            <a:pPr marL="658368" lvl="1" indent="-457200">
              <a:buFont typeface="+mj-lt"/>
              <a:buAutoNum type="arabicPeriod"/>
            </a:pPr>
            <a:r>
              <a:rPr lang="en-US" sz="2000" dirty="0"/>
              <a:t>Archiving: Old data stored for future reference</a:t>
            </a:r>
          </a:p>
          <a:p>
            <a:pPr marL="658368" lvl="1" indent="-457200">
              <a:buFont typeface="+mj-lt"/>
              <a:buAutoNum type="arabicPeriod"/>
            </a:pPr>
            <a:r>
              <a:rPr lang="en-US" sz="2000" dirty="0"/>
              <a:t>Deletion: Removing unnecessary or outdated data</a:t>
            </a:r>
          </a:p>
          <a:p>
            <a:pPr marL="658368" lvl="1" indent="-457200">
              <a:buFont typeface="+mj-lt"/>
              <a:buAutoNum type="arabicPeriod"/>
            </a:pPr>
            <a:r>
              <a:rPr lang="en-US" sz="2000" dirty="0"/>
              <a:t>Maintains efficiency and compliance</a:t>
            </a:r>
            <a:endParaRPr lang="en-IN" sz="2000" dirty="0"/>
          </a:p>
        </p:txBody>
      </p:sp>
      <p:sp>
        <p:nvSpPr>
          <p:cNvPr id="4" name="Title 1">
            <a:extLst>
              <a:ext uri="{FF2B5EF4-FFF2-40B4-BE49-F238E27FC236}">
                <a16:creationId xmlns:a16="http://schemas.microsoft.com/office/drawing/2014/main" id="{63977B59-352C-7950-6CD3-3361008CCF7B}"/>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Usage, Archiving &amp; Deletion</a:t>
            </a:r>
            <a:endParaRPr lang="en-IN" sz="4000" dirty="0"/>
          </a:p>
        </p:txBody>
      </p:sp>
    </p:spTree>
    <p:extLst>
      <p:ext uri="{BB962C8B-B14F-4D97-AF65-F5344CB8AC3E}">
        <p14:creationId xmlns:p14="http://schemas.microsoft.com/office/powerpoint/2010/main" val="2080864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92134-340C-B7CC-BF64-DA206DC33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6BF54-3DC1-81F6-ED81-94C8B7CB170B}"/>
              </a:ext>
            </a:extLst>
          </p:cNvPr>
          <p:cNvSpPr>
            <a:spLocks noGrp="1"/>
          </p:cNvSpPr>
          <p:nvPr>
            <p:ph type="title"/>
          </p:nvPr>
        </p:nvSpPr>
        <p:spPr/>
        <p:txBody>
          <a:bodyPr anchor="ctr"/>
          <a:lstStyle/>
          <a:p>
            <a:r>
              <a:rPr lang="en-US" dirty="0"/>
              <a:t>Data Quality and Integrity</a:t>
            </a:r>
            <a:endParaRPr lang="en-IN" dirty="0"/>
          </a:p>
        </p:txBody>
      </p:sp>
      <p:sp>
        <p:nvSpPr>
          <p:cNvPr id="3" name="Content Placeholder 2">
            <a:extLst>
              <a:ext uri="{FF2B5EF4-FFF2-40B4-BE49-F238E27FC236}">
                <a16:creationId xmlns:a16="http://schemas.microsoft.com/office/drawing/2014/main" id="{9157620A-E1A0-99DF-0045-E84F7D00DB45}"/>
              </a:ext>
            </a:extLst>
          </p:cNvPr>
          <p:cNvSpPr>
            <a:spLocks noGrp="1"/>
          </p:cNvSpPr>
          <p:nvPr>
            <p:ph idx="1"/>
          </p:nvPr>
        </p:nvSpPr>
        <p:spPr>
          <a:xfrm>
            <a:off x="1097280" y="2616200"/>
            <a:ext cx="10058400" cy="3418840"/>
          </a:xfrm>
        </p:spPr>
        <p:txBody>
          <a:bodyPr>
            <a:normAutofit/>
          </a:bodyPr>
          <a:lstStyle/>
          <a:p>
            <a:pPr marL="658368" lvl="1" indent="-457200">
              <a:buFont typeface="+mj-lt"/>
              <a:buAutoNum type="arabicPeriod"/>
            </a:pPr>
            <a:r>
              <a:rPr lang="en-US" sz="2000" dirty="0"/>
              <a:t>Refers to accuracy, completeness, and consistency of data</a:t>
            </a:r>
          </a:p>
          <a:p>
            <a:pPr marL="658368" lvl="1" indent="-457200">
              <a:buFont typeface="+mj-lt"/>
              <a:buAutoNum type="arabicPeriod"/>
            </a:pPr>
            <a:r>
              <a:rPr lang="en-US" sz="2000" dirty="0"/>
              <a:t>High-quality data leads to better decisions</a:t>
            </a:r>
          </a:p>
          <a:p>
            <a:pPr marL="658368" lvl="1" indent="-457200">
              <a:buFont typeface="+mj-lt"/>
              <a:buAutoNum type="arabicPeriod"/>
            </a:pPr>
            <a:r>
              <a:rPr lang="en-US" sz="2000" dirty="0"/>
              <a:t>Poor quality causes errors and inefficiency</a:t>
            </a:r>
            <a:endParaRPr lang="en-IN" sz="2000" dirty="0"/>
          </a:p>
        </p:txBody>
      </p:sp>
      <p:sp>
        <p:nvSpPr>
          <p:cNvPr id="4" name="Title 1">
            <a:extLst>
              <a:ext uri="{FF2B5EF4-FFF2-40B4-BE49-F238E27FC236}">
                <a16:creationId xmlns:a16="http://schemas.microsoft.com/office/drawing/2014/main" id="{CC087AD4-B2D6-AE6D-AE1A-C4E05148B640}"/>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Data Quality</a:t>
            </a:r>
            <a:endParaRPr lang="en-IN" sz="4000" dirty="0"/>
          </a:p>
        </p:txBody>
      </p:sp>
      <p:sp>
        <p:nvSpPr>
          <p:cNvPr id="5" name="Title 1">
            <a:extLst>
              <a:ext uri="{FF2B5EF4-FFF2-40B4-BE49-F238E27FC236}">
                <a16:creationId xmlns:a16="http://schemas.microsoft.com/office/drawing/2014/main" id="{079BC1F5-0C32-DE1D-00EA-4EBA6839C378}"/>
              </a:ext>
            </a:extLst>
          </p:cNvPr>
          <p:cNvSpPr txBox="1">
            <a:spLocks/>
          </p:cNvSpPr>
          <p:nvPr/>
        </p:nvSpPr>
        <p:spPr>
          <a:xfrm>
            <a:off x="1097280" y="3935521"/>
            <a:ext cx="10058400" cy="780197"/>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Data Integrity</a:t>
            </a:r>
            <a:endParaRPr lang="en-IN" sz="4000" dirty="0"/>
          </a:p>
        </p:txBody>
      </p:sp>
      <p:sp>
        <p:nvSpPr>
          <p:cNvPr id="6" name="Content Placeholder 2">
            <a:extLst>
              <a:ext uri="{FF2B5EF4-FFF2-40B4-BE49-F238E27FC236}">
                <a16:creationId xmlns:a16="http://schemas.microsoft.com/office/drawing/2014/main" id="{668CCE99-D77F-373A-6FF8-6B700463F3AF}"/>
              </a:ext>
            </a:extLst>
          </p:cNvPr>
          <p:cNvSpPr txBox="1">
            <a:spLocks/>
          </p:cNvSpPr>
          <p:nvPr/>
        </p:nvSpPr>
        <p:spPr>
          <a:xfrm>
            <a:off x="1097280" y="4715718"/>
            <a:ext cx="10058400" cy="1593641"/>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658368" lvl="1" indent="-457200">
              <a:buFont typeface="+mj-lt"/>
              <a:buAutoNum type="arabicPeriod"/>
            </a:pPr>
            <a:r>
              <a:rPr lang="en-US" sz="2000" dirty="0"/>
              <a:t>Ensures data is reliable and unchanged during lifecycle</a:t>
            </a:r>
          </a:p>
          <a:p>
            <a:pPr marL="658368" lvl="1" indent="-457200">
              <a:buFont typeface="+mj-lt"/>
              <a:buAutoNum type="arabicPeriod"/>
            </a:pPr>
            <a:r>
              <a:rPr lang="en-US" sz="2000" dirty="0"/>
              <a:t>Maintains correctness and trustworthiness</a:t>
            </a:r>
          </a:p>
          <a:p>
            <a:pPr marL="658368" lvl="1" indent="-457200">
              <a:buFont typeface="+mj-lt"/>
              <a:buAutoNum type="arabicPeriod"/>
            </a:pPr>
            <a:r>
              <a:rPr lang="en-US" sz="2000" dirty="0"/>
              <a:t>Achieved through validation, security, and controls</a:t>
            </a:r>
            <a:endParaRPr lang="en-IN" sz="2000" dirty="0"/>
          </a:p>
        </p:txBody>
      </p:sp>
    </p:spTree>
    <p:extLst>
      <p:ext uri="{BB962C8B-B14F-4D97-AF65-F5344CB8AC3E}">
        <p14:creationId xmlns:p14="http://schemas.microsoft.com/office/powerpoint/2010/main" val="3146058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7EA86-681E-E7DE-0667-51CBF02A1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31FEF-7489-23B4-CBE3-BC2F02F712D9}"/>
              </a:ext>
            </a:extLst>
          </p:cNvPr>
          <p:cNvSpPr>
            <a:spLocks noGrp="1"/>
          </p:cNvSpPr>
          <p:nvPr>
            <p:ph type="title"/>
          </p:nvPr>
        </p:nvSpPr>
        <p:spPr/>
        <p:txBody>
          <a:bodyPr anchor="ctr"/>
          <a:lstStyle/>
          <a:p>
            <a:r>
              <a:rPr lang="en-US" b="1" dirty="0"/>
              <a:t>Introduction to Business Analyst Role</a:t>
            </a:r>
            <a:endParaRPr lang="en-IN" b="1" dirty="0"/>
          </a:p>
        </p:txBody>
      </p:sp>
      <p:sp>
        <p:nvSpPr>
          <p:cNvPr id="3" name="Content Placeholder 2">
            <a:extLst>
              <a:ext uri="{FF2B5EF4-FFF2-40B4-BE49-F238E27FC236}">
                <a16:creationId xmlns:a16="http://schemas.microsoft.com/office/drawing/2014/main" id="{752B2894-4763-576A-7A62-026AC3B258F0}"/>
              </a:ext>
            </a:extLst>
          </p:cNvPr>
          <p:cNvSpPr>
            <a:spLocks noGrp="1"/>
          </p:cNvSpPr>
          <p:nvPr>
            <p:ph idx="1"/>
          </p:nvPr>
        </p:nvSpPr>
        <p:spPr>
          <a:xfrm>
            <a:off x="1097280" y="2103120"/>
            <a:ext cx="10058400" cy="3765974"/>
          </a:xfrm>
        </p:spPr>
        <p:txBody>
          <a:bodyPr>
            <a:normAutofit/>
          </a:bodyPr>
          <a:lstStyle/>
          <a:p>
            <a:pPr marL="457200" indent="-457200">
              <a:buFont typeface="+mj-lt"/>
              <a:buAutoNum type="arabicPeriod"/>
            </a:pPr>
            <a:r>
              <a:rPr lang="en-US" dirty="0"/>
              <a:t>A Business Analyst (BA) bridges the gap between business and IT</a:t>
            </a:r>
          </a:p>
          <a:p>
            <a:pPr marL="457200" indent="-457200">
              <a:buFont typeface="+mj-lt"/>
              <a:buAutoNum type="arabicPeriod"/>
            </a:pPr>
            <a:r>
              <a:rPr lang="en-US" dirty="0"/>
              <a:t>Identifies business needs and provides data-driven solutions</a:t>
            </a:r>
          </a:p>
          <a:p>
            <a:pPr marL="457200" indent="-457200">
              <a:buFont typeface="+mj-lt"/>
              <a:buAutoNum type="arabicPeriod"/>
            </a:pPr>
            <a:r>
              <a:rPr lang="en-US" dirty="0"/>
              <a:t>Helps improve processes, systems, and decision-making</a:t>
            </a:r>
          </a:p>
          <a:p>
            <a:pPr marL="457200" indent="-457200">
              <a:buFont typeface="+mj-lt"/>
              <a:buAutoNum type="arabicPeriod"/>
            </a:pPr>
            <a:r>
              <a:rPr lang="en-US" dirty="0"/>
              <a:t>Works with stakeholders across departments</a:t>
            </a:r>
          </a:p>
          <a:p>
            <a:pPr marL="457200" indent="-457200">
              <a:buFont typeface="+mj-lt"/>
              <a:buAutoNum type="arabicPeriod"/>
            </a:pPr>
            <a:r>
              <a:rPr lang="en-US" dirty="0"/>
              <a:t>Ensures business goals align with technical solutions</a:t>
            </a:r>
            <a:endParaRPr lang="en-IN" dirty="0"/>
          </a:p>
        </p:txBody>
      </p:sp>
    </p:spTree>
    <p:extLst>
      <p:ext uri="{BB962C8B-B14F-4D97-AF65-F5344CB8AC3E}">
        <p14:creationId xmlns:p14="http://schemas.microsoft.com/office/powerpoint/2010/main" val="3125541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61379-B051-46CC-8B41-82075D7CF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5A381-812F-18C1-DEA5-AB9905EAE739}"/>
              </a:ext>
            </a:extLst>
          </p:cNvPr>
          <p:cNvSpPr>
            <a:spLocks noGrp="1"/>
          </p:cNvSpPr>
          <p:nvPr>
            <p:ph type="title"/>
          </p:nvPr>
        </p:nvSpPr>
        <p:spPr/>
        <p:txBody>
          <a:bodyPr anchor="ctr"/>
          <a:lstStyle/>
          <a:p>
            <a:r>
              <a:rPr lang="en-US" dirty="0"/>
              <a:t>Definition and Responsibilities of a Business Analyst</a:t>
            </a:r>
          </a:p>
        </p:txBody>
      </p:sp>
      <p:sp>
        <p:nvSpPr>
          <p:cNvPr id="3" name="Content Placeholder 2">
            <a:extLst>
              <a:ext uri="{FF2B5EF4-FFF2-40B4-BE49-F238E27FC236}">
                <a16:creationId xmlns:a16="http://schemas.microsoft.com/office/drawing/2014/main" id="{209B0EBF-B518-DA0B-7799-76199F1A3A5C}"/>
              </a:ext>
            </a:extLst>
          </p:cNvPr>
          <p:cNvSpPr>
            <a:spLocks noGrp="1"/>
          </p:cNvSpPr>
          <p:nvPr>
            <p:ph idx="1"/>
          </p:nvPr>
        </p:nvSpPr>
        <p:spPr>
          <a:xfrm>
            <a:off x="1097280" y="2616200"/>
            <a:ext cx="10058400" cy="3418840"/>
          </a:xfrm>
        </p:spPr>
        <p:txBody>
          <a:bodyPr>
            <a:normAutofit/>
          </a:bodyPr>
          <a:lstStyle/>
          <a:p>
            <a:pPr marL="201168" lvl="1" indent="0">
              <a:buNone/>
            </a:pPr>
            <a:r>
              <a:rPr lang="en-US" sz="2000" dirty="0"/>
              <a:t>A Business Analyst (BA) is a professional who understands business needs and translates them into technical solutions. They act as a bridge between stakeholders and IT teams, ensuring that solutions meet business goals.</a:t>
            </a:r>
          </a:p>
          <a:p>
            <a:pPr marL="658368" lvl="1" indent="-457200">
              <a:buFont typeface="+mj-lt"/>
              <a:buAutoNum type="arabicPeriod"/>
            </a:pPr>
            <a:r>
              <a:rPr lang="en-US" sz="2000" dirty="0"/>
              <a:t>A professional who analyzes business problems and opportunities</a:t>
            </a:r>
          </a:p>
          <a:p>
            <a:pPr marL="658368" lvl="1" indent="-457200">
              <a:buFont typeface="+mj-lt"/>
              <a:buAutoNum type="arabicPeriod"/>
            </a:pPr>
            <a:r>
              <a:rPr lang="en-US" sz="2000" dirty="0"/>
              <a:t>Acts as a link between business stakeholders and technical teams</a:t>
            </a:r>
          </a:p>
          <a:p>
            <a:pPr marL="658368" lvl="1" indent="-457200">
              <a:buFont typeface="+mj-lt"/>
              <a:buAutoNum type="arabicPeriod"/>
            </a:pPr>
            <a:r>
              <a:rPr lang="en-US" sz="2000" dirty="0"/>
              <a:t>Focuses on improving processes, products, and services</a:t>
            </a:r>
          </a:p>
          <a:p>
            <a:pPr marL="658368" lvl="1" indent="-457200">
              <a:buFont typeface="+mj-lt"/>
              <a:buAutoNum type="arabicPeriod"/>
            </a:pPr>
            <a:r>
              <a:rPr lang="en-US" sz="2000" dirty="0"/>
              <a:t>Uses data analysis and requirement gathering to support decisions</a:t>
            </a:r>
            <a:endParaRPr lang="en-IN" sz="2000" dirty="0"/>
          </a:p>
        </p:txBody>
      </p:sp>
      <p:sp>
        <p:nvSpPr>
          <p:cNvPr id="4" name="Title 1">
            <a:extLst>
              <a:ext uri="{FF2B5EF4-FFF2-40B4-BE49-F238E27FC236}">
                <a16:creationId xmlns:a16="http://schemas.microsoft.com/office/drawing/2014/main" id="{23FE761F-2610-2603-C031-3C72F69B1297}"/>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Definition of Business Analyst</a:t>
            </a:r>
            <a:endParaRPr lang="en-IN" sz="4000" dirty="0"/>
          </a:p>
        </p:txBody>
      </p:sp>
    </p:spTree>
    <p:extLst>
      <p:ext uri="{BB962C8B-B14F-4D97-AF65-F5344CB8AC3E}">
        <p14:creationId xmlns:p14="http://schemas.microsoft.com/office/powerpoint/2010/main" val="1503899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FB1DA-82B9-2124-F08B-100AB957D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9754B-83F8-D61D-40B2-1683C88C23FA}"/>
              </a:ext>
            </a:extLst>
          </p:cNvPr>
          <p:cNvSpPr>
            <a:spLocks noGrp="1"/>
          </p:cNvSpPr>
          <p:nvPr>
            <p:ph type="title"/>
          </p:nvPr>
        </p:nvSpPr>
        <p:spPr/>
        <p:txBody>
          <a:bodyPr anchor="ctr"/>
          <a:lstStyle/>
          <a:p>
            <a:r>
              <a:rPr lang="en-US" dirty="0"/>
              <a:t>Definition and Responsibilities of a Business Analyst</a:t>
            </a:r>
          </a:p>
        </p:txBody>
      </p:sp>
      <p:sp>
        <p:nvSpPr>
          <p:cNvPr id="3" name="Content Placeholder 2">
            <a:extLst>
              <a:ext uri="{FF2B5EF4-FFF2-40B4-BE49-F238E27FC236}">
                <a16:creationId xmlns:a16="http://schemas.microsoft.com/office/drawing/2014/main" id="{B18827AC-1CAB-54EC-5FE1-359ED9264A34}"/>
              </a:ext>
            </a:extLst>
          </p:cNvPr>
          <p:cNvSpPr>
            <a:spLocks noGrp="1"/>
          </p:cNvSpPr>
          <p:nvPr>
            <p:ph idx="1"/>
          </p:nvPr>
        </p:nvSpPr>
        <p:spPr>
          <a:xfrm>
            <a:off x="1097280" y="2616200"/>
            <a:ext cx="10058400" cy="3418840"/>
          </a:xfrm>
        </p:spPr>
        <p:txBody>
          <a:bodyPr>
            <a:normAutofit/>
          </a:bodyPr>
          <a:lstStyle/>
          <a:p>
            <a:pPr marL="658368" lvl="1" indent="-457200">
              <a:buFont typeface="+mj-lt"/>
              <a:buAutoNum type="arabicPeriod"/>
            </a:pPr>
            <a:r>
              <a:rPr lang="en-US" sz="2000" dirty="0"/>
              <a:t>Gather and document business requirements</a:t>
            </a:r>
          </a:p>
          <a:p>
            <a:pPr marL="658368" lvl="1" indent="-457200">
              <a:buFont typeface="+mj-lt"/>
              <a:buAutoNum type="arabicPeriod"/>
            </a:pPr>
            <a:r>
              <a:rPr lang="en-US" sz="2000" dirty="0"/>
              <a:t>Analyze processes and identify improvements</a:t>
            </a:r>
          </a:p>
          <a:p>
            <a:pPr marL="658368" lvl="1" indent="-457200">
              <a:buFont typeface="+mj-lt"/>
              <a:buAutoNum type="arabicPeriod"/>
            </a:pPr>
            <a:r>
              <a:rPr lang="en-US" sz="2000" dirty="0"/>
              <a:t>Communicate between stakeholders and developers</a:t>
            </a:r>
          </a:p>
          <a:p>
            <a:pPr marL="658368" lvl="1" indent="-457200">
              <a:buFont typeface="+mj-lt"/>
              <a:buAutoNum type="arabicPeriod"/>
            </a:pPr>
            <a:r>
              <a:rPr lang="en-US" sz="2000" dirty="0"/>
              <a:t>Support testing and implementation of solutions</a:t>
            </a:r>
          </a:p>
          <a:p>
            <a:pPr marL="658368" lvl="1" indent="-457200">
              <a:buFont typeface="+mj-lt"/>
              <a:buAutoNum type="arabicPeriod"/>
            </a:pPr>
            <a:r>
              <a:rPr lang="en-US" sz="2000" dirty="0"/>
              <a:t>Ensure solutions meet business objectives</a:t>
            </a:r>
            <a:endParaRPr lang="en-IN" sz="2000" dirty="0"/>
          </a:p>
        </p:txBody>
      </p:sp>
      <p:sp>
        <p:nvSpPr>
          <p:cNvPr id="4" name="Title 1">
            <a:extLst>
              <a:ext uri="{FF2B5EF4-FFF2-40B4-BE49-F238E27FC236}">
                <a16:creationId xmlns:a16="http://schemas.microsoft.com/office/drawing/2014/main" id="{F0032BA7-2E7A-E3F3-35C3-BA85721D853D}"/>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Key Responsibilities</a:t>
            </a:r>
            <a:endParaRPr lang="en-IN" sz="4000" dirty="0"/>
          </a:p>
        </p:txBody>
      </p:sp>
    </p:spTree>
    <p:extLst>
      <p:ext uri="{BB962C8B-B14F-4D97-AF65-F5344CB8AC3E}">
        <p14:creationId xmlns:p14="http://schemas.microsoft.com/office/powerpoint/2010/main" val="3782817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057CC-BEA1-75C6-0090-D02C0BEF6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0DA24-9E18-551C-77B9-23A0F40C6A89}"/>
              </a:ext>
            </a:extLst>
          </p:cNvPr>
          <p:cNvSpPr>
            <a:spLocks noGrp="1"/>
          </p:cNvSpPr>
          <p:nvPr>
            <p:ph type="title"/>
          </p:nvPr>
        </p:nvSpPr>
        <p:spPr/>
        <p:txBody>
          <a:bodyPr anchor="ctr"/>
          <a:lstStyle/>
          <a:p>
            <a:r>
              <a:rPr lang="en-US" dirty="0"/>
              <a:t>Key Skills for Business Analysts</a:t>
            </a:r>
          </a:p>
        </p:txBody>
      </p:sp>
      <p:sp>
        <p:nvSpPr>
          <p:cNvPr id="3" name="Content Placeholder 2">
            <a:extLst>
              <a:ext uri="{FF2B5EF4-FFF2-40B4-BE49-F238E27FC236}">
                <a16:creationId xmlns:a16="http://schemas.microsoft.com/office/drawing/2014/main" id="{FACA1835-8006-5319-EB21-0E350DB019C2}"/>
              </a:ext>
            </a:extLst>
          </p:cNvPr>
          <p:cNvSpPr>
            <a:spLocks noGrp="1"/>
          </p:cNvSpPr>
          <p:nvPr>
            <p:ph idx="1"/>
          </p:nvPr>
        </p:nvSpPr>
        <p:spPr>
          <a:xfrm>
            <a:off x="1097280" y="2616200"/>
            <a:ext cx="10058400" cy="3418840"/>
          </a:xfrm>
        </p:spPr>
        <p:txBody>
          <a:bodyPr>
            <a:normAutofit/>
          </a:bodyPr>
          <a:lstStyle/>
          <a:p>
            <a:pPr marL="201168" lvl="1" indent="0">
              <a:buNone/>
            </a:pPr>
            <a:r>
              <a:rPr lang="en-US" sz="2000" dirty="0"/>
              <a:t>These are core skills for a Business Analyst. Communication helps in clearly conveying ideas, while analytical skills help in understanding data and solving problems effectively.</a:t>
            </a:r>
          </a:p>
          <a:p>
            <a:pPr marL="658368" lvl="1" indent="-457200">
              <a:buFont typeface="+mj-lt"/>
              <a:buAutoNum type="arabicPeriod"/>
            </a:pPr>
            <a:r>
              <a:rPr lang="en-US" sz="2000" dirty="0"/>
              <a:t>Strong verbal and written communication</a:t>
            </a:r>
          </a:p>
          <a:p>
            <a:pPr marL="658368" lvl="1" indent="-457200">
              <a:buFont typeface="+mj-lt"/>
              <a:buAutoNum type="arabicPeriod"/>
            </a:pPr>
            <a:r>
              <a:rPr lang="en-US" sz="2000" dirty="0"/>
              <a:t>Ability to explain technical concepts clearly</a:t>
            </a:r>
          </a:p>
          <a:p>
            <a:pPr marL="658368" lvl="1" indent="-457200">
              <a:buFont typeface="+mj-lt"/>
              <a:buAutoNum type="arabicPeriod"/>
            </a:pPr>
            <a:r>
              <a:rPr lang="en-US" sz="2000" dirty="0"/>
              <a:t>Analytical thinking to interpret data and trends</a:t>
            </a:r>
          </a:p>
          <a:p>
            <a:pPr marL="658368" lvl="1" indent="-457200">
              <a:buFont typeface="+mj-lt"/>
              <a:buAutoNum type="arabicPeriod"/>
            </a:pPr>
            <a:r>
              <a:rPr lang="en-US" sz="2000" dirty="0"/>
              <a:t>Active listening to understand stakeholder needs</a:t>
            </a:r>
            <a:endParaRPr lang="en-IN" sz="2000" dirty="0"/>
          </a:p>
        </p:txBody>
      </p:sp>
      <p:sp>
        <p:nvSpPr>
          <p:cNvPr id="4" name="Title 1">
            <a:extLst>
              <a:ext uri="{FF2B5EF4-FFF2-40B4-BE49-F238E27FC236}">
                <a16:creationId xmlns:a16="http://schemas.microsoft.com/office/drawing/2014/main" id="{35F1EE19-70C0-F212-C939-682E630702C0}"/>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Communication &amp; Analytical Skills</a:t>
            </a:r>
            <a:endParaRPr lang="en-IN" sz="4000" dirty="0"/>
          </a:p>
        </p:txBody>
      </p:sp>
      <p:sp>
        <p:nvSpPr>
          <p:cNvPr id="5" name="Content Placeholder 2">
            <a:extLst>
              <a:ext uri="{FF2B5EF4-FFF2-40B4-BE49-F238E27FC236}">
                <a16:creationId xmlns:a16="http://schemas.microsoft.com/office/drawing/2014/main" id="{5F756CBF-F365-5996-8D9C-5BE64EAA5347}"/>
              </a:ext>
            </a:extLst>
          </p:cNvPr>
          <p:cNvSpPr txBox="1">
            <a:spLocks/>
          </p:cNvSpPr>
          <p:nvPr/>
        </p:nvSpPr>
        <p:spPr>
          <a:xfrm>
            <a:off x="1036320" y="5120641"/>
            <a:ext cx="10058400" cy="360680"/>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ctr">
              <a:buNone/>
            </a:pPr>
            <a:r>
              <a:rPr lang="en-IN" sz="2000" b="1" dirty="0"/>
              <a:t>Data → Analysis → Insight → Communication → Decision</a:t>
            </a:r>
          </a:p>
        </p:txBody>
      </p:sp>
    </p:spTree>
    <p:extLst>
      <p:ext uri="{BB962C8B-B14F-4D97-AF65-F5344CB8AC3E}">
        <p14:creationId xmlns:p14="http://schemas.microsoft.com/office/powerpoint/2010/main" val="476192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42EA7-7608-F9E7-5259-F8C113768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78E59-BDD3-680C-8969-FA0BF1C3C3DF}"/>
              </a:ext>
            </a:extLst>
          </p:cNvPr>
          <p:cNvSpPr>
            <a:spLocks noGrp="1"/>
          </p:cNvSpPr>
          <p:nvPr>
            <p:ph type="title"/>
          </p:nvPr>
        </p:nvSpPr>
        <p:spPr/>
        <p:txBody>
          <a:bodyPr anchor="ctr"/>
          <a:lstStyle/>
          <a:p>
            <a:r>
              <a:rPr lang="en-US" dirty="0"/>
              <a:t>Key Skills for Business Analysts</a:t>
            </a:r>
          </a:p>
        </p:txBody>
      </p:sp>
      <p:sp>
        <p:nvSpPr>
          <p:cNvPr id="3" name="Content Placeholder 2">
            <a:extLst>
              <a:ext uri="{FF2B5EF4-FFF2-40B4-BE49-F238E27FC236}">
                <a16:creationId xmlns:a16="http://schemas.microsoft.com/office/drawing/2014/main" id="{4BEE3EFB-39B0-9DD6-875F-3D8ECE0AAE87}"/>
              </a:ext>
            </a:extLst>
          </p:cNvPr>
          <p:cNvSpPr>
            <a:spLocks noGrp="1"/>
          </p:cNvSpPr>
          <p:nvPr>
            <p:ph idx="1"/>
          </p:nvPr>
        </p:nvSpPr>
        <p:spPr>
          <a:xfrm>
            <a:off x="1097280" y="2616200"/>
            <a:ext cx="10058400" cy="3418840"/>
          </a:xfrm>
        </p:spPr>
        <p:txBody>
          <a:bodyPr>
            <a:normAutofit/>
          </a:bodyPr>
          <a:lstStyle/>
          <a:p>
            <a:pPr marL="201168" lvl="1" indent="0">
              <a:buNone/>
            </a:pPr>
            <a:r>
              <a:rPr lang="en-US" sz="2000" dirty="0"/>
              <a:t>Business analysts identify business issues, analyze root causes, and develop effective, data-driven solutions to improve processes and outcomes.</a:t>
            </a:r>
          </a:p>
          <a:p>
            <a:pPr marL="658368" lvl="1" indent="-457200">
              <a:buFont typeface="+mj-lt"/>
              <a:buAutoNum type="arabicPeriod"/>
            </a:pPr>
            <a:r>
              <a:rPr lang="en-US" sz="2000" dirty="0"/>
              <a:t>Identify business problems and root causes</a:t>
            </a:r>
          </a:p>
          <a:p>
            <a:pPr marL="658368" lvl="1" indent="-457200">
              <a:buFont typeface="+mj-lt"/>
              <a:buAutoNum type="arabicPeriod"/>
            </a:pPr>
            <a:r>
              <a:rPr lang="en-US" sz="2000" dirty="0"/>
              <a:t>Develop effective and practical solutions</a:t>
            </a:r>
          </a:p>
          <a:p>
            <a:pPr marL="658368" lvl="1" indent="-457200">
              <a:buFont typeface="+mj-lt"/>
              <a:buAutoNum type="arabicPeriod"/>
            </a:pPr>
            <a:r>
              <a:rPr lang="en-US" sz="2000" dirty="0"/>
              <a:t>Critical thinking for decision-making</a:t>
            </a:r>
          </a:p>
          <a:p>
            <a:pPr marL="658368" lvl="1" indent="-457200">
              <a:buFont typeface="+mj-lt"/>
              <a:buAutoNum type="arabicPeriod"/>
            </a:pPr>
            <a:r>
              <a:rPr lang="en-US" sz="2000" dirty="0"/>
              <a:t>Ability to adapt to changing business needs</a:t>
            </a:r>
            <a:endParaRPr lang="en-IN" sz="2000" dirty="0"/>
          </a:p>
        </p:txBody>
      </p:sp>
      <p:sp>
        <p:nvSpPr>
          <p:cNvPr id="4" name="Title 1">
            <a:extLst>
              <a:ext uri="{FF2B5EF4-FFF2-40B4-BE49-F238E27FC236}">
                <a16:creationId xmlns:a16="http://schemas.microsoft.com/office/drawing/2014/main" id="{049A5145-5031-707B-AE2C-8735F2B52A7D}"/>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Problem-Solving Skills</a:t>
            </a:r>
            <a:endParaRPr lang="en-IN" sz="4000" dirty="0"/>
          </a:p>
        </p:txBody>
      </p:sp>
    </p:spTree>
    <p:extLst>
      <p:ext uri="{BB962C8B-B14F-4D97-AF65-F5344CB8AC3E}">
        <p14:creationId xmlns:p14="http://schemas.microsoft.com/office/powerpoint/2010/main" val="636400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89BAA-6130-58C0-F025-6B5D61143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F9F6F-9988-43BC-023A-48DF72A84124}"/>
              </a:ext>
            </a:extLst>
          </p:cNvPr>
          <p:cNvSpPr>
            <a:spLocks noGrp="1"/>
          </p:cNvSpPr>
          <p:nvPr>
            <p:ph type="title"/>
          </p:nvPr>
        </p:nvSpPr>
        <p:spPr/>
        <p:txBody>
          <a:bodyPr anchor="ctr"/>
          <a:lstStyle/>
          <a:p>
            <a:r>
              <a:rPr lang="en-US" dirty="0"/>
              <a:t>Business Analysis Methodologies</a:t>
            </a:r>
          </a:p>
        </p:txBody>
      </p:sp>
      <p:sp>
        <p:nvSpPr>
          <p:cNvPr id="3" name="Content Placeholder 2">
            <a:extLst>
              <a:ext uri="{FF2B5EF4-FFF2-40B4-BE49-F238E27FC236}">
                <a16:creationId xmlns:a16="http://schemas.microsoft.com/office/drawing/2014/main" id="{F9079879-600C-1F9C-1B04-C249ACF75C29}"/>
              </a:ext>
            </a:extLst>
          </p:cNvPr>
          <p:cNvSpPr>
            <a:spLocks noGrp="1"/>
          </p:cNvSpPr>
          <p:nvPr>
            <p:ph idx="1"/>
          </p:nvPr>
        </p:nvSpPr>
        <p:spPr>
          <a:xfrm>
            <a:off x="1097280" y="3429000"/>
            <a:ext cx="4734560" cy="2534920"/>
          </a:xfrm>
        </p:spPr>
        <p:txBody>
          <a:bodyPr>
            <a:normAutofit/>
          </a:bodyPr>
          <a:lstStyle/>
          <a:p>
            <a:pPr marL="658368" lvl="1" indent="-457200">
              <a:buFont typeface="+mj-lt"/>
              <a:buAutoNum type="arabicPeriod"/>
            </a:pPr>
            <a:r>
              <a:rPr lang="en-US" sz="2000" dirty="0"/>
              <a:t>Flexible and iterative approach</a:t>
            </a:r>
          </a:p>
          <a:p>
            <a:pPr marL="658368" lvl="1" indent="-457200">
              <a:buFont typeface="+mj-lt"/>
              <a:buAutoNum type="arabicPeriod"/>
            </a:pPr>
            <a:r>
              <a:rPr lang="en-US" sz="2000" dirty="0"/>
              <a:t>Focus on continuous improvement and feedback</a:t>
            </a:r>
          </a:p>
          <a:p>
            <a:pPr marL="658368" lvl="1" indent="-457200">
              <a:buFont typeface="+mj-lt"/>
              <a:buAutoNum type="arabicPeriod"/>
            </a:pPr>
            <a:r>
              <a:rPr lang="en-US" sz="2000" dirty="0"/>
              <a:t>Delivers small parts of the project quickly</a:t>
            </a:r>
          </a:p>
          <a:p>
            <a:pPr marL="658368" lvl="1" indent="-457200">
              <a:buFont typeface="+mj-lt"/>
              <a:buAutoNum type="arabicPeriod"/>
            </a:pPr>
            <a:r>
              <a:rPr lang="en-US" sz="2000" dirty="0"/>
              <a:t>Adapts to changing requirements</a:t>
            </a:r>
            <a:endParaRPr lang="en-IN" sz="2000" dirty="0"/>
          </a:p>
        </p:txBody>
      </p:sp>
      <p:sp>
        <p:nvSpPr>
          <p:cNvPr id="4" name="Title 1">
            <a:extLst>
              <a:ext uri="{FF2B5EF4-FFF2-40B4-BE49-F238E27FC236}">
                <a16:creationId xmlns:a16="http://schemas.microsoft.com/office/drawing/2014/main" id="{CB68AE05-CB0C-A32A-5210-F4277DAE1C25}"/>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Agile Methodology</a:t>
            </a:r>
            <a:endParaRPr lang="en-IN" sz="4000" dirty="0"/>
          </a:p>
        </p:txBody>
      </p:sp>
      <p:sp>
        <p:nvSpPr>
          <p:cNvPr id="5" name="Content Placeholder 2">
            <a:extLst>
              <a:ext uri="{FF2B5EF4-FFF2-40B4-BE49-F238E27FC236}">
                <a16:creationId xmlns:a16="http://schemas.microsoft.com/office/drawing/2014/main" id="{420504BE-995A-B4D0-065E-61419F37BB88}"/>
              </a:ext>
            </a:extLst>
          </p:cNvPr>
          <p:cNvSpPr txBox="1">
            <a:spLocks/>
          </p:cNvSpPr>
          <p:nvPr/>
        </p:nvSpPr>
        <p:spPr>
          <a:xfrm>
            <a:off x="1097280" y="2616200"/>
            <a:ext cx="10495280" cy="8128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2000" dirty="0"/>
              <a:t>Agile is a flexible and iterative project management approach where work is divided into small cycles (sprints). It allows continuous feedback and quick adaptation to changes.</a:t>
            </a:r>
            <a:endParaRPr lang="en-IN" sz="2000" dirty="0"/>
          </a:p>
        </p:txBody>
      </p:sp>
      <p:pic>
        <p:nvPicPr>
          <p:cNvPr id="7" name="Picture 6">
            <a:extLst>
              <a:ext uri="{FF2B5EF4-FFF2-40B4-BE49-F238E27FC236}">
                <a16:creationId xmlns:a16="http://schemas.microsoft.com/office/drawing/2014/main" id="{05748018-B39B-BCEF-B7A7-5D4BB10D42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0163" y="3429001"/>
            <a:ext cx="4795518" cy="253492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43162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B5B5C-52D0-4645-D7E1-C54382E1D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DBFBF-C40C-4083-AF41-64F7E94240BF}"/>
              </a:ext>
            </a:extLst>
          </p:cNvPr>
          <p:cNvSpPr>
            <a:spLocks noGrp="1"/>
          </p:cNvSpPr>
          <p:nvPr>
            <p:ph type="title"/>
          </p:nvPr>
        </p:nvSpPr>
        <p:spPr/>
        <p:txBody>
          <a:bodyPr anchor="ctr"/>
          <a:lstStyle/>
          <a:p>
            <a:r>
              <a:rPr lang="en-US" dirty="0"/>
              <a:t>Business Analysis Methodologies</a:t>
            </a:r>
          </a:p>
        </p:txBody>
      </p:sp>
      <p:sp>
        <p:nvSpPr>
          <p:cNvPr id="3" name="Content Placeholder 2">
            <a:extLst>
              <a:ext uri="{FF2B5EF4-FFF2-40B4-BE49-F238E27FC236}">
                <a16:creationId xmlns:a16="http://schemas.microsoft.com/office/drawing/2014/main" id="{4B9B2048-2439-3B3F-497B-F6388BC33046}"/>
              </a:ext>
            </a:extLst>
          </p:cNvPr>
          <p:cNvSpPr>
            <a:spLocks noGrp="1"/>
          </p:cNvSpPr>
          <p:nvPr>
            <p:ph idx="1"/>
          </p:nvPr>
        </p:nvSpPr>
        <p:spPr>
          <a:xfrm>
            <a:off x="1097280" y="3429000"/>
            <a:ext cx="4734560" cy="2534920"/>
          </a:xfrm>
        </p:spPr>
        <p:txBody>
          <a:bodyPr>
            <a:normAutofit/>
          </a:bodyPr>
          <a:lstStyle/>
          <a:p>
            <a:pPr marL="658368" lvl="1" indent="-457200">
              <a:buFont typeface="+mj-lt"/>
              <a:buAutoNum type="arabicPeriod"/>
            </a:pPr>
            <a:r>
              <a:rPr lang="en-US" sz="2000" dirty="0"/>
              <a:t>Linear and structured approach</a:t>
            </a:r>
          </a:p>
          <a:p>
            <a:pPr marL="658368" lvl="1" indent="-457200">
              <a:buFont typeface="+mj-lt"/>
              <a:buAutoNum type="arabicPeriod"/>
            </a:pPr>
            <a:r>
              <a:rPr lang="en-US" sz="2000" dirty="0"/>
              <a:t>Each phase completed before the next begins</a:t>
            </a:r>
          </a:p>
          <a:p>
            <a:pPr marL="658368" lvl="1" indent="-457200">
              <a:buFont typeface="+mj-lt"/>
              <a:buAutoNum type="arabicPeriod"/>
            </a:pPr>
            <a:r>
              <a:rPr lang="en-US" sz="2000" dirty="0"/>
              <a:t>Suitable for well-defined and stable requirements</a:t>
            </a:r>
          </a:p>
          <a:p>
            <a:pPr marL="658368" lvl="1" indent="-457200">
              <a:buFont typeface="+mj-lt"/>
              <a:buAutoNum type="arabicPeriod"/>
            </a:pPr>
            <a:r>
              <a:rPr lang="en-US" sz="2000" dirty="0"/>
              <a:t>Less flexible compared to Agile</a:t>
            </a:r>
          </a:p>
        </p:txBody>
      </p:sp>
      <p:sp>
        <p:nvSpPr>
          <p:cNvPr id="4" name="Title 1">
            <a:extLst>
              <a:ext uri="{FF2B5EF4-FFF2-40B4-BE49-F238E27FC236}">
                <a16:creationId xmlns:a16="http://schemas.microsoft.com/office/drawing/2014/main" id="{61F2C25C-64BF-CDA1-08CA-CE785F1B3322}"/>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Waterfall Methodology</a:t>
            </a:r>
          </a:p>
        </p:txBody>
      </p:sp>
      <p:sp>
        <p:nvSpPr>
          <p:cNvPr id="5" name="Content Placeholder 2">
            <a:extLst>
              <a:ext uri="{FF2B5EF4-FFF2-40B4-BE49-F238E27FC236}">
                <a16:creationId xmlns:a16="http://schemas.microsoft.com/office/drawing/2014/main" id="{255993AC-449C-AB78-1996-E9CD5B35693F}"/>
              </a:ext>
            </a:extLst>
          </p:cNvPr>
          <p:cNvSpPr txBox="1">
            <a:spLocks/>
          </p:cNvSpPr>
          <p:nvPr/>
        </p:nvSpPr>
        <p:spPr>
          <a:xfrm>
            <a:off x="1097280" y="2616200"/>
            <a:ext cx="10495280" cy="8128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2000" dirty="0"/>
              <a:t>Agile is a flexible and iterative project management approach where work is divided into small cycles (sprints). It allows continuous feedback and quick adaptation to changes.</a:t>
            </a:r>
            <a:endParaRPr lang="en-IN" sz="2000" dirty="0"/>
          </a:p>
        </p:txBody>
      </p:sp>
      <p:pic>
        <p:nvPicPr>
          <p:cNvPr id="7" name="Picture 6">
            <a:extLst>
              <a:ext uri="{FF2B5EF4-FFF2-40B4-BE49-F238E27FC236}">
                <a16:creationId xmlns:a16="http://schemas.microsoft.com/office/drawing/2014/main" id="{015E7DE6-DE7A-9FD8-F535-61C343A4A149}"/>
              </a:ext>
            </a:extLst>
          </p:cNvPr>
          <p:cNvPicPr>
            <a:picLocks noChangeAspect="1"/>
          </p:cNvPicPr>
          <p:nvPr/>
        </p:nvPicPr>
        <p:blipFill>
          <a:blip r:embed="rId2">
            <a:extLst>
              <a:ext uri="{28A0092B-C50C-407E-A947-70E740481C1C}">
                <a14:useLocalDpi xmlns:a14="http://schemas.microsoft.com/office/drawing/2010/main" val="0"/>
              </a:ext>
            </a:extLst>
          </a:blip>
          <a:srcRect b="3501"/>
          <a:stretch>
            <a:fillRect/>
          </a:stretch>
        </p:blipFill>
        <p:spPr>
          <a:xfrm>
            <a:off x="5962469" y="3363685"/>
            <a:ext cx="5323839" cy="28702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827928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0ADE2-F077-F6A1-ECAF-56A4BD1EE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93F8E-C5FA-0FDC-0A3B-D048F0537B6D}"/>
              </a:ext>
            </a:extLst>
          </p:cNvPr>
          <p:cNvSpPr>
            <a:spLocks noGrp="1"/>
          </p:cNvSpPr>
          <p:nvPr>
            <p:ph type="title"/>
          </p:nvPr>
        </p:nvSpPr>
        <p:spPr/>
        <p:txBody>
          <a:bodyPr anchor="ctr"/>
          <a:lstStyle/>
          <a:p>
            <a:r>
              <a:rPr lang="en-US" dirty="0"/>
              <a:t>Stakeholder Management</a:t>
            </a:r>
          </a:p>
        </p:txBody>
      </p:sp>
      <p:sp>
        <p:nvSpPr>
          <p:cNvPr id="3" name="Content Placeholder 2">
            <a:extLst>
              <a:ext uri="{FF2B5EF4-FFF2-40B4-BE49-F238E27FC236}">
                <a16:creationId xmlns:a16="http://schemas.microsoft.com/office/drawing/2014/main" id="{911241A1-A068-A078-F5F8-5A2FE86883BA}"/>
              </a:ext>
            </a:extLst>
          </p:cNvPr>
          <p:cNvSpPr>
            <a:spLocks noGrp="1"/>
          </p:cNvSpPr>
          <p:nvPr>
            <p:ph idx="1"/>
          </p:nvPr>
        </p:nvSpPr>
        <p:spPr>
          <a:xfrm>
            <a:off x="1097280" y="2616200"/>
            <a:ext cx="10058400" cy="3418840"/>
          </a:xfrm>
        </p:spPr>
        <p:txBody>
          <a:bodyPr>
            <a:normAutofit/>
          </a:bodyPr>
          <a:lstStyle/>
          <a:p>
            <a:pPr marL="201168" lvl="1" indent="0">
              <a:buNone/>
            </a:pPr>
            <a:r>
              <a:rPr lang="en-US" sz="2000" dirty="0"/>
              <a:t>It involves identifying all individuals or groups (such as clients, managers, and users) who are affected by or have an interest in a project. Effective communication ensures their needs, expectations, and feedback are clearly understood and aligned throughout the project lifecycle.</a:t>
            </a:r>
          </a:p>
          <a:p>
            <a:pPr marL="658368" lvl="1" indent="-457200">
              <a:buFont typeface="+mj-lt"/>
              <a:buAutoNum type="arabicPeriod"/>
            </a:pPr>
            <a:r>
              <a:rPr lang="en-US" sz="2000" dirty="0"/>
              <a:t>Identify key stakeholders (clients, managers, users)</a:t>
            </a:r>
          </a:p>
          <a:p>
            <a:pPr marL="658368" lvl="1" indent="-457200">
              <a:buFont typeface="+mj-lt"/>
              <a:buAutoNum type="arabicPeriod"/>
            </a:pPr>
            <a:r>
              <a:rPr lang="en-US" sz="2000" dirty="0"/>
              <a:t>Understand their needs and expectations</a:t>
            </a:r>
          </a:p>
          <a:p>
            <a:pPr marL="658368" lvl="1" indent="-457200">
              <a:buFont typeface="+mj-lt"/>
              <a:buAutoNum type="arabicPeriod"/>
            </a:pPr>
            <a:r>
              <a:rPr lang="en-US" sz="2000" dirty="0"/>
              <a:t>Maintain clear and regular communication</a:t>
            </a:r>
          </a:p>
          <a:p>
            <a:pPr marL="658368" lvl="1" indent="-457200">
              <a:buFont typeface="+mj-lt"/>
              <a:buAutoNum type="arabicPeriod"/>
            </a:pPr>
            <a:r>
              <a:rPr lang="en-US" sz="2000" dirty="0"/>
              <a:t>Build trust and collaboration</a:t>
            </a:r>
            <a:endParaRPr lang="en-IN" sz="2000" dirty="0"/>
          </a:p>
        </p:txBody>
      </p:sp>
      <p:sp>
        <p:nvSpPr>
          <p:cNvPr id="4" name="Title 1">
            <a:extLst>
              <a:ext uri="{FF2B5EF4-FFF2-40B4-BE49-F238E27FC236}">
                <a16:creationId xmlns:a16="http://schemas.microsoft.com/office/drawing/2014/main" id="{99A7BC98-4982-8B93-A047-56E64BA4EFC0}"/>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Stakeholder Identification &amp; Communication</a:t>
            </a:r>
            <a:endParaRPr lang="en-IN" sz="4000" dirty="0"/>
          </a:p>
        </p:txBody>
      </p:sp>
    </p:spTree>
    <p:extLst>
      <p:ext uri="{BB962C8B-B14F-4D97-AF65-F5344CB8AC3E}">
        <p14:creationId xmlns:p14="http://schemas.microsoft.com/office/powerpoint/2010/main" val="1957140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D3EEE-69E1-5A78-378D-252441362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8AEE0-6883-C68D-C158-0F9963F3C5DB}"/>
              </a:ext>
            </a:extLst>
          </p:cNvPr>
          <p:cNvSpPr>
            <a:spLocks noGrp="1"/>
          </p:cNvSpPr>
          <p:nvPr>
            <p:ph type="title"/>
          </p:nvPr>
        </p:nvSpPr>
        <p:spPr/>
        <p:txBody>
          <a:bodyPr anchor="ctr"/>
          <a:lstStyle/>
          <a:p>
            <a:r>
              <a:rPr lang="en-US" dirty="0"/>
              <a:t>Stakeholder Management</a:t>
            </a:r>
          </a:p>
        </p:txBody>
      </p:sp>
      <p:sp>
        <p:nvSpPr>
          <p:cNvPr id="3" name="Content Placeholder 2">
            <a:extLst>
              <a:ext uri="{FF2B5EF4-FFF2-40B4-BE49-F238E27FC236}">
                <a16:creationId xmlns:a16="http://schemas.microsoft.com/office/drawing/2014/main" id="{E2BA7A63-70A2-CDE6-6302-F8A8346A66C0}"/>
              </a:ext>
            </a:extLst>
          </p:cNvPr>
          <p:cNvSpPr>
            <a:spLocks noGrp="1"/>
          </p:cNvSpPr>
          <p:nvPr>
            <p:ph idx="1"/>
          </p:nvPr>
        </p:nvSpPr>
        <p:spPr>
          <a:xfrm>
            <a:off x="1097280" y="2616200"/>
            <a:ext cx="10058400" cy="3418840"/>
          </a:xfrm>
        </p:spPr>
        <p:txBody>
          <a:bodyPr>
            <a:normAutofit/>
          </a:bodyPr>
          <a:lstStyle/>
          <a:p>
            <a:pPr marL="201168" lvl="1" indent="0">
              <a:buNone/>
            </a:pPr>
            <a:r>
              <a:rPr lang="en-US" sz="2000" dirty="0"/>
              <a:t>It involves identifying all individuals or groups (such as clients, managers, and users) who are affected by or have an interest in a project. Effective communication ensures their needs, expectations, and feedback are clearly understood and aligned throughout the project lifecycle.</a:t>
            </a:r>
          </a:p>
          <a:p>
            <a:pPr marL="658368" lvl="1" indent="-457200">
              <a:buFont typeface="+mj-lt"/>
              <a:buAutoNum type="arabicPeriod"/>
            </a:pPr>
            <a:r>
              <a:rPr lang="en-US" sz="2000" dirty="0"/>
              <a:t>Align stakeholder goals with project objectives</a:t>
            </a:r>
          </a:p>
          <a:p>
            <a:pPr marL="658368" lvl="1" indent="-457200">
              <a:buFont typeface="+mj-lt"/>
              <a:buAutoNum type="arabicPeriod"/>
            </a:pPr>
            <a:r>
              <a:rPr lang="en-US" sz="2000" dirty="0"/>
              <a:t>Handle conflicts and feedback effectively</a:t>
            </a:r>
          </a:p>
          <a:p>
            <a:pPr marL="658368" lvl="1" indent="-457200">
              <a:buFont typeface="+mj-lt"/>
              <a:buAutoNum type="arabicPeriod"/>
            </a:pPr>
            <a:r>
              <a:rPr lang="en-US" sz="2000" dirty="0"/>
              <a:t>Ensure stakeholder involvement throughout project</a:t>
            </a:r>
          </a:p>
          <a:p>
            <a:pPr marL="658368" lvl="1" indent="-457200">
              <a:buFont typeface="+mj-lt"/>
              <a:buAutoNum type="arabicPeriod"/>
            </a:pPr>
            <a:r>
              <a:rPr lang="en-US" sz="2000" dirty="0"/>
              <a:t>Support successful project delivery through engagement</a:t>
            </a:r>
            <a:endParaRPr lang="en-IN" sz="2000" dirty="0"/>
          </a:p>
        </p:txBody>
      </p:sp>
      <p:sp>
        <p:nvSpPr>
          <p:cNvPr id="4" name="Title 1">
            <a:extLst>
              <a:ext uri="{FF2B5EF4-FFF2-40B4-BE49-F238E27FC236}">
                <a16:creationId xmlns:a16="http://schemas.microsoft.com/office/drawing/2014/main" id="{8B74CDA2-0BC8-8A16-7E7F-D3F48C2EF001}"/>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dirty="0"/>
              <a:t>Managing Stakeholder Expectations</a:t>
            </a:r>
            <a:endParaRPr lang="en-IN" sz="4000" dirty="0"/>
          </a:p>
        </p:txBody>
      </p:sp>
    </p:spTree>
    <p:extLst>
      <p:ext uri="{BB962C8B-B14F-4D97-AF65-F5344CB8AC3E}">
        <p14:creationId xmlns:p14="http://schemas.microsoft.com/office/powerpoint/2010/main" val="113963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D5813-BE4A-E386-EED0-16213B3E9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95099-A870-8D5B-37AB-F792613AF95A}"/>
              </a:ext>
            </a:extLst>
          </p:cNvPr>
          <p:cNvSpPr>
            <a:spLocks noGrp="1"/>
          </p:cNvSpPr>
          <p:nvPr>
            <p:ph type="title"/>
          </p:nvPr>
        </p:nvSpPr>
        <p:spPr/>
        <p:txBody>
          <a:bodyPr anchor="ctr"/>
          <a:lstStyle/>
          <a:p>
            <a:r>
              <a:rPr lang="en-US" b="1" dirty="0"/>
              <a:t>Data vs. Information</a:t>
            </a:r>
            <a:endParaRPr lang="en-IN" b="1" dirty="0"/>
          </a:p>
        </p:txBody>
      </p:sp>
      <p:sp>
        <p:nvSpPr>
          <p:cNvPr id="3" name="Content Placeholder 2">
            <a:extLst>
              <a:ext uri="{FF2B5EF4-FFF2-40B4-BE49-F238E27FC236}">
                <a16:creationId xmlns:a16="http://schemas.microsoft.com/office/drawing/2014/main" id="{CBEA70B5-3BCC-D3EC-0B2C-8CFD50685810}"/>
              </a:ext>
            </a:extLst>
          </p:cNvPr>
          <p:cNvSpPr>
            <a:spLocks noGrp="1"/>
          </p:cNvSpPr>
          <p:nvPr>
            <p:ph idx="1"/>
          </p:nvPr>
        </p:nvSpPr>
        <p:spPr>
          <a:xfrm>
            <a:off x="1097280" y="1845734"/>
            <a:ext cx="10058400" cy="2766906"/>
          </a:xfrm>
        </p:spPr>
        <p:txBody>
          <a:bodyPr/>
          <a:lstStyle/>
          <a:p>
            <a:pPr marL="457200" indent="-457200">
              <a:buFont typeface="+mj-lt"/>
              <a:buAutoNum type="arabicPeriod"/>
            </a:pPr>
            <a:r>
              <a:rPr lang="en-US" dirty="0"/>
              <a:t>Data and information are fundamental concepts in IT and business</a:t>
            </a:r>
          </a:p>
          <a:p>
            <a:pPr marL="457200" indent="-457200">
              <a:buFont typeface="+mj-lt"/>
              <a:buAutoNum type="arabicPeriod"/>
            </a:pPr>
            <a:r>
              <a:rPr lang="en-US" dirty="0"/>
              <a:t>Data = raw facts and figures, collected from various sources</a:t>
            </a:r>
          </a:p>
          <a:p>
            <a:pPr marL="457200" indent="-457200">
              <a:buFont typeface="+mj-lt"/>
              <a:buAutoNum type="arabicPeriod"/>
            </a:pPr>
            <a:r>
              <a:rPr lang="en-US" dirty="0"/>
              <a:t>Information = processed data, organized to provide meaning and insights</a:t>
            </a:r>
          </a:p>
          <a:p>
            <a:pPr marL="457200" indent="-457200">
              <a:buFont typeface="+mj-lt"/>
              <a:buAutoNum type="arabicPeriod"/>
            </a:pPr>
            <a:r>
              <a:rPr lang="en-US" dirty="0"/>
              <a:t>Data alone has little value unless processed</a:t>
            </a:r>
          </a:p>
          <a:p>
            <a:pPr marL="457200" indent="-457200">
              <a:buFont typeface="+mj-lt"/>
              <a:buAutoNum type="arabicPeriod"/>
            </a:pPr>
            <a:r>
              <a:rPr lang="en-US" dirty="0"/>
              <a:t>Information is used for analysis, reporting, and decision-making</a:t>
            </a:r>
            <a:endParaRPr lang="en-IN" dirty="0"/>
          </a:p>
        </p:txBody>
      </p:sp>
      <p:sp>
        <p:nvSpPr>
          <p:cNvPr id="4" name="Content Placeholder 2">
            <a:extLst>
              <a:ext uri="{FF2B5EF4-FFF2-40B4-BE49-F238E27FC236}">
                <a16:creationId xmlns:a16="http://schemas.microsoft.com/office/drawing/2014/main" id="{F19CAEAD-F702-2EFB-A42B-7DCA4D46AEB2}"/>
              </a:ext>
            </a:extLst>
          </p:cNvPr>
          <p:cNvSpPr txBox="1">
            <a:spLocks/>
          </p:cNvSpPr>
          <p:nvPr/>
        </p:nvSpPr>
        <p:spPr>
          <a:xfrm>
            <a:off x="1097280" y="4721014"/>
            <a:ext cx="10058400" cy="1486746"/>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n-IN" sz="2400" b="1" dirty="0"/>
              <a:t>Data → Information → Knowledge → Decision</a:t>
            </a:r>
          </a:p>
        </p:txBody>
      </p:sp>
    </p:spTree>
    <p:extLst>
      <p:ext uri="{BB962C8B-B14F-4D97-AF65-F5344CB8AC3E}">
        <p14:creationId xmlns:p14="http://schemas.microsoft.com/office/powerpoint/2010/main" val="2432892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F900B-FF58-5623-B94E-B46F23F5A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43D77-EDEF-2619-1A66-458A39CA5BD6}"/>
              </a:ext>
            </a:extLst>
          </p:cNvPr>
          <p:cNvSpPr>
            <a:spLocks noGrp="1"/>
          </p:cNvSpPr>
          <p:nvPr>
            <p:ph type="title"/>
          </p:nvPr>
        </p:nvSpPr>
        <p:spPr/>
        <p:txBody>
          <a:bodyPr anchor="ctr"/>
          <a:lstStyle/>
          <a:p>
            <a:r>
              <a:rPr lang="en-US" dirty="0"/>
              <a:t>Key Differences Between Data vs. Information</a:t>
            </a:r>
            <a:endParaRPr lang="en-IN" dirty="0"/>
          </a:p>
        </p:txBody>
      </p:sp>
      <p:graphicFrame>
        <p:nvGraphicFramePr>
          <p:cNvPr id="4" name="Content Placeholder 3">
            <a:extLst>
              <a:ext uri="{FF2B5EF4-FFF2-40B4-BE49-F238E27FC236}">
                <a16:creationId xmlns:a16="http://schemas.microsoft.com/office/drawing/2014/main" id="{562466F0-34E6-D835-8A30-F03183C959B5}"/>
              </a:ext>
            </a:extLst>
          </p:cNvPr>
          <p:cNvGraphicFramePr>
            <a:graphicFrameLocks noGrp="1"/>
          </p:cNvGraphicFramePr>
          <p:nvPr>
            <p:ph idx="1"/>
            <p:extLst>
              <p:ext uri="{D42A27DB-BD31-4B8C-83A1-F6EECF244321}">
                <p14:modId xmlns:p14="http://schemas.microsoft.com/office/powerpoint/2010/main" val="2259102051"/>
              </p:ext>
            </p:extLst>
          </p:nvPr>
        </p:nvGraphicFramePr>
        <p:xfrm>
          <a:off x="1096963" y="1846262"/>
          <a:ext cx="10058397" cy="4397775"/>
        </p:xfrm>
        <a:graphic>
          <a:graphicData uri="http://schemas.openxmlformats.org/drawingml/2006/table">
            <a:tbl>
              <a:tblPr firstRow="1" bandRow="1">
                <a:tableStyleId>{5940675A-B579-460E-94D1-54222C63F5DA}</a:tableStyleId>
              </a:tblPr>
              <a:tblGrid>
                <a:gridCol w="3352799">
                  <a:extLst>
                    <a:ext uri="{9D8B030D-6E8A-4147-A177-3AD203B41FA5}">
                      <a16:colId xmlns:a16="http://schemas.microsoft.com/office/drawing/2014/main" val="2349111905"/>
                    </a:ext>
                  </a:extLst>
                </a:gridCol>
                <a:gridCol w="3352799">
                  <a:extLst>
                    <a:ext uri="{9D8B030D-6E8A-4147-A177-3AD203B41FA5}">
                      <a16:colId xmlns:a16="http://schemas.microsoft.com/office/drawing/2014/main" val="2889777119"/>
                    </a:ext>
                  </a:extLst>
                </a:gridCol>
                <a:gridCol w="3352799">
                  <a:extLst>
                    <a:ext uri="{9D8B030D-6E8A-4147-A177-3AD203B41FA5}">
                      <a16:colId xmlns:a16="http://schemas.microsoft.com/office/drawing/2014/main" val="3291977201"/>
                    </a:ext>
                  </a:extLst>
                </a:gridCol>
              </a:tblGrid>
              <a:tr h="879555">
                <a:tc>
                  <a:txBody>
                    <a:bodyPr/>
                    <a:lstStyle/>
                    <a:p>
                      <a:pPr algn="l"/>
                      <a:r>
                        <a:rPr lang="en-US" sz="2000" b="1" dirty="0"/>
                        <a:t>Aspect</a:t>
                      </a:r>
                      <a:endParaRPr lang="en-IN" sz="20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000" b="1" dirty="0"/>
                        <a:t>Data</a:t>
                      </a:r>
                      <a:endParaRPr lang="en-IN" sz="20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000" b="1" dirty="0"/>
                        <a:t>Information</a:t>
                      </a:r>
                      <a:endParaRPr lang="en-IN" sz="20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1926428"/>
                  </a:ext>
                </a:extLst>
              </a:tr>
              <a:tr h="879555">
                <a:tc>
                  <a:txBody>
                    <a:bodyPr/>
                    <a:lstStyle/>
                    <a:p>
                      <a:pPr marL="0" lvl="0" indent="0" algn="ctr">
                        <a:buFont typeface="Wingdings" panose="05000000000000000000" pitchFamily="2" charset="2"/>
                        <a:buNone/>
                      </a:pPr>
                      <a:r>
                        <a:rPr lang="en-US" sz="2000" dirty="0"/>
                        <a:t>Nature</a:t>
                      </a:r>
                      <a:endParaRPr lang="en-IN"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Wingdings" panose="05000000000000000000" pitchFamily="2" charset="2"/>
                        <a:buNone/>
                      </a:pPr>
                      <a:r>
                        <a:rPr lang="en-IN" sz="2000" dirty="0"/>
                        <a:t>Raw, unprocessed facts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Wingdings" panose="05000000000000000000" pitchFamily="2" charset="2"/>
                        <a:buNone/>
                      </a:pPr>
                      <a:r>
                        <a:rPr lang="en-IN" sz="2000" dirty="0"/>
                        <a:t>Processed and meaningful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89105282"/>
                  </a:ext>
                </a:extLst>
              </a:tr>
              <a:tr h="879555">
                <a:tc>
                  <a:txBody>
                    <a:bodyPr/>
                    <a:lstStyle/>
                    <a:p>
                      <a:pPr marL="0" lvl="0" indent="0" algn="ctr">
                        <a:buFont typeface="Wingdings" panose="05000000000000000000" pitchFamily="2" charset="2"/>
                        <a:buNone/>
                      </a:pPr>
                      <a:r>
                        <a:rPr lang="en-IN" sz="2000" dirty="0"/>
                        <a:t>Usefulness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Wingdings" panose="05000000000000000000" pitchFamily="2" charset="2"/>
                        <a:buNone/>
                      </a:pPr>
                      <a:r>
                        <a:rPr lang="en-IN" sz="2000" dirty="0"/>
                        <a:t>Not directly useful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Wingdings" panose="05000000000000000000" pitchFamily="2" charset="2"/>
                        <a:buNone/>
                      </a:pPr>
                      <a:r>
                        <a:rPr lang="en-IN" sz="2000" dirty="0"/>
                        <a:t>Supports decision-making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9788788"/>
                  </a:ext>
                </a:extLst>
              </a:tr>
              <a:tr h="879555">
                <a:tc>
                  <a:txBody>
                    <a:bodyPr/>
                    <a:lstStyle/>
                    <a:p>
                      <a:pPr marL="0" lvl="0" indent="0" algn="ctr">
                        <a:buFont typeface="Wingdings" panose="05000000000000000000" pitchFamily="2" charset="2"/>
                        <a:buNone/>
                      </a:pPr>
                      <a:r>
                        <a:rPr lang="en-IN" sz="2000" dirty="0"/>
                        <a:t>Structure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Wingdings" panose="05000000000000000000" pitchFamily="2" charset="2"/>
                        <a:buNone/>
                      </a:pPr>
                      <a:r>
                        <a:rPr lang="en-IN" sz="2000" dirty="0"/>
                        <a:t>Unorganized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Wingdings" panose="05000000000000000000" pitchFamily="2" charset="2"/>
                        <a:buNone/>
                      </a:pPr>
                      <a:r>
                        <a:rPr lang="en-IN" sz="2000" dirty="0"/>
                        <a:t>Organized and structured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2047983"/>
                  </a:ext>
                </a:extLst>
              </a:tr>
              <a:tr h="879555">
                <a:tc>
                  <a:txBody>
                    <a:bodyPr/>
                    <a:lstStyle/>
                    <a:p>
                      <a:pPr marL="0" lvl="0" indent="0" algn="ctr">
                        <a:buFont typeface="Wingdings" panose="05000000000000000000" pitchFamily="2" charset="2"/>
                        <a:buNone/>
                      </a:pPr>
                      <a:r>
                        <a:rPr lang="en-IN" sz="2000" dirty="0"/>
                        <a:t>Example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Wingdings" panose="05000000000000000000" pitchFamily="2" charset="2"/>
                        <a:buNone/>
                      </a:pPr>
                      <a:r>
                        <a:rPr lang="en-IN" sz="2000" dirty="0"/>
                        <a:t>“100, 200, 300”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Wingdings" panose="05000000000000000000" pitchFamily="2" charset="2"/>
                        <a:buNone/>
                      </a:pPr>
                      <a:r>
                        <a:rPr lang="en-IN" sz="2000" dirty="0"/>
                        <a:t>“Sales increased by 20%”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644718"/>
                  </a:ext>
                </a:extLst>
              </a:tr>
            </a:tbl>
          </a:graphicData>
        </a:graphic>
      </p:graphicFrame>
    </p:spTree>
    <p:extLst>
      <p:ext uri="{BB962C8B-B14F-4D97-AF65-F5344CB8AC3E}">
        <p14:creationId xmlns:p14="http://schemas.microsoft.com/office/powerpoint/2010/main" val="1103644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50A94-3194-2932-744A-B8E7EABE7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BF4D7-D259-F71C-389C-2018AA2BCA9C}"/>
              </a:ext>
            </a:extLst>
          </p:cNvPr>
          <p:cNvSpPr>
            <a:spLocks noGrp="1"/>
          </p:cNvSpPr>
          <p:nvPr>
            <p:ph type="title"/>
          </p:nvPr>
        </p:nvSpPr>
        <p:spPr>
          <a:xfrm>
            <a:off x="1097280" y="286603"/>
            <a:ext cx="10058400" cy="1105317"/>
          </a:xfrm>
        </p:spPr>
        <p:txBody>
          <a:bodyPr anchor="ctr">
            <a:normAutofit fontScale="90000"/>
          </a:bodyPr>
          <a:lstStyle/>
          <a:p>
            <a:r>
              <a:rPr lang="en-US" dirty="0"/>
              <a:t>Distinguishing Raw Data from Processed Information</a:t>
            </a:r>
          </a:p>
        </p:txBody>
      </p:sp>
      <p:sp>
        <p:nvSpPr>
          <p:cNvPr id="3" name="Content Placeholder 2">
            <a:extLst>
              <a:ext uri="{FF2B5EF4-FFF2-40B4-BE49-F238E27FC236}">
                <a16:creationId xmlns:a16="http://schemas.microsoft.com/office/drawing/2014/main" id="{F52949A1-5AB8-9A44-73AD-3A0B7D5EBFE6}"/>
              </a:ext>
            </a:extLst>
          </p:cNvPr>
          <p:cNvSpPr>
            <a:spLocks noGrp="1"/>
          </p:cNvSpPr>
          <p:nvPr>
            <p:ph idx="1"/>
          </p:nvPr>
        </p:nvSpPr>
        <p:spPr>
          <a:xfrm>
            <a:off x="1097280" y="2462322"/>
            <a:ext cx="10058400" cy="3955197"/>
          </a:xfrm>
        </p:spPr>
        <p:txBody>
          <a:bodyPr>
            <a:normAutofit fontScale="92500" lnSpcReduction="10000"/>
          </a:bodyPr>
          <a:lstStyle/>
          <a:p>
            <a:pPr marL="658368" lvl="1" indent="-457200">
              <a:buFont typeface="+mj-lt"/>
              <a:buAutoNum type="arabicPeriod"/>
            </a:pPr>
            <a:r>
              <a:rPr lang="en-US" sz="2000" dirty="0"/>
              <a:t>Raw data is the original data collected from sources without any processing. </a:t>
            </a:r>
            <a:br>
              <a:rPr lang="en-US" sz="2000" dirty="0"/>
            </a:br>
            <a:r>
              <a:rPr lang="en-US" sz="2000" dirty="0"/>
              <a:t>Raw data is the initial, unaltered information collected directly from sources before any cleaning, organizing, or analysis is performed.</a:t>
            </a:r>
          </a:p>
          <a:p>
            <a:pPr marL="658368" lvl="1" indent="-457200">
              <a:buFont typeface="+mj-lt"/>
              <a:buAutoNum type="arabicPeriod"/>
            </a:pPr>
            <a:r>
              <a:rPr lang="en-US" sz="2000" dirty="0"/>
              <a:t>Comes from surveys, sensors, transactions, etc.</a:t>
            </a:r>
            <a:br>
              <a:rPr lang="en-US" sz="2000" dirty="0"/>
            </a:br>
            <a:r>
              <a:rPr lang="en-US" sz="2000" dirty="0"/>
              <a:t>It is gathered from various sources like surveys, transaction logs, sensors, and social media, representing real-world events in their original form.</a:t>
            </a:r>
          </a:p>
          <a:p>
            <a:pPr marL="658368" lvl="1" indent="-457200">
              <a:buFont typeface="+mj-lt"/>
              <a:buAutoNum type="arabicPeriod"/>
            </a:pPr>
            <a:r>
              <a:rPr lang="en-US" sz="2000" dirty="0"/>
              <a:t>Usually large, unstructured, and may contain errors</a:t>
            </a:r>
            <a:br>
              <a:rPr lang="en-US" sz="2000" dirty="0"/>
            </a:br>
            <a:r>
              <a:rPr lang="en-US" sz="2000" dirty="0"/>
              <a:t>Raw data is often huge in volume, exists in different formats, and may include duplicates, missing values, or inaccuracies that need correction.</a:t>
            </a:r>
          </a:p>
          <a:p>
            <a:pPr marL="658368" lvl="1" indent="-457200">
              <a:buFont typeface="+mj-lt"/>
              <a:buAutoNum type="arabicPeriod"/>
            </a:pPr>
            <a:r>
              <a:rPr lang="en-US" sz="2000" dirty="0"/>
              <a:t>Difficult to interpret directly</a:t>
            </a:r>
            <a:br>
              <a:rPr lang="en-US" sz="2000" dirty="0"/>
            </a:br>
            <a:r>
              <a:rPr lang="en-US" sz="2000" dirty="0"/>
              <a:t>Since it is unorganized and not analyzed, raw data is hard to understand and cannot be directly used for decision-making without processing.</a:t>
            </a:r>
          </a:p>
          <a:p>
            <a:pPr marL="658368" lvl="1" indent="-457200">
              <a:buFont typeface="+mj-lt"/>
              <a:buAutoNum type="arabicPeriod"/>
            </a:pPr>
            <a:r>
              <a:rPr lang="en-US" sz="2000" dirty="0"/>
              <a:t>Example: customer responses, logs, raw sales numbers</a:t>
            </a:r>
            <a:br>
              <a:rPr lang="en-US" sz="2000" dirty="0"/>
            </a:br>
            <a:r>
              <a:rPr lang="en-US" sz="2000" dirty="0"/>
              <a:t>Examples include survey responses, system logs, and raw sales figures, which require further processing to extract useful insights.</a:t>
            </a:r>
            <a:endParaRPr lang="en-IN" sz="2000" dirty="0"/>
          </a:p>
        </p:txBody>
      </p:sp>
      <p:sp>
        <p:nvSpPr>
          <p:cNvPr id="4" name="Title 1">
            <a:extLst>
              <a:ext uri="{FF2B5EF4-FFF2-40B4-BE49-F238E27FC236}">
                <a16:creationId xmlns:a16="http://schemas.microsoft.com/office/drawing/2014/main" id="{6FAFD745-8850-EFFE-25CA-693338D09EFD}"/>
              </a:ext>
            </a:extLst>
          </p:cNvPr>
          <p:cNvSpPr txBox="1">
            <a:spLocks/>
          </p:cNvSpPr>
          <p:nvPr/>
        </p:nvSpPr>
        <p:spPr>
          <a:xfrm>
            <a:off x="1066800" y="1737359"/>
            <a:ext cx="10058400" cy="680721"/>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Raw Data (Unprocessed Data)</a:t>
            </a:r>
          </a:p>
        </p:txBody>
      </p:sp>
    </p:spTree>
    <p:extLst>
      <p:ext uri="{BB962C8B-B14F-4D97-AF65-F5344CB8AC3E}">
        <p14:creationId xmlns:p14="http://schemas.microsoft.com/office/powerpoint/2010/main" val="2564723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421DD-F47B-CBF8-D620-9D5ED0282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9BDCA-BE78-AF26-4801-7714E16CD859}"/>
              </a:ext>
            </a:extLst>
          </p:cNvPr>
          <p:cNvSpPr>
            <a:spLocks noGrp="1"/>
          </p:cNvSpPr>
          <p:nvPr>
            <p:ph type="title"/>
          </p:nvPr>
        </p:nvSpPr>
        <p:spPr>
          <a:xfrm>
            <a:off x="1097280" y="286603"/>
            <a:ext cx="10058400" cy="1176437"/>
          </a:xfrm>
        </p:spPr>
        <p:txBody>
          <a:bodyPr anchor="ctr">
            <a:normAutofit fontScale="90000"/>
          </a:bodyPr>
          <a:lstStyle/>
          <a:p>
            <a:r>
              <a:rPr lang="en-US" dirty="0"/>
              <a:t>Distinguishing Raw Data from Processed Information</a:t>
            </a:r>
          </a:p>
        </p:txBody>
      </p:sp>
      <p:sp>
        <p:nvSpPr>
          <p:cNvPr id="3" name="Content Placeholder 2">
            <a:extLst>
              <a:ext uri="{FF2B5EF4-FFF2-40B4-BE49-F238E27FC236}">
                <a16:creationId xmlns:a16="http://schemas.microsoft.com/office/drawing/2014/main" id="{ECCFAC9E-D7BE-2D93-0837-B9BE87C77A7B}"/>
              </a:ext>
            </a:extLst>
          </p:cNvPr>
          <p:cNvSpPr>
            <a:spLocks noGrp="1"/>
          </p:cNvSpPr>
          <p:nvPr>
            <p:ph idx="1"/>
          </p:nvPr>
        </p:nvSpPr>
        <p:spPr>
          <a:xfrm>
            <a:off x="1097280" y="2428241"/>
            <a:ext cx="10058400" cy="4143156"/>
          </a:xfrm>
        </p:spPr>
        <p:txBody>
          <a:bodyPr>
            <a:normAutofit fontScale="92500" lnSpcReduction="10000"/>
          </a:bodyPr>
          <a:lstStyle/>
          <a:p>
            <a:pPr marL="658368" lvl="1" indent="-457200">
              <a:buFont typeface="+mj-lt"/>
              <a:buAutoNum type="arabicPeriod"/>
            </a:pPr>
            <a:r>
              <a:rPr lang="en-US" sz="2000" b="1" dirty="0"/>
              <a:t>Processed data is cleaned, organized, and analyzed data</a:t>
            </a:r>
            <a:br>
              <a:rPr lang="en-US" sz="2000" dirty="0"/>
            </a:br>
            <a:r>
              <a:rPr lang="en-US" sz="2000" dirty="0"/>
              <a:t>Processed data is raw data that has been refined by removing errors, organizing it into structure, and analyzing it to make it useful and meaningful.</a:t>
            </a:r>
          </a:p>
          <a:p>
            <a:pPr marL="658368" lvl="1" indent="-457200">
              <a:buFont typeface="+mj-lt"/>
              <a:buAutoNum type="arabicPeriod"/>
            </a:pPr>
            <a:r>
              <a:rPr lang="en-US" sz="2000" b="1" dirty="0"/>
              <a:t>Includes steps like filtering, sorting, and summarizing</a:t>
            </a:r>
            <a:br>
              <a:rPr lang="en-US" sz="2000" dirty="0"/>
            </a:br>
            <a:r>
              <a:rPr lang="en-US" sz="2000" dirty="0"/>
              <a:t>It involves steps such as data cleaning, filtering unwanted data, sorting values, and summarizing large datasets into understandable formats.</a:t>
            </a:r>
          </a:p>
          <a:p>
            <a:pPr marL="658368" lvl="1" indent="-457200">
              <a:buFont typeface="+mj-lt"/>
              <a:buAutoNum type="arabicPeriod"/>
            </a:pPr>
            <a:r>
              <a:rPr lang="en-US" sz="2000" b="1" dirty="0"/>
              <a:t>Easier to understand and use</a:t>
            </a:r>
            <a:br>
              <a:rPr lang="en-US" sz="2000" dirty="0"/>
            </a:br>
            <a:r>
              <a:rPr lang="en-US" sz="2000" dirty="0"/>
              <a:t>Since it is structured and simplified, processed data becomes easy to read, interpret, and apply in real-world business scenarios.</a:t>
            </a:r>
          </a:p>
          <a:p>
            <a:pPr marL="658368" lvl="1" indent="-457200">
              <a:buFont typeface="+mj-lt"/>
              <a:buAutoNum type="arabicPeriod"/>
            </a:pPr>
            <a:r>
              <a:rPr lang="en-US" sz="2000" b="1" dirty="0"/>
              <a:t>Provides insights, trends, and patterns</a:t>
            </a:r>
            <a:br>
              <a:rPr lang="en-US" sz="2000" dirty="0"/>
            </a:br>
            <a:r>
              <a:rPr lang="en-US" sz="2000" dirty="0"/>
              <a:t>Processed data helps identify patterns, trends, and relationships that are not visible in raw data, making it valuable for analysis.</a:t>
            </a:r>
          </a:p>
          <a:p>
            <a:pPr marL="658368" lvl="1" indent="-457200">
              <a:buFont typeface="+mj-lt"/>
              <a:buAutoNum type="arabicPeriod"/>
            </a:pPr>
            <a:r>
              <a:rPr lang="en-US" sz="2000" b="1" dirty="0"/>
              <a:t>Used for reports and business decisions</a:t>
            </a:r>
            <a:br>
              <a:rPr lang="en-US" sz="2000" dirty="0"/>
            </a:br>
            <a:r>
              <a:rPr lang="en-US" sz="2000" dirty="0"/>
              <a:t>It is commonly used in reports, dashboards, and analytics to support strategic decision-making and business planning. </a:t>
            </a:r>
            <a:endParaRPr lang="en-IN" sz="2000" dirty="0"/>
          </a:p>
        </p:txBody>
      </p:sp>
      <p:sp>
        <p:nvSpPr>
          <p:cNvPr id="4" name="Title 1">
            <a:extLst>
              <a:ext uri="{FF2B5EF4-FFF2-40B4-BE49-F238E27FC236}">
                <a16:creationId xmlns:a16="http://schemas.microsoft.com/office/drawing/2014/main" id="{302E7523-8F84-B7E0-289F-5678B8615544}"/>
              </a:ext>
            </a:extLst>
          </p:cNvPr>
          <p:cNvSpPr txBox="1">
            <a:spLocks/>
          </p:cNvSpPr>
          <p:nvPr/>
        </p:nvSpPr>
        <p:spPr>
          <a:xfrm>
            <a:off x="1097280" y="1600199"/>
            <a:ext cx="10058400" cy="828041"/>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Processed Data / Information</a:t>
            </a:r>
          </a:p>
        </p:txBody>
      </p:sp>
    </p:spTree>
    <p:extLst>
      <p:ext uri="{BB962C8B-B14F-4D97-AF65-F5344CB8AC3E}">
        <p14:creationId xmlns:p14="http://schemas.microsoft.com/office/powerpoint/2010/main" val="11791328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B2FD-62B4-B02F-7212-34F20ACAE8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3F880-3B09-421B-E847-FBAFEE8269A6}"/>
              </a:ext>
            </a:extLst>
          </p:cNvPr>
          <p:cNvSpPr>
            <a:spLocks noGrp="1"/>
          </p:cNvSpPr>
          <p:nvPr>
            <p:ph type="title"/>
          </p:nvPr>
        </p:nvSpPr>
        <p:spPr/>
        <p:txBody>
          <a:bodyPr anchor="ctr"/>
          <a:lstStyle/>
          <a:p>
            <a:r>
              <a:rPr lang="en-US" dirty="0"/>
              <a:t>Transformation Process: Data → Information → Knowledge</a:t>
            </a:r>
          </a:p>
        </p:txBody>
      </p:sp>
      <p:sp>
        <p:nvSpPr>
          <p:cNvPr id="3" name="Content Placeholder 2">
            <a:extLst>
              <a:ext uri="{FF2B5EF4-FFF2-40B4-BE49-F238E27FC236}">
                <a16:creationId xmlns:a16="http://schemas.microsoft.com/office/drawing/2014/main" id="{1323709B-3CCF-3E59-6540-30400B27618D}"/>
              </a:ext>
            </a:extLst>
          </p:cNvPr>
          <p:cNvSpPr>
            <a:spLocks noGrp="1"/>
          </p:cNvSpPr>
          <p:nvPr>
            <p:ph idx="1"/>
          </p:nvPr>
        </p:nvSpPr>
        <p:spPr>
          <a:xfrm>
            <a:off x="1097280" y="2616200"/>
            <a:ext cx="10058400" cy="3743960"/>
          </a:xfrm>
        </p:spPr>
        <p:txBody>
          <a:bodyPr>
            <a:normAutofit lnSpcReduction="10000"/>
          </a:bodyPr>
          <a:lstStyle/>
          <a:p>
            <a:pPr marL="201168" lvl="1" indent="0">
              <a:buNone/>
            </a:pPr>
            <a:r>
              <a:rPr lang="en-US" sz="2000" dirty="0"/>
              <a:t>Raw data is transformed into information by organizing, structuring, and giving context to it so that it becomes meaningful and useful for users.</a:t>
            </a:r>
          </a:p>
          <a:p>
            <a:pPr marL="201168" lvl="1" indent="0">
              <a:buNone/>
            </a:pPr>
            <a:r>
              <a:rPr lang="en-US" sz="2000" dirty="0"/>
              <a:t>During this transformation, data is cleaned, categorized, and connected with business context, which helps in making it understandable rather than just raw facts.</a:t>
            </a:r>
          </a:p>
          <a:p>
            <a:pPr marL="201168" lvl="1" indent="0">
              <a:buNone/>
            </a:pPr>
            <a:r>
              <a:rPr lang="en-US" sz="2000" dirty="0"/>
              <a:t>This step is important because unstructured or unorganized data alone has little value, but once processed into information, it can support analysis, insights, and decision-making in organizations.</a:t>
            </a:r>
          </a:p>
          <a:p>
            <a:pPr marL="658368" lvl="1" indent="-457200">
              <a:buFont typeface="+mj-lt"/>
              <a:buAutoNum type="arabicPeriod"/>
            </a:pPr>
            <a:r>
              <a:rPr lang="en-US" sz="2000" dirty="0"/>
              <a:t>Raw data is processed to create meaningful information</a:t>
            </a:r>
          </a:p>
          <a:p>
            <a:pPr marL="658368" lvl="1" indent="-457200">
              <a:buFont typeface="+mj-lt"/>
              <a:buAutoNum type="arabicPeriod"/>
            </a:pPr>
            <a:r>
              <a:rPr lang="en-US" sz="2000" dirty="0"/>
              <a:t>Steps include cleaning, organizing, and analyzing data</a:t>
            </a:r>
          </a:p>
          <a:p>
            <a:pPr marL="658368" lvl="1" indent="-457200">
              <a:buFont typeface="+mj-lt"/>
              <a:buAutoNum type="arabicPeriod"/>
            </a:pPr>
            <a:r>
              <a:rPr lang="en-US" sz="2000" dirty="0"/>
              <a:t>Converts meaningless data into useful insights</a:t>
            </a:r>
          </a:p>
          <a:p>
            <a:pPr marL="658368" lvl="1" indent="-457200">
              <a:buFont typeface="+mj-lt"/>
              <a:buAutoNum type="arabicPeriod"/>
            </a:pPr>
            <a:r>
              <a:rPr lang="en-US" sz="2000" dirty="0"/>
              <a:t>Example:</a:t>
            </a:r>
            <a:br>
              <a:rPr lang="en-US" sz="2000" dirty="0"/>
            </a:br>
            <a:r>
              <a:rPr lang="en-US" sz="2000" b="1" dirty="0"/>
              <a:t>Data: </a:t>
            </a:r>
            <a:r>
              <a:rPr lang="en-US" sz="2000" dirty="0"/>
              <a:t>Sales numbers</a:t>
            </a:r>
            <a:br>
              <a:rPr lang="en-US" sz="2000" dirty="0"/>
            </a:br>
            <a:r>
              <a:rPr lang="en-US" sz="2000" b="1" dirty="0"/>
              <a:t>Information:</a:t>
            </a:r>
            <a:r>
              <a:rPr lang="en-US" sz="2000" dirty="0"/>
              <a:t> Monthly sales trend</a:t>
            </a:r>
            <a:endParaRPr lang="en-IN" sz="2000" dirty="0"/>
          </a:p>
        </p:txBody>
      </p:sp>
      <p:sp>
        <p:nvSpPr>
          <p:cNvPr id="4" name="Title 1">
            <a:extLst>
              <a:ext uri="{FF2B5EF4-FFF2-40B4-BE49-F238E27FC236}">
                <a16:creationId xmlns:a16="http://schemas.microsoft.com/office/drawing/2014/main" id="{A3CB1144-07C4-B54A-F9CF-7D7869EAF5C5}"/>
              </a:ext>
            </a:extLst>
          </p:cNvPr>
          <p:cNvSpPr txBox="1">
            <a:spLocks/>
          </p:cNvSpPr>
          <p:nvPr/>
        </p:nvSpPr>
        <p:spPr>
          <a:xfrm>
            <a:off x="1097280" y="1737360"/>
            <a:ext cx="10058400" cy="87884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Data to Information**</a:t>
            </a:r>
          </a:p>
        </p:txBody>
      </p:sp>
    </p:spTree>
    <p:extLst>
      <p:ext uri="{BB962C8B-B14F-4D97-AF65-F5344CB8AC3E}">
        <p14:creationId xmlns:p14="http://schemas.microsoft.com/office/powerpoint/2010/main" val="41988650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151B0-ADD1-D152-B727-B9D19455B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BE179-BB99-37FA-3AE7-AF7DDCEE74B8}"/>
              </a:ext>
            </a:extLst>
          </p:cNvPr>
          <p:cNvSpPr>
            <a:spLocks noGrp="1"/>
          </p:cNvSpPr>
          <p:nvPr>
            <p:ph type="title"/>
          </p:nvPr>
        </p:nvSpPr>
        <p:spPr>
          <a:xfrm>
            <a:off x="1097280" y="286603"/>
            <a:ext cx="10058400" cy="1206917"/>
          </a:xfrm>
        </p:spPr>
        <p:txBody>
          <a:bodyPr anchor="ctr">
            <a:normAutofit fontScale="90000"/>
          </a:bodyPr>
          <a:lstStyle/>
          <a:p>
            <a:r>
              <a:rPr lang="en-US" dirty="0"/>
              <a:t>Transformation Process: Data → Information → Knowledge</a:t>
            </a:r>
          </a:p>
        </p:txBody>
      </p:sp>
      <p:sp>
        <p:nvSpPr>
          <p:cNvPr id="3" name="Content Placeholder 2">
            <a:extLst>
              <a:ext uri="{FF2B5EF4-FFF2-40B4-BE49-F238E27FC236}">
                <a16:creationId xmlns:a16="http://schemas.microsoft.com/office/drawing/2014/main" id="{626C57B5-1F57-B6A6-AD96-04435A821ECF}"/>
              </a:ext>
            </a:extLst>
          </p:cNvPr>
          <p:cNvSpPr>
            <a:spLocks noGrp="1"/>
          </p:cNvSpPr>
          <p:nvPr>
            <p:ph idx="1"/>
          </p:nvPr>
        </p:nvSpPr>
        <p:spPr>
          <a:xfrm>
            <a:off x="1097280" y="2448559"/>
            <a:ext cx="10058400" cy="4122837"/>
          </a:xfrm>
        </p:spPr>
        <p:txBody>
          <a:bodyPr>
            <a:normAutofit fontScale="92500" lnSpcReduction="10000"/>
          </a:bodyPr>
          <a:lstStyle/>
          <a:p>
            <a:pPr marL="201168" lvl="1" indent="0">
              <a:buNone/>
            </a:pPr>
            <a:r>
              <a:rPr lang="en-US" sz="2000" dirty="0"/>
              <a:t>Information becomes knowledge when it is understood in context and connected with other relevant information, making it actionable for solving problems or making decisions.</a:t>
            </a:r>
          </a:p>
          <a:p>
            <a:pPr marL="201168" lvl="1" indent="0">
              <a:buNone/>
            </a:pPr>
            <a:r>
              <a:rPr lang="en-US" sz="2000" dirty="0"/>
              <a:t>This transformation involves linking information with relationships, concepts, and business understanding (using frameworks like taxonomy), so users can see how different pieces of information relate to each other.</a:t>
            </a:r>
          </a:p>
          <a:p>
            <a:pPr marL="201168" lvl="1" indent="0">
              <a:buNone/>
            </a:pPr>
            <a:r>
              <a:rPr lang="en-US" sz="2000" dirty="0"/>
              <a:t>Knowledge is essentially “actionable information,” meaning it is not just understood but can be applied effectively in real situations, helping organizations improve performance and decision-making</a:t>
            </a:r>
          </a:p>
          <a:p>
            <a:pPr marL="658368" lvl="1" indent="-457200">
              <a:buFont typeface="+mj-lt"/>
              <a:buAutoNum type="arabicPeriod"/>
            </a:pPr>
            <a:r>
              <a:rPr lang="en-US" sz="2000" dirty="0"/>
              <a:t>Knowledge is gained when information is understood and applied</a:t>
            </a:r>
          </a:p>
          <a:p>
            <a:pPr marL="658368" lvl="1" indent="-457200">
              <a:buFont typeface="+mj-lt"/>
              <a:buAutoNum type="arabicPeriod"/>
            </a:pPr>
            <a:r>
              <a:rPr lang="en-US" sz="2000" dirty="0"/>
              <a:t>Involves experience, learning, and interpretation</a:t>
            </a:r>
          </a:p>
          <a:p>
            <a:pPr marL="658368" lvl="1" indent="-457200">
              <a:buFont typeface="+mj-lt"/>
              <a:buAutoNum type="arabicPeriod"/>
            </a:pPr>
            <a:r>
              <a:rPr lang="en-US" sz="2000" dirty="0"/>
              <a:t>Helps in making better decisions</a:t>
            </a:r>
          </a:p>
          <a:p>
            <a:pPr marL="658368" lvl="1" indent="-457200">
              <a:buFont typeface="+mj-lt"/>
              <a:buAutoNum type="arabicPeriod"/>
            </a:pPr>
            <a:r>
              <a:rPr lang="en-US" sz="2000" dirty="0"/>
              <a:t>Example:</a:t>
            </a:r>
          </a:p>
          <a:p>
            <a:pPr lvl="2"/>
            <a:r>
              <a:rPr lang="en-US" sz="2000" dirty="0"/>
              <a:t>Information: Sales dropped last month</a:t>
            </a:r>
          </a:p>
          <a:p>
            <a:pPr lvl="2"/>
            <a:r>
              <a:rPr lang="en-US" sz="2000" dirty="0"/>
              <a:t>Knowledge: Need to improve marketing strategy</a:t>
            </a:r>
            <a:endParaRPr lang="en-IN" sz="2000" dirty="0"/>
          </a:p>
        </p:txBody>
      </p:sp>
      <p:sp>
        <p:nvSpPr>
          <p:cNvPr id="4" name="Title 1">
            <a:extLst>
              <a:ext uri="{FF2B5EF4-FFF2-40B4-BE49-F238E27FC236}">
                <a16:creationId xmlns:a16="http://schemas.microsoft.com/office/drawing/2014/main" id="{8CCA642B-54AF-9E92-B650-E4726D3C3ED5}"/>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Information to Knowledge**</a:t>
            </a:r>
          </a:p>
        </p:txBody>
      </p:sp>
    </p:spTree>
    <p:extLst>
      <p:ext uri="{BB962C8B-B14F-4D97-AF65-F5344CB8AC3E}">
        <p14:creationId xmlns:p14="http://schemas.microsoft.com/office/powerpoint/2010/main" val="21147958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6EB95-1757-C6B8-D6D4-009D45189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638181-A32B-B270-9A09-6E56081B19FF}"/>
              </a:ext>
            </a:extLst>
          </p:cNvPr>
          <p:cNvSpPr>
            <a:spLocks noGrp="1"/>
          </p:cNvSpPr>
          <p:nvPr>
            <p:ph type="title"/>
          </p:nvPr>
        </p:nvSpPr>
        <p:spPr>
          <a:xfrm>
            <a:off x="1097280" y="286603"/>
            <a:ext cx="10058400" cy="1206917"/>
          </a:xfrm>
        </p:spPr>
        <p:txBody>
          <a:bodyPr anchor="ctr">
            <a:normAutofit/>
          </a:bodyPr>
          <a:lstStyle/>
          <a:p>
            <a:r>
              <a:rPr lang="en-US" dirty="0"/>
              <a:t>Value of Information in Decision Making</a:t>
            </a:r>
          </a:p>
        </p:txBody>
      </p:sp>
      <p:sp>
        <p:nvSpPr>
          <p:cNvPr id="3" name="Content Placeholder 2">
            <a:extLst>
              <a:ext uri="{FF2B5EF4-FFF2-40B4-BE49-F238E27FC236}">
                <a16:creationId xmlns:a16="http://schemas.microsoft.com/office/drawing/2014/main" id="{72989EBD-7A4C-A30A-5A0C-98B4B53BC0EF}"/>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Information is essential because it helps decision-makers understand market conditions, evaluate alternatives, and predict possible outcomes before taking action. </a:t>
            </a:r>
          </a:p>
          <a:p>
            <a:pPr marL="201168" lvl="1" indent="0">
              <a:buNone/>
            </a:pPr>
            <a:r>
              <a:rPr lang="en-US" sz="2000" dirty="0"/>
              <a:t>It also enables efficient use of resources, better risk management, and improved planning by providing accurate and timely insights about the business environment.</a:t>
            </a:r>
          </a:p>
          <a:p>
            <a:pPr marL="658368" lvl="1" indent="-457200">
              <a:buFont typeface="+mj-lt"/>
              <a:buAutoNum type="arabicPeriod"/>
            </a:pPr>
            <a:r>
              <a:rPr lang="en-US" sz="2000" dirty="0"/>
              <a:t>Helps managers make informed decisions</a:t>
            </a:r>
          </a:p>
          <a:p>
            <a:pPr marL="658368" lvl="1" indent="-457200">
              <a:buFont typeface="+mj-lt"/>
              <a:buAutoNum type="arabicPeriod"/>
            </a:pPr>
            <a:r>
              <a:rPr lang="en-US" sz="2000" dirty="0"/>
              <a:t>Reduces uncertainty and risk</a:t>
            </a:r>
          </a:p>
          <a:p>
            <a:pPr marL="658368" lvl="1" indent="-457200">
              <a:buFont typeface="+mj-lt"/>
              <a:buAutoNum type="arabicPeriod"/>
            </a:pPr>
            <a:r>
              <a:rPr lang="en-US" sz="2000" dirty="0"/>
              <a:t>Supports planning and forecasting</a:t>
            </a:r>
          </a:p>
          <a:p>
            <a:pPr marL="658368" lvl="1" indent="-457200">
              <a:buFont typeface="+mj-lt"/>
              <a:buAutoNum type="arabicPeriod"/>
            </a:pPr>
            <a:r>
              <a:rPr lang="en-US" sz="2000" dirty="0"/>
              <a:t>Improves efficiency and productivity</a:t>
            </a:r>
          </a:p>
          <a:p>
            <a:pPr marL="658368" lvl="1" indent="-457200">
              <a:buFont typeface="+mj-lt"/>
              <a:buAutoNum type="arabicPeriod"/>
            </a:pPr>
            <a:r>
              <a:rPr lang="en-US" sz="2000" dirty="0"/>
              <a:t>Provides competitive advantage</a:t>
            </a:r>
            <a:endParaRPr lang="en-IN" sz="2000" dirty="0"/>
          </a:p>
        </p:txBody>
      </p:sp>
      <p:sp>
        <p:nvSpPr>
          <p:cNvPr id="4" name="Title 1">
            <a:extLst>
              <a:ext uri="{FF2B5EF4-FFF2-40B4-BE49-F238E27FC236}">
                <a16:creationId xmlns:a16="http://schemas.microsoft.com/office/drawing/2014/main" id="{04D94944-F00A-90F4-7776-45286276BF27}"/>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Importance of Information**</a:t>
            </a:r>
          </a:p>
        </p:txBody>
      </p:sp>
    </p:spTree>
    <p:extLst>
      <p:ext uri="{BB962C8B-B14F-4D97-AF65-F5344CB8AC3E}">
        <p14:creationId xmlns:p14="http://schemas.microsoft.com/office/powerpoint/2010/main" val="3244299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7FBB6-F3DA-C44B-8613-5C83445CA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C0A55-F56C-4727-2C45-4BE583F387AD}"/>
              </a:ext>
            </a:extLst>
          </p:cNvPr>
          <p:cNvSpPr>
            <a:spLocks noGrp="1"/>
          </p:cNvSpPr>
          <p:nvPr>
            <p:ph type="title"/>
          </p:nvPr>
        </p:nvSpPr>
        <p:spPr>
          <a:xfrm>
            <a:off x="1097280" y="286603"/>
            <a:ext cx="10058400" cy="1206917"/>
          </a:xfrm>
        </p:spPr>
        <p:txBody>
          <a:bodyPr anchor="ctr">
            <a:normAutofit/>
          </a:bodyPr>
          <a:lstStyle/>
          <a:p>
            <a:r>
              <a:rPr lang="en-US" dirty="0"/>
              <a:t>Value of Information in Decision Making</a:t>
            </a:r>
          </a:p>
        </p:txBody>
      </p:sp>
      <p:sp>
        <p:nvSpPr>
          <p:cNvPr id="3" name="Content Placeholder 2">
            <a:extLst>
              <a:ext uri="{FF2B5EF4-FFF2-40B4-BE49-F238E27FC236}">
                <a16:creationId xmlns:a16="http://schemas.microsoft.com/office/drawing/2014/main" id="{092FC191-6F83-7A62-2673-5703488BE0DE}"/>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Information plays a key role in business decisions by guiding choices related to pricing, production, marketing, and investments based on real data and trends. </a:t>
            </a:r>
          </a:p>
          <a:p>
            <a:pPr marL="201168" lvl="1" indent="0">
              <a:buNone/>
            </a:pPr>
            <a:r>
              <a:rPr lang="en-US" sz="2000" dirty="0"/>
              <a:t>It helps managers and organizations make informed, logical decisions, reduce uncertainty, and improve overall performance and competitiveness.</a:t>
            </a:r>
          </a:p>
          <a:p>
            <a:pPr marL="658368" lvl="1" indent="-457200">
              <a:buFont typeface="+mj-lt"/>
              <a:buAutoNum type="arabicPeriod"/>
            </a:pPr>
            <a:r>
              <a:rPr lang="en-US" sz="2000" dirty="0"/>
              <a:t>Accurate information leads to better outcomes</a:t>
            </a:r>
          </a:p>
          <a:p>
            <a:pPr marL="658368" lvl="1" indent="-457200">
              <a:buFont typeface="+mj-lt"/>
              <a:buAutoNum type="arabicPeriod"/>
            </a:pPr>
            <a:r>
              <a:rPr lang="en-US" sz="2000" dirty="0"/>
              <a:t>Helps identify problems and opportunities</a:t>
            </a:r>
          </a:p>
          <a:p>
            <a:pPr marL="658368" lvl="1" indent="-457200">
              <a:buFont typeface="+mj-lt"/>
              <a:buAutoNum type="arabicPeriod"/>
            </a:pPr>
            <a:r>
              <a:rPr lang="en-US" sz="2000" dirty="0"/>
              <a:t>Enables strategic and operational decisions</a:t>
            </a:r>
          </a:p>
          <a:p>
            <a:pPr marL="658368" lvl="1" indent="-457200">
              <a:buFont typeface="+mj-lt"/>
              <a:buAutoNum type="arabicPeriod"/>
            </a:pPr>
            <a:r>
              <a:rPr lang="en-US" sz="2000" dirty="0"/>
              <a:t>Example:</a:t>
            </a:r>
          </a:p>
          <a:p>
            <a:pPr lvl="2"/>
            <a:r>
              <a:rPr lang="en-US" sz="2000" dirty="0"/>
              <a:t>Market data → Pricing decisions</a:t>
            </a:r>
          </a:p>
          <a:p>
            <a:pPr lvl="2"/>
            <a:r>
              <a:rPr lang="en-US" sz="2000" dirty="0"/>
              <a:t>Customer data → Marketing strategy</a:t>
            </a:r>
            <a:endParaRPr lang="en-IN" sz="2000" dirty="0"/>
          </a:p>
        </p:txBody>
      </p:sp>
      <p:sp>
        <p:nvSpPr>
          <p:cNvPr id="4" name="Title 1">
            <a:extLst>
              <a:ext uri="{FF2B5EF4-FFF2-40B4-BE49-F238E27FC236}">
                <a16:creationId xmlns:a16="http://schemas.microsoft.com/office/drawing/2014/main" id="{0D8A57B5-53CD-0E2B-7D0F-522905099013}"/>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Role in Business Decisions**</a:t>
            </a:r>
          </a:p>
        </p:txBody>
      </p:sp>
    </p:spTree>
    <p:extLst>
      <p:ext uri="{BB962C8B-B14F-4D97-AF65-F5344CB8AC3E}">
        <p14:creationId xmlns:p14="http://schemas.microsoft.com/office/powerpoint/2010/main" val="36266799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B362-ECAB-4B58-FFBE-0EDAFD7F1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DEAF2-1A0C-6F20-75A3-EC17ABD89581}"/>
              </a:ext>
            </a:extLst>
          </p:cNvPr>
          <p:cNvSpPr>
            <a:spLocks noGrp="1"/>
          </p:cNvSpPr>
          <p:nvPr>
            <p:ph type="title"/>
          </p:nvPr>
        </p:nvSpPr>
        <p:spPr/>
        <p:txBody>
          <a:bodyPr anchor="ctr">
            <a:normAutofit/>
          </a:bodyPr>
          <a:lstStyle/>
          <a:p>
            <a:r>
              <a:rPr lang="en-US" sz="4700" b="1" dirty="0"/>
              <a:t>Overview of Data-Driven Decision Making</a:t>
            </a:r>
            <a:endParaRPr lang="en-IN" sz="4700" b="1" dirty="0"/>
          </a:p>
        </p:txBody>
      </p:sp>
      <p:sp>
        <p:nvSpPr>
          <p:cNvPr id="3" name="Content Placeholder 2">
            <a:extLst>
              <a:ext uri="{FF2B5EF4-FFF2-40B4-BE49-F238E27FC236}">
                <a16:creationId xmlns:a16="http://schemas.microsoft.com/office/drawing/2014/main" id="{DB08078A-4C74-5730-5D32-ED9F6F18A67B}"/>
              </a:ext>
            </a:extLst>
          </p:cNvPr>
          <p:cNvSpPr>
            <a:spLocks noGrp="1"/>
          </p:cNvSpPr>
          <p:nvPr>
            <p:ph idx="1"/>
          </p:nvPr>
        </p:nvSpPr>
        <p:spPr/>
        <p:txBody>
          <a:bodyPr/>
          <a:lstStyle/>
          <a:p>
            <a:pPr marL="457200" indent="-457200">
              <a:buFont typeface="+mj-lt"/>
              <a:buAutoNum type="arabicPeriod"/>
            </a:pPr>
            <a:r>
              <a:rPr lang="en-US" dirty="0"/>
              <a:t>Data-Driven Decision Making (DDDM) is the process of making decisions based on data analysis rather than intuition</a:t>
            </a:r>
          </a:p>
          <a:p>
            <a:pPr marL="457200" indent="-457200">
              <a:buFont typeface="+mj-lt"/>
              <a:buAutoNum type="arabicPeriod"/>
            </a:pPr>
            <a:r>
              <a:rPr lang="en-US" dirty="0"/>
              <a:t>Uses facts, metrics, and analytics to guide business strategies</a:t>
            </a:r>
          </a:p>
          <a:p>
            <a:pPr marL="457200" indent="-457200">
              <a:buFont typeface="+mj-lt"/>
              <a:buAutoNum type="arabicPeriod"/>
            </a:pPr>
            <a:r>
              <a:rPr lang="en-US" dirty="0"/>
              <a:t>Helps organizations improve accuracy and reduce risks</a:t>
            </a:r>
          </a:p>
          <a:p>
            <a:pPr marL="457200" indent="-457200">
              <a:buFont typeface="+mj-lt"/>
              <a:buAutoNum type="arabicPeriod"/>
            </a:pPr>
            <a:r>
              <a:rPr lang="en-US" dirty="0"/>
              <a:t>Involves collecting, processing, analyzing, and interpreting data</a:t>
            </a:r>
          </a:p>
          <a:p>
            <a:pPr marL="457200" indent="-457200">
              <a:buFont typeface="+mj-lt"/>
              <a:buAutoNum type="arabicPeriod"/>
            </a:pPr>
            <a:r>
              <a:rPr lang="en-US" dirty="0"/>
              <a:t>Widely used in marketing, finance, operations, and management</a:t>
            </a:r>
            <a:endParaRPr lang="en-IN" dirty="0"/>
          </a:p>
        </p:txBody>
      </p:sp>
    </p:spTree>
    <p:extLst>
      <p:ext uri="{BB962C8B-B14F-4D97-AF65-F5344CB8AC3E}">
        <p14:creationId xmlns:p14="http://schemas.microsoft.com/office/powerpoint/2010/main" val="1107380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760D-6C2B-0B50-0EC9-08E2A9639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3CAD0-2E07-24A1-F61E-4D1EA2C7EF69}"/>
              </a:ext>
            </a:extLst>
          </p:cNvPr>
          <p:cNvSpPr>
            <a:spLocks noGrp="1"/>
          </p:cNvSpPr>
          <p:nvPr>
            <p:ph type="title"/>
          </p:nvPr>
        </p:nvSpPr>
        <p:spPr>
          <a:xfrm>
            <a:off x="1097280" y="286603"/>
            <a:ext cx="10058400" cy="1206917"/>
          </a:xfrm>
        </p:spPr>
        <p:txBody>
          <a:bodyPr anchor="ctr">
            <a:normAutofit fontScale="90000"/>
          </a:bodyPr>
          <a:lstStyle/>
          <a:p>
            <a:r>
              <a:rPr lang="en-US" dirty="0"/>
              <a:t>Principles of Data-Driven Decision Making</a:t>
            </a:r>
          </a:p>
        </p:txBody>
      </p:sp>
      <p:sp>
        <p:nvSpPr>
          <p:cNvPr id="3" name="Content Placeholder 2">
            <a:extLst>
              <a:ext uri="{FF2B5EF4-FFF2-40B4-BE49-F238E27FC236}">
                <a16:creationId xmlns:a16="http://schemas.microsoft.com/office/drawing/2014/main" id="{5C300966-B2E4-E7EA-9791-1FA886E314D9}"/>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Core principles focus on using accurate, relevant, and high-quality data to guide every business decision instead of relying on intuition or guesswork.</a:t>
            </a:r>
          </a:p>
          <a:p>
            <a:pPr marL="201168" lvl="1" indent="0">
              <a:buNone/>
            </a:pPr>
            <a:r>
              <a:rPr lang="en-US" sz="2000" dirty="0"/>
              <a:t>They include collecting the right data, ensuring its quality, analyzing it properly, and using insights to take evidence-based actions, which reduces risk and improves decision accuracy.</a:t>
            </a:r>
          </a:p>
          <a:p>
            <a:pPr marL="658368" lvl="1" indent="-457200">
              <a:buFont typeface="+mj-lt"/>
              <a:buAutoNum type="arabicPeriod"/>
            </a:pPr>
            <a:r>
              <a:rPr lang="en-US" sz="2000" dirty="0"/>
              <a:t>Decisions should be based on reliable and relevant data</a:t>
            </a:r>
          </a:p>
          <a:p>
            <a:pPr marL="658368" lvl="1" indent="-457200">
              <a:buFont typeface="+mj-lt"/>
              <a:buAutoNum type="arabicPeriod"/>
            </a:pPr>
            <a:r>
              <a:rPr lang="en-US" sz="2000" dirty="0"/>
              <a:t>Data must be accurate, consistent, and timely</a:t>
            </a:r>
          </a:p>
          <a:p>
            <a:pPr marL="658368" lvl="1" indent="-457200">
              <a:buFont typeface="+mj-lt"/>
              <a:buAutoNum type="arabicPeriod"/>
            </a:pPr>
            <a:r>
              <a:rPr lang="en-US" sz="2000" dirty="0"/>
              <a:t>Use analytics tools and techniques to interpret data</a:t>
            </a:r>
          </a:p>
          <a:p>
            <a:pPr marL="658368" lvl="1" indent="-457200">
              <a:buFont typeface="+mj-lt"/>
              <a:buAutoNum type="arabicPeriod"/>
            </a:pPr>
            <a:r>
              <a:rPr lang="en-US" sz="2000" dirty="0"/>
              <a:t>Combine data insights with domain knowledge</a:t>
            </a:r>
          </a:p>
          <a:p>
            <a:pPr marL="658368" lvl="1" indent="-457200">
              <a:buFont typeface="+mj-lt"/>
              <a:buAutoNum type="arabicPeriod"/>
            </a:pPr>
            <a:r>
              <a:rPr lang="en-US" sz="2000" dirty="0"/>
              <a:t>Ensure data governance and quality control</a:t>
            </a:r>
            <a:endParaRPr lang="en-IN" sz="2000" dirty="0"/>
          </a:p>
        </p:txBody>
      </p:sp>
      <p:sp>
        <p:nvSpPr>
          <p:cNvPr id="4" name="Title 1">
            <a:extLst>
              <a:ext uri="{FF2B5EF4-FFF2-40B4-BE49-F238E27FC236}">
                <a16:creationId xmlns:a16="http://schemas.microsoft.com/office/drawing/2014/main" id="{C12AFD64-80EF-BBBE-8D09-96AB598474D3}"/>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Core Principles**</a:t>
            </a:r>
          </a:p>
        </p:txBody>
      </p:sp>
    </p:spTree>
    <p:extLst>
      <p:ext uri="{BB962C8B-B14F-4D97-AF65-F5344CB8AC3E}">
        <p14:creationId xmlns:p14="http://schemas.microsoft.com/office/powerpoint/2010/main" val="24995596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6D594-A0D9-576B-7E70-E32BA9BF6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FD86E-FFF0-3780-AAF0-DB6894616F0F}"/>
              </a:ext>
            </a:extLst>
          </p:cNvPr>
          <p:cNvSpPr>
            <a:spLocks noGrp="1"/>
          </p:cNvSpPr>
          <p:nvPr>
            <p:ph type="title"/>
          </p:nvPr>
        </p:nvSpPr>
        <p:spPr>
          <a:xfrm>
            <a:off x="1097280" y="286603"/>
            <a:ext cx="10058400" cy="1206917"/>
          </a:xfrm>
        </p:spPr>
        <p:txBody>
          <a:bodyPr anchor="ctr">
            <a:normAutofit fontScale="90000"/>
          </a:bodyPr>
          <a:lstStyle/>
          <a:p>
            <a:r>
              <a:rPr lang="en-US" dirty="0"/>
              <a:t>Principles of Data-Driven Decision Making</a:t>
            </a:r>
          </a:p>
        </p:txBody>
      </p:sp>
      <p:sp>
        <p:nvSpPr>
          <p:cNvPr id="3" name="Content Placeholder 2">
            <a:extLst>
              <a:ext uri="{FF2B5EF4-FFF2-40B4-BE49-F238E27FC236}">
                <a16:creationId xmlns:a16="http://schemas.microsoft.com/office/drawing/2014/main" id="{B4BDC571-D9BB-2B1C-C793-3C14BDC35EF7}"/>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A data culture means creating an environment where data is accessible, trusted, and regularly used by all employees for decision-making and improvement.</a:t>
            </a:r>
          </a:p>
          <a:p>
            <a:pPr marL="201168" lvl="1" indent="0">
              <a:buNone/>
            </a:pPr>
            <a:r>
              <a:rPr lang="en-US" sz="2000" dirty="0"/>
              <a:t>Data strategy is the long-term plan that defines how data is managed and used, ensuring alignment with business goals while promoting data literacy, governance, and organization-wide adoption of data-driven thinking.</a:t>
            </a:r>
          </a:p>
          <a:p>
            <a:pPr marL="658368" lvl="1" indent="-457200">
              <a:buFont typeface="+mj-lt"/>
              <a:buAutoNum type="arabicPeriod"/>
            </a:pPr>
            <a:r>
              <a:rPr lang="en-US" sz="2000" dirty="0"/>
              <a:t>Organizations should promote a data-driven culture</a:t>
            </a:r>
          </a:p>
          <a:p>
            <a:pPr marL="658368" lvl="1" indent="-457200">
              <a:buFont typeface="+mj-lt"/>
              <a:buAutoNum type="arabicPeriod"/>
            </a:pPr>
            <a:r>
              <a:rPr lang="en-US" sz="2000" dirty="0"/>
              <a:t>Encourage employees to use data in daily decisions</a:t>
            </a:r>
          </a:p>
          <a:p>
            <a:pPr marL="658368" lvl="1" indent="-457200">
              <a:buFont typeface="+mj-lt"/>
              <a:buAutoNum type="arabicPeriod"/>
            </a:pPr>
            <a:r>
              <a:rPr lang="en-US" sz="2000" dirty="0"/>
              <a:t>Align data strategy with business goals</a:t>
            </a:r>
          </a:p>
          <a:p>
            <a:pPr marL="658368" lvl="1" indent="-457200">
              <a:buFont typeface="+mj-lt"/>
              <a:buAutoNum type="arabicPeriod"/>
            </a:pPr>
            <a:r>
              <a:rPr lang="en-US" sz="2000" dirty="0"/>
              <a:t>Invest in tools, technologies, and training</a:t>
            </a:r>
          </a:p>
          <a:p>
            <a:pPr marL="658368" lvl="1" indent="-457200">
              <a:buFont typeface="+mj-lt"/>
              <a:buAutoNum type="arabicPeriod"/>
            </a:pPr>
            <a:r>
              <a:rPr lang="en-US" sz="2000" dirty="0"/>
              <a:t>Continuous monitoring and improvement of data usage</a:t>
            </a:r>
            <a:endParaRPr lang="en-IN" sz="2000" dirty="0"/>
          </a:p>
        </p:txBody>
      </p:sp>
      <p:sp>
        <p:nvSpPr>
          <p:cNvPr id="4" name="Title 1">
            <a:extLst>
              <a:ext uri="{FF2B5EF4-FFF2-40B4-BE49-F238E27FC236}">
                <a16:creationId xmlns:a16="http://schemas.microsoft.com/office/drawing/2014/main" id="{5F10EFDE-EA02-D027-19A9-F59DA33C3E68}"/>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Data Culture &amp; Strategy</a:t>
            </a:r>
          </a:p>
        </p:txBody>
      </p:sp>
    </p:spTree>
    <p:extLst>
      <p:ext uri="{BB962C8B-B14F-4D97-AF65-F5344CB8AC3E}">
        <p14:creationId xmlns:p14="http://schemas.microsoft.com/office/powerpoint/2010/main" val="3029512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07293-6D46-108F-7527-4AE6CBBE3C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23F42-9795-9587-B836-B3573D42013A}"/>
              </a:ext>
            </a:extLst>
          </p:cNvPr>
          <p:cNvSpPr>
            <a:spLocks noGrp="1"/>
          </p:cNvSpPr>
          <p:nvPr>
            <p:ph type="title"/>
          </p:nvPr>
        </p:nvSpPr>
        <p:spPr>
          <a:xfrm>
            <a:off x="1097280" y="286603"/>
            <a:ext cx="10058400" cy="1206917"/>
          </a:xfrm>
        </p:spPr>
        <p:txBody>
          <a:bodyPr anchor="ctr">
            <a:normAutofit/>
          </a:bodyPr>
          <a:lstStyle/>
          <a:p>
            <a:r>
              <a:rPr lang="en-US" dirty="0"/>
              <a:t>Benefits of Using Data for Decisions</a:t>
            </a:r>
          </a:p>
        </p:txBody>
      </p:sp>
      <p:sp>
        <p:nvSpPr>
          <p:cNvPr id="3" name="Content Placeholder 2">
            <a:extLst>
              <a:ext uri="{FF2B5EF4-FFF2-40B4-BE49-F238E27FC236}">
                <a16:creationId xmlns:a16="http://schemas.microsoft.com/office/drawing/2014/main" id="{D79FAC43-3C9D-0E46-FC3D-998B9646029C}"/>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Using data in decision-making improves business performance by enabling objective, evidence-based decisions, reducing errors and bias compared to intuition-based choices. </a:t>
            </a:r>
          </a:p>
          <a:p>
            <a:pPr marL="201168" lvl="1" indent="0">
              <a:buNone/>
            </a:pPr>
            <a:r>
              <a:rPr lang="en-US" sz="2000" dirty="0"/>
              <a:t>It also increases efficiency, productivity, and control over operations, while helping organization identify opportunities, optimize processes, and drive growth and profitability. </a:t>
            </a:r>
          </a:p>
          <a:p>
            <a:pPr marL="658368" lvl="1" indent="-457200">
              <a:buFont typeface="+mj-lt"/>
              <a:buAutoNum type="arabicPeriod"/>
            </a:pPr>
            <a:r>
              <a:rPr lang="en-US" sz="2000" dirty="0"/>
              <a:t>Improves decision accuracy and reliability</a:t>
            </a:r>
          </a:p>
          <a:p>
            <a:pPr marL="658368" lvl="1" indent="-457200">
              <a:buFont typeface="+mj-lt"/>
              <a:buAutoNum type="arabicPeriod"/>
            </a:pPr>
            <a:r>
              <a:rPr lang="en-US" sz="2000" dirty="0"/>
              <a:t>Reduces uncertainty and business risks</a:t>
            </a:r>
          </a:p>
          <a:p>
            <a:pPr marL="658368" lvl="1" indent="-457200">
              <a:buFont typeface="+mj-lt"/>
              <a:buAutoNum type="arabicPeriod"/>
            </a:pPr>
            <a:r>
              <a:rPr lang="en-US" sz="2000" dirty="0"/>
              <a:t>Enhances operational efficiency</a:t>
            </a:r>
          </a:p>
          <a:p>
            <a:pPr marL="658368" lvl="1" indent="-457200">
              <a:buFont typeface="+mj-lt"/>
              <a:buAutoNum type="arabicPeriod"/>
            </a:pPr>
            <a:r>
              <a:rPr lang="en-US" sz="2000" dirty="0"/>
              <a:t>Identifies trends, patterns, and opportunities</a:t>
            </a:r>
          </a:p>
          <a:p>
            <a:pPr marL="658368" lvl="1" indent="-457200">
              <a:buFont typeface="+mj-lt"/>
              <a:buAutoNum type="arabicPeriod"/>
            </a:pPr>
            <a:r>
              <a:rPr lang="en-US" sz="2000" dirty="0"/>
              <a:t>Supports better planning and forecasting</a:t>
            </a:r>
            <a:endParaRPr lang="en-IN" sz="2000" dirty="0"/>
          </a:p>
        </p:txBody>
      </p:sp>
      <p:sp>
        <p:nvSpPr>
          <p:cNvPr id="4" name="Title 1">
            <a:extLst>
              <a:ext uri="{FF2B5EF4-FFF2-40B4-BE49-F238E27FC236}">
                <a16:creationId xmlns:a16="http://schemas.microsoft.com/office/drawing/2014/main" id="{E3D213DA-05F9-5C9A-675B-AF045CD78975}"/>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Business Advantages**</a:t>
            </a:r>
          </a:p>
        </p:txBody>
      </p:sp>
    </p:spTree>
    <p:extLst>
      <p:ext uri="{BB962C8B-B14F-4D97-AF65-F5344CB8AC3E}">
        <p14:creationId xmlns:p14="http://schemas.microsoft.com/office/powerpoint/2010/main" val="29943961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C5BB1-7663-AF7F-CAFD-8005C6FA6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7D811-D9BA-56BC-7E1E-8F930B0E6DD6}"/>
              </a:ext>
            </a:extLst>
          </p:cNvPr>
          <p:cNvSpPr>
            <a:spLocks noGrp="1"/>
          </p:cNvSpPr>
          <p:nvPr>
            <p:ph type="title"/>
          </p:nvPr>
        </p:nvSpPr>
        <p:spPr>
          <a:xfrm>
            <a:off x="1097280" y="286603"/>
            <a:ext cx="10058400" cy="1206917"/>
          </a:xfrm>
        </p:spPr>
        <p:txBody>
          <a:bodyPr anchor="ctr">
            <a:normAutofit/>
          </a:bodyPr>
          <a:lstStyle/>
          <a:p>
            <a:r>
              <a:rPr lang="en-US" dirty="0"/>
              <a:t>Benefits of Using Data for Decisions</a:t>
            </a:r>
          </a:p>
        </p:txBody>
      </p:sp>
      <p:sp>
        <p:nvSpPr>
          <p:cNvPr id="3" name="Content Placeholder 2">
            <a:extLst>
              <a:ext uri="{FF2B5EF4-FFF2-40B4-BE49-F238E27FC236}">
                <a16:creationId xmlns:a16="http://schemas.microsoft.com/office/drawing/2014/main" id="{7120E301-5B72-36B7-CB08-75BFF5821D0F}"/>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Data helps businesses gain a competitive advantage by allowing them to respond quickly to market changes, identify trends, and make faster, smarter decisions.</a:t>
            </a:r>
          </a:p>
          <a:p>
            <a:pPr marL="201168" lvl="1" indent="0">
              <a:buNone/>
            </a:pPr>
            <a:r>
              <a:rPr lang="en-US" sz="2000" dirty="0"/>
              <a:t>It also improves customer understanding by analyzing behavior, preferences, and needs, enabling personalized services, better customer experience, and higher retention rates.</a:t>
            </a:r>
          </a:p>
          <a:p>
            <a:pPr marL="658368" lvl="1" indent="-457200">
              <a:buFont typeface="+mj-lt"/>
              <a:buAutoNum type="arabicPeriod"/>
            </a:pPr>
            <a:r>
              <a:rPr lang="en-US" sz="2000" dirty="0"/>
              <a:t>Provides competitive advantage in the market</a:t>
            </a:r>
          </a:p>
          <a:p>
            <a:pPr marL="658368" lvl="1" indent="-457200">
              <a:buFont typeface="+mj-lt"/>
              <a:buAutoNum type="arabicPeriod"/>
            </a:pPr>
            <a:r>
              <a:rPr lang="en-US" sz="2000" dirty="0"/>
              <a:t>Helps understand customer behavior and preferences</a:t>
            </a:r>
          </a:p>
          <a:p>
            <a:pPr marL="658368" lvl="1" indent="-457200">
              <a:buFont typeface="+mj-lt"/>
              <a:buAutoNum type="arabicPeriod"/>
            </a:pPr>
            <a:r>
              <a:rPr lang="en-US" sz="2000" dirty="0"/>
              <a:t>Enables personalized services and marketing</a:t>
            </a:r>
          </a:p>
          <a:p>
            <a:pPr marL="658368" lvl="1" indent="-457200">
              <a:buFont typeface="+mj-lt"/>
              <a:buAutoNum type="arabicPeriod"/>
            </a:pPr>
            <a:r>
              <a:rPr lang="en-US" sz="2000" dirty="0"/>
              <a:t>Improves customer satisfaction and retention</a:t>
            </a:r>
          </a:p>
          <a:p>
            <a:pPr marL="658368" lvl="1" indent="-457200">
              <a:buFont typeface="+mj-lt"/>
              <a:buAutoNum type="arabicPeriod"/>
            </a:pPr>
            <a:r>
              <a:rPr lang="en-US" sz="2000" dirty="0"/>
              <a:t>Supports innovation and business growth</a:t>
            </a:r>
            <a:endParaRPr lang="en-IN" sz="2000" dirty="0"/>
          </a:p>
        </p:txBody>
      </p:sp>
      <p:sp>
        <p:nvSpPr>
          <p:cNvPr id="4" name="Title 1">
            <a:extLst>
              <a:ext uri="{FF2B5EF4-FFF2-40B4-BE49-F238E27FC236}">
                <a16:creationId xmlns:a16="http://schemas.microsoft.com/office/drawing/2014/main" id="{02B8FAC8-34BD-A267-BCD1-9DC81C2026B3}"/>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Competitive &amp; Customer Benefits**</a:t>
            </a:r>
          </a:p>
        </p:txBody>
      </p:sp>
    </p:spTree>
    <p:extLst>
      <p:ext uri="{BB962C8B-B14F-4D97-AF65-F5344CB8AC3E}">
        <p14:creationId xmlns:p14="http://schemas.microsoft.com/office/powerpoint/2010/main" val="13469138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D0C95-C684-1042-9E4C-BCD3E3887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B4B0E-B00B-9A29-9CE5-B6E18B8B241A}"/>
              </a:ext>
            </a:extLst>
          </p:cNvPr>
          <p:cNvSpPr>
            <a:spLocks noGrp="1"/>
          </p:cNvSpPr>
          <p:nvPr>
            <p:ph type="title"/>
          </p:nvPr>
        </p:nvSpPr>
        <p:spPr>
          <a:xfrm>
            <a:off x="1097280" y="286603"/>
            <a:ext cx="10058400" cy="1206917"/>
          </a:xfrm>
        </p:spPr>
        <p:txBody>
          <a:bodyPr anchor="ctr">
            <a:normAutofit/>
          </a:bodyPr>
          <a:lstStyle/>
          <a:p>
            <a:r>
              <a:rPr lang="en-US" dirty="0"/>
              <a:t>Steps in the Data-Driven Decision Process</a:t>
            </a:r>
          </a:p>
        </p:txBody>
      </p:sp>
      <p:sp>
        <p:nvSpPr>
          <p:cNvPr id="3" name="Content Placeholder 2">
            <a:extLst>
              <a:ext uri="{FF2B5EF4-FFF2-40B4-BE49-F238E27FC236}">
                <a16:creationId xmlns:a16="http://schemas.microsoft.com/office/drawing/2014/main" id="{D3B47B90-0D2E-D0D8-8780-554A86D010AF}"/>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The process begins by clearly defining the business problem or question and setting specific goals, so the analysis is focused and relevant to organizational objectives.</a:t>
            </a:r>
          </a:p>
          <a:p>
            <a:pPr marL="201168" lvl="1" indent="0">
              <a:buNone/>
            </a:pPr>
            <a:r>
              <a:rPr lang="en-US" sz="2000" dirty="0"/>
              <a:t>After that, organizations identify and collect the right type of data (qualitative or quantitative) that best supports those goals, ensuring the data is useful and aligned with the decision-making purpose.</a:t>
            </a:r>
          </a:p>
          <a:p>
            <a:pPr marL="658368" lvl="1" indent="-457200">
              <a:buFont typeface="+mj-lt"/>
              <a:buAutoNum type="arabicPeriod"/>
            </a:pPr>
            <a:r>
              <a:rPr lang="en-US" sz="2000" dirty="0"/>
              <a:t>Define the problem or objective clearly</a:t>
            </a:r>
          </a:p>
          <a:p>
            <a:pPr marL="658368" lvl="1" indent="-457200">
              <a:buFont typeface="+mj-lt"/>
              <a:buAutoNum type="arabicPeriod"/>
            </a:pPr>
            <a:r>
              <a:rPr lang="en-US" sz="2000" dirty="0"/>
              <a:t>Collect relevant data from reliable sources</a:t>
            </a:r>
          </a:p>
          <a:p>
            <a:pPr marL="658368" lvl="1" indent="-457200">
              <a:buFont typeface="+mj-lt"/>
              <a:buAutoNum type="arabicPeriod"/>
            </a:pPr>
            <a:r>
              <a:rPr lang="en-US" sz="2000" dirty="0"/>
              <a:t>Ensure data quality and completeness</a:t>
            </a:r>
          </a:p>
          <a:p>
            <a:pPr marL="658368" lvl="1" indent="-457200">
              <a:buFont typeface="+mj-lt"/>
              <a:buAutoNum type="arabicPeriod"/>
            </a:pPr>
            <a:r>
              <a:rPr lang="en-US" sz="2000" dirty="0"/>
              <a:t>Organize and prepare data for analysis</a:t>
            </a:r>
            <a:endParaRPr lang="en-IN" sz="2000" dirty="0"/>
          </a:p>
        </p:txBody>
      </p:sp>
      <p:sp>
        <p:nvSpPr>
          <p:cNvPr id="4" name="Title 1">
            <a:extLst>
              <a:ext uri="{FF2B5EF4-FFF2-40B4-BE49-F238E27FC236}">
                <a16:creationId xmlns:a16="http://schemas.microsoft.com/office/drawing/2014/main" id="{EE7C5D99-DE08-A49C-B14F-6F9301399D78}"/>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Initial Steps**</a:t>
            </a:r>
          </a:p>
        </p:txBody>
      </p:sp>
    </p:spTree>
    <p:extLst>
      <p:ext uri="{BB962C8B-B14F-4D97-AF65-F5344CB8AC3E}">
        <p14:creationId xmlns:p14="http://schemas.microsoft.com/office/powerpoint/2010/main" val="19223450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D43D5-B64B-92C1-6B42-33DCFF18E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9203F-9D09-29E6-FCC8-9B8E23B77A56}"/>
              </a:ext>
            </a:extLst>
          </p:cNvPr>
          <p:cNvSpPr>
            <a:spLocks noGrp="1"/>
          </p:cNvSpPr>
          <p:nvPr>
            <p:ph type="title"/>
          </p:nvPr>
        </p:nvSpPr>
        <p:spPr>
          <a:xfrm>
            <a:off x="1097280" y="286603"/>
            <a:ext cx="10058400" cy="1206917"/>
          </a:xfrm>
        </p:spPr>
        <p:txBody>
          <a:bodyPr anchor="ctr">
            <a:normAutofit/>
          </a:bodyPr>
          <a:lstStyle/>
          <a:p>
            <a:r>
              <a:rPr lang="en-US" dirty="0"/>
              <a:t>Steps in the Data-Driven Decision Process</a:t>
            </a:r>
          </a:p>
        </p:txBody>
      </p:sp>
      <p:sp>
        <p:nvSpPr>
          <p:cNvPr id="3" name="Content Placeholder 2">
            <a:extLst>
              <a:ext uri="{FF2B5EF4-FFF2-40B4-BE49-F238E27FC236}">
                <a16:creationId xmlns:a16="http://schemas.microsoft.com/office/drawing/2014/main" id="{8CB24FB0-AD58-7E51-057D-16A69A7B140F}"/>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Once data is collected, it is analyzed to extract insights, patterns, and trends, helping to understand what the data is indicating about the problem or opportunity.</a:t>
            </a:r>
          </a:p>
          <a:p>
            <a:pPr marL="201168" lvl="1" indent="0">
              <a:buNone/>
            </a:pPr>
            <a:r>
              <a:rPr lang="en-US" sz="2000" dirty="0"/>
              <a:t>Finally, these insights are used to make data-driven decisions and take actions, ensuring outcomes are based on evidence and can be evaluated for continuous improvement.</a:t>
            </a:r>
          </a:p>
          <a:p>
            <a:pPr marL="658368" lvl="1" indent="-457200">
              <a:buFont typeface="+mj-lt"/>
              <a:buAutoNum type="arabicPeriod"/>
            </a:pPr>
            <a:r>
              <a:rPr lang="en-US" sz="2000" dirty="0"/>
              <a:t>Analyze data using statistical or analytical tools</a:t>
            </a:r>
          </a:p>
          <a:p>
            <a:pPr marL="658368" lvl="1" indent="-457200">
              <a:buFont typeface="+mj-lt"/>
              <a:buAutoNum type="arabicPeriod"/>
            </a:pPr>
            <a:r>
              <a:rPr lang="en-US" sz="2000" dirty="0"/>
              <a:t>Interpret results to generate insights</a:t>
            </a:r>
          </a:p>
          <a:p>
            <a:pPr marL="658368" lvl="1" indent="-457200">
              <a:buFont typeface="+mj-lt"/>
              <a:buAutoNum type="arabicPeriod"/>
            </a:pPr>
            <a:r>
              <a:rPr lang="en-US" sz="2000" dirty="0"/>
              <a:t>Make decisions based on insights</a:t>
            </a:r>
          </a:p>
          <a:p>
            <a:pPr marL="658368" lvl="1" indent="-457200">
              <a:buFont typeface="+mj-lt"/>
              <a:buAutoNum type="arabicPeriod"/>
            </a:pPr>
            <a:r>
              <a:rPr lang="en-US" sz="2000" dirty="0"/>
              <a:t>Implement the decision and monitor outcomes</a:t>
            </a:r>
          </a:p>
          <a:p>
            <a:pPr marL="658368" lvl="1" indent="-457200">
              <a:buFont typeface="+mj-lt"/>
              <a:buAutoNum type="arabicPeriod"/>
            </a:pPr>
            <a:r>
              <a:rPr lang="en-US" sz="2000" dirty="0"/>
              <a:t>Continuously refine based on feedback</a:t>
            </a:r>
            <a:endParaRPr lang="en-IN" sz="2000" dirty="0"/>
          </a:p>
        </p:txBody>
      </p:sp>
      <p:sp>
        <p:nvSpPr>
          <p:cNvPr id="4" name="Title 1">
            <a:extLst>
              <a:ext uri="{FF2B5EF4-FFF2-40B4-BE49-F238E27FC236}">
                <a16:creationId xmlns:a16="http://schemas.microsoft.com/office/drawing/2014/main" id="{697AD8E4-3162-824D-2434-9ACBC08C7AC8}"/>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Analysis to Decision**</a:t>
            </a:r>
          </a:p>
        </p:txBody>
      </p:sp>
    </p:spTree>
    <p:extLst>
      <p:ext uri="{BB962C8B-B14F-4D97-AF65-F5344CB8AC3E}">
        <p14:creationId xmlns:p14="http://schemas.microsoft.com/office/powerpoint/2010/main" val="34251378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99CC8-DE02-74BA-D82F-AB9655A89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6E466-EA8E-16C7-26CF-FC28500ED6B0}"/>
              </a:ext>
            </a:extLst>
          </p:cNvPr>
          <p:cNvSpPr>
            <a:spLocks noGrp="1"/>
          </p:cNvSpPr>
          <p:nvPr>
            <p:ph type="title"/>
          </p:nvPr>
        </p:nvSpPr>
        <p:spPr>
          <a:xfrm>
            <a:off x="1097280" y="286603"/>
            <a:ext cx="10058400" cy="1206917"/>
          </a:xfrm>
        </p:spPr>
        <p:txBody>
          <a:bodyPr anchor="ctr">
            <a:normAutofit fontScale="90000"/>
          </a:bodyPr>
          <a:lstStyle/>
          <a:p>
            <a:r>
              <a:rPr lang="en-US" dirty="0"/>
              <a:t>Challenges and Pitfalls in Data-Driven Approaches</a:t>
            </a:r>
          </a:p>
        </p:txBody>
      </p:sp>
      <p:sp>
        <p:nvSpPr>
          <p:cNvPr id="3" name="Content Placeholder 2">
            <a:extLst>
              <a:ext uri="{FF2B5EF4-FFF2-40B4-BE49-F238E27FC236}">
                <a16:creationId xmlns:a16="http://schemas.microsoft.com/office/drawing/2014/main" id="{5E42C655-4F81-5F28-6927-4456A8CAA09B}"/>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One major challenge is ensuring data quality and reliability, as poor or irrelevant data can completely undermine decision-making and lead to incorrect outcomes.</a:t>
            </a:r>
          </a:p>
          <a:p>
            <a:pPr marL="201168" lvl="1" indent="0">
              <a:buNone/>
            </a:pPr>
            <a:r>
              <a:rPr lang="en-US" sz="2000" dirty="0"/>
              <a:t>Another challenge is the lack of proper skills and culture, where employees may not have enough data literacy or organizations may resist adopting a data-driven mindset, making it difficult to fully use data effectively.</a:t>
            </a:r>
          </a:p>
          <a:p>
            <a:pPr marL="658368" lvl="1" indent="-457200">
              <a:buFont typeface="+mj-lt"/>
              <a:buAutoNum type="arabicPeriod"/>
            </a:pPr>
            <a:r>
              <a:rPr lang="en-US" sz="2000" dirty="0"/>
              <a:t>Poor data quality (inaccurate or incomplete data)</a:t>
            </a:r>
          </a:p>
          <a:p>
            <a:pPr marL="658368" lvl="1" indent="-457200">
              <a:buFont typeface="+mj-lt"/>
              <a:buAutoNum type="arabicPeriod"/>
            </a:pPr>
            <a:r>
              <a:rPr lang="en-US" sz="2000" dirty="0"/>
              <a:t>Lack of proper tools or skilled professionals</a:t>
            </a:r>
          </a:p>
          <a:p>
            <a:pPr marL="658368" lvl="1" indent="-457200">
              <a:buFont typeface="+mj-lt"/>
              <a:buAutoNum type="arabicPeriod"/>
            </a:pPr>
            <a:r>
              <a:rPr lang="en-US" sz="2000" dirty="0"/>
              <a:t>Data silos across departments</a:t>
            </a:r>
          </a:p>
          <a:p>
            <a:pPr marL="658368" lvl="1" indent="-457200">
              <a:buFont typeface="+mj-lt"/>
              <a:buAutoNum type="arabicPeriod"/>
            </a:pPr>
            <a:r>
              <a:rPr lang="en-US" sz="2000" dirty="0"/>
              <a:t>Privacy and security concerns</a:t>
            </a:r>
          </a:p>
          <a:p>
            <a:pPr marL="658368" lvl="1" indent="-457200">
              <a:buFont typeface="+mj-lt"/>
              <a:buAutoNum type="arabicPeriod"/>
            </a:pPr>
            <a:r>
              <a:rPr lang="en-US" sz="2000" dirty="0"/>
              <a:t>Over-reliance on data without context</a:t>
            </a:r>
            <a:endParaRPr lang="en-IN" sz="2000" dirty="0"/>
          </a:p>
        </p:txBody>
      </p:sp>
      <p:sp>
        <p:nvSpPr>
          <p:cNvPr id="4" name="Title 1">
            <a:extLst>
              <a:ext uri="{FF2B5EF4-FFF2-40B4-BE49-F238E27FC236}">
                <a16:creationId xmlns:a16="http://schemas.microsoft.com/office/drawing/2014/main" id="{B566F1DD-537C-5C14-A145-BC0BE104D020}"/>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Common Challenges**</a:t>
            </a:r>
          </a:p>
        </p:txBody>
      </p:sp>
    </p:spTree>
    <p:extLst>
      <p:ext uri="{BB962C8B-B14F-4D97-AF65-F5344CB8AC3E}">
        <p14:creationId xmlns:p14="http://schemas.microsoft.com/office/powerpoint/2010/main" val="41003259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5729F-23FB-D079-D305-421703CF3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7CBC3-DAD6-9621-1DFA-C5322B494C18}"/>
              </a:ext>
            </a:extLst>
          </p:cNvPr>
          <p:cNvSpPr>
            <a:spLocks noGrp="1"/>
          </p:cNvSpPr>
          <p:nvPr>
            <p:ph type="title"/>
          </p:nvPr>
        </p:nvSpPr>
        <p:spPr>
          <a:xfrm>
            <a:off x="1097280" y="286603"/>
            <a:ext cx="10058400" cy="1206917"/>
          </a:xfrm>
        </p:spPr>
        <p:txBody>
          <a:bodyPr anchor="ctr">
            <a:normAutofit fontScale="90000"/>
          </a:bodyPr>
          <a:lstStyle/>
          <a:p>
            <a:r>
              <a:rPr lang="en-US" dirty="0"/>
              <a:t>Challenges and Pitfalls in Data-Driven Approaches</a:t>
            </a:r>
          </a:p>
        </p:txBody>
      </p:sp>
      <p:sp>
        <p:nvSpPr>
          <p:cNvPr id="3" name="Content Placeholder 2">
            <a:extLst>
              <a:ext uri="{FF2B5EF4-FFF2-40B4-BE49-F238E27FC236}">
                <a16:creationId xmlns:a16="http://schemas.microsoft.com/office/drawing/2014/main" id="{9E2ED1EB-EA61-E48F-5BC2-44ABD7333820}"/>
              </a:ext>
            </a:extLst>
          </p:cNvPr>
          <p:cNvSpPr>
            <a:spLocks noGrp="1"/>
          </p:cNvSpPr>
          <p:nvPr>
            <p:ph idx="1"/>
          </p:nvPr>
        </p:nvSpPr>
        <p:spPr>
          <a:xfrm>
            <a:off x="1097280" y="2448559"/>
            <a:ext cx="10058400" cy="4122837"/>
          </a:xfrm>
        </p:spPr>
        <p:txBody>
          <a:bodyPr>
            <a:normAutofit/>
          </a:bodyPr>
          <a:lstStyle/>
          <a:p>
            <a:pPr marL="201168" lvl="1" indent="0">
              <a:buNone/>
            </a:pPr>
            <a:r>
              <a:rPr lang="en-US" sz="2000" dirty="0"/>
              <a:t>There are several key pitfalls in the data-driven process, such as weak analysis, poor communication, and misinterpretation of data, which can lead to wrong conclusions even if the data itself is correct. </a:t>
            </a:r>
          </a:p>
          <a:p>
            <a:pPr marL="201168" lvl="1" indent="0">
              <a:buNone/>
            </a:pPr>
            <a:r>
              <a:rPr lang="en-US" sz="2000" dirty="0"/>
              <a:t>Other major pitfalls include biased or wrong decisions, faulty execution, and failure to learn from outcomes, meaning organizations may not benefit from data if insights are not applied correctly or improved over time.</a:t>
            </a:r>
          </a:p>
          <a:p>
            <a:pPr marL="658368" lvl="1" indent="-457200">
              <a:buFont typeface="+mj-lt"/>
              <a:buAutoNum type="arabicPeriod"/>
            </a:pPr>
            <a:r>
              <a:rPr lang="en-US" sz="2000" dirty="0"/>
              <a:t>Misinterpreting or overanalyzing data</a:t>
            </a:r>
          </a:p>
          <a:p>
            <a:pPr marL="658368" lvl="1" indent="-457200">
              <a:buFont typeface="+mj-lt"/>
              <a:buAutoNum type="arabicPeriod"/>
            </a:pPr>
            <a:r>
              <a:rPr lang="en-US" sz="2000" dirty="0"/>
              <a:t>Ignoring human judgment and experience</a:t>
            </a:r>
          </a:p>
          <a:p>
            <a:pPr marL="658368" lvl="1" indent="-457200">
              <a:buFont typeface="+mj-lt"/>
              <a:buAutoNum type="arabicPeriod"/>
            </a:pPr>
            <a:r>
              <a:rPr lang="en-US" sz="2000" dirty="0"/>
              <a:t>Using irrelevant or biased data</a:t>
            </a:r>
          </a:p>
          <a:p>
            <a:pPr marL="658368" lvl="1" indent="-457200">
              <a:buFont typeface="+mj-lt"/>
              <a:buAutoNum type="arabicPeriod"/>
            </a:pPr>
            <a:r>
              <a:rPr lang="en-US" sz="2000" dirty="0"/>
              <a:t>Failing to act on insights</a:t>
            </a:r>
          </a:p>
          <a:p>
            <a:pPr marL="658368" lvl="1" indent="-457200">
              <a:buFont typeface="+mj-lt"/>
              <a:buAutoNum type="arabicPeriod"/>
            </a:pPr>
            <a:r>
              <a:rPr lang="en-US" sz="2000" dirty="0"/>
              <a:t>Not aligning data insights with business goals</a:t>
            </a:r>
            <a:endParaRPr lang="en-IN" sz="2000" dirty="0"/>
          </a:p>
        </p:txBody>
      </p:sp>
      <p:sp>
        <p:nvSpPr>
          <p:cNvPr id="4" name="Title 1">
            <a:extLst>
              <a:ext uri="{FF2B5EF4-FFF2-40B4-BE49-F238E27FC236}">
                <a16:creationId xmlns:a16="http://schemas.microsoft.com/office/drawing/2014/main" id="{84BCA950-EF61-2F17-5A1D-4C8E6C8D13F6}"/>
              </a:ext>
            </a:extLst>
          </p:cNvPr>
          <p:cNvSpPr txBox="1">
            <a:spLocks/>
          </p:cNvSpPr>
          <p:nvPr/>
        </p:nvSpPr>
        <p:spPr>
          <a:xfrm>
            <a:off x="1097280" y="1737360"/>
            <a:ext cx="10058400" cy="71120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dirty="0"/>
              <a:t>Pitfalls to Avoid**</a:t>
            </a:r>
          </a:p>
        </p:txBody>
      </p:sp>
    </p:spTree>
    <p:extLst>
      <p:ext uri="{BB962C8B-B14F-4D97-AF65-F5344CB8AC3E}">
        <p14:creationId xmlns:p14="http://schemas.microsoft.com/office/powerpoint/2010/main" val="17103455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8C340-5435-DE30-8BA2-F050C9FA9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CBA40-8B31-424C-F3E2-7892D21673BB}"/>
              </a:ext>
            </a:extLst>
          </p:cNvPr>
          <p:cNvSpPr>
            <a:spLocks noGrp="1"/>
          </p:cNvSpPr>
          <p:nvPr>
            <p:ph type="title"/>
          </p:nvPr>
        </p:nvSpPr>
        <p:spPr/>
        <p:txBody>
          <a:bodyPr anchor="ctr"/>
          <a:lstStyle/>
          <a:p>
            <a:r>
              <a:rPr lang="en-US" b="1" dirty="0"/>
              <a:t>Case Discussions / Real-Life Examples</a:t>
            </a:r>
            <a:endParaRPr lang="en-IN" b="1" dirty="0"/>
          </a:p>
        </p:txBody>
      </p:sp>
      <p:sp>
        <p:nvSpPr>
          <p:cNvPr id="3" name="Content Placeholder 2">
            <a:extLst>
              <a:ext uri="{FF2B5EF4-FFF2-40B4-BE49-F238E27FC236}">
                <a16:creationId xmlns:a16="http://schemas.microsoft.com/office/drawing/2014/main" id="{0A235BCA-90C0-FAF7-A52C-0FFBB3D8D392}"/>
              </a:ext>
            </a:extLst>
          </p:cNvPr>
          <p:cNvSpPr>
            <a:spLocks noGrp="1"/>
          </p:cNvSpPr>
          <p:nvPr>
            <p:ph idx="1"/>
          </p:nvPr>
        </p:nvSpPr>
        <p:spPr/>
        <p:txBody>
          <a:bodyPr/>
          <a:lstStyle/>
          <a:p>
            <a:pPr marL="0" indent="0">
              <a:buNone/>
            </a:pPr>
            <a:r>
              <a:rPr lang="en-US" sz="2400" b="1" dirty="0"/>
              <a:t>Scenario Analysis</a:t>
            </a:r>
            <a:br>
              <a:rPr lang="en-US" dirty="0"/>
            </a:br>
            <a:r>
              <a:rPr lang="en-US" dirty="0"/>
              <a:t>Scenario analysis is a sophisticated financial modeling technique used to estimate the future value of a portfolio or investment by simulating various potential economic conditions. Instead of relying on a single "most likely" projection, it maps out a range of possibilities—from the ideal to the catastrophic—to help investors understand their risk exposure.</a:t>
            </a:r>
          </a:p>
          <a:p>
            <a:pPr marL="0" indent="0">
              <a:buNone/>
            </a:pPr>
            <a:r>
              <a:rPr lang="en-US" dirty="0"/>
              <a:t>By applying mathematical and statistical principles, this process helps determine how sensitive an investment is to changes in "key factors," such as interest rates, inflation, or market volatility.</a:t>
            </a:r>
            <a:br>
              <a:rPr lang="en-US" dirty="0"/>
            </a:br>
            <a:endParaRPr lang="en-IN" dirty="0"/>
          </a:p>
        </p:txBody>
      </p:sp>
    </p:spTree>
    <p:extLst>
      <p:ext uri="{BB962C8B-B14F-4D97-AF65-F5344CB8AC3E}">
        <p14:creationId xmlns:p14="http://schemas.microsoft.com/office/powerpoint/2010/main" val="40840946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7109F-143C-9DC6-E4AB-93B207600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30AE0-2318-9B45-DFDB-228BE1C6930B}"/>
              </a:ext>
            </a:extLst>
          </p:cNvPr>
          <p:cNvSpPr>
            <a:spLocks noGrp="1"/>
          </p:cNvSpPr>
          <p:nvPr>
            <p:ph type="title"/>
          </p:nvPr>
        </p:nvSpPr>
        <p:spPr/>
        <p:txBody>
          <a:bodyPr anchor="ctr"/>
          <a:lstStyle/>
          <a:p>
            <a:r>
              <a:rPr lang="en-US" dirty="0"/>
              <a:t>How Scenario Analysis Works</a:t>
            </a:r>
            <a:endParaRPr lang="en-IN" dirty="0"/>
          </a:p>
        </p:txBody>
      </p:sp>
      <p:sp>
        <p:nvSpPr>
          <p:cNvPr id="3" name="Content Placeholder 2">
            <a:extLst>
              <a:ext uri="{FF2B5EF4-FFF2-40B4-BE49-F238E27FC236}">
                <a16:creationId xmlns:a16="http://schemas.microsoft.com/office/drawing/2014/main" id="{C95547DF-6C39-DAB6-C4DE-FAE5D2059A92}"/>
              </a:ext>
            </a:extLst>
          </p:cNvPr>
          <p:cNvSpPr>
            <a:spLocks noGrp="1"/>
          </p:cNvSpPr>
          <p:nvPr>
            <p:ph idx="1"/>
          </p:nvPr>
        </p:nvSpPr>
        <p:spPr/>
        <p:txBody>
          <a:bodyPr>
            <a:normAutofit lnSpcReduction="10000"/>
          </a:bodyPr>
          <a:lstStyle/>
          <a:p>
            <a:pPr marL="0" indent="0">
              <a:buNone/>
            </a:pPr>
            <a:r>
              <a:rPr lang="en-US" dirty="0"/>
              <a:t>To conduct effective scenario analysis; investors typically follow a structured process to ensure all bases are covered:</a:t>
            </a:r>
          </a:p>
          <a:p>
            <a:pPr marL="457200" indent="-457200">
              <a:buFont typeface="+mj-lt"/>
              <a:buAutoNum type="arabicPeriod"/>
            </a:pPr>
            <a:r>
              <a:rPr lang="en-US" b="1" dirty="0"/>
              <a:t>Identify Key Variables: </a:t>
            </a:r>
            <a:r>
              <a:rPr lang="en-US" dirty="0"/>
              <a:t>Determine which external factors (e.g., GDP growth, oil prices, or regulatory changes) have the most significant impact on the portfolio.</a:t>
            </a:r>
          </a:p>
          <a:p>
            <a:pPr marL="457200" indent="-457200">
              <a:buFont typeface="+mj-lt"/>
              <a:buAutoNum type="arabicPeriod"/>
            </a:pPr>
            <a:r>
              <a:rPr lang="en-US" b="1" dirty="0"/>
              <a:t>Define Scenarios: </a:t>
            </a:r>
            <a:r>
              <a:rPr lang="en-US" dirty="0"/>
              <a:t>Develop several distinct narratives for the future. These usually include:</a:t>
            </a:r>
          </a:p>
          <a:p>
            <a:pPr lvl="1">
              <a:buFont typeface="Wingdings" panose="05000000000000000000" pitchFamily="2" charset="2"/>
              <a:buChar char="§"/>
            </a:pPr>
            <a:r>
              <a:rPr lang="en-US" sz="2000" dirty="0"/>
              <a:t>Base Case: The most probable outcome based on current trends.</a:t>
            </a:r>
          </a:p>
          <a:p>
            <a:pPr lvl="1">
              <a:buFont typeface="Wingdings" panose="05000000000000000000" pitchFamily="2" charset="2"/>
              <a:buChar char="§"/>
            </a:pPr>
            <a:r>
              <a:rPr lang="en-US" sz="2000" dirty="0"/>
              <a:t>Best Case: An optimistic "blue-sky" projection.</a:t>
            </a:r>
          </a:p>
          <a:p>
            <a:pPr lvl="1">
              <a:buFont typeface="Wingdings" panose="05000000000000000000" pitchFamily="2" charset="2"/>
              <a:buChar char="§"/>
            </a:pPr>
            <a:r>
              <a:rPr lang="en-US" sz="2000" dirty="0"/>
              <a:t>Worst Case: A "black-swan" or severe market downturn event.</a:t>
            </a:r>
          </a:p>
          <a:p>
            <a:pPr marL="457200" indent="-457200">
              <a:buFont typeface="+mj-lt"/>
              <a:buAutoNum type="arabicPeriod"/>
            </a:pPr>
            <a:r>
              <a:rPr lang="en-US" b="1" dirty="0"/>
              <a:t>Model the Impact: </a:t>
            </a:r>
            <a:r>
              <a:rPr lang="en-US" dirty="0"/>
              <a:t>Use statistical tools to calculate how each scenario would change the value of specific assets.</a:t>
            </a:r>
          </a:p>
          <a:p>
            <a:pPr marL="457200" indent="-457200">
              <a:buFont typeface="+mj-lt"/>
              <a:buAutoNum type="arabicPeriod"/>
            </a:pPr>
            <a:r>
              <a:rPr lang="en-US" b="1" dirty="0"/>
              <a:t>Review and Adjust:</a:t>
            </a:r>
            <a:r>
              <a:rPr lang="en-US" dirty="0"/>
              <a:t> Evaluate the results to decide if the current risk level is acceptable.</a:t>
            </a:r>
            <a:endParaRPr lang="en-IN" dirty="0"/>
          </a:p>
        </p:txBody>
      </p:sp>
    </p:spTree>
    <p:extLst>
      <p:ext uri="{BB962C8B-B14F-4D97-AF65-F5344CB8AC3E}">
        <p14:creationId xmlns:p14="http://schemas.microsoft.com/office/powerpoint/2010/main" val="1213498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E7F1F-0AEA-508D-0B11-89EAB21DA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5C0A2-60DD-B964-E103-EE2B931CB7D9}"/>
              </a:ext>
            </a:extLst>
          </p:cNvPr>
          <p:cNvSpPr>
            <a:spLocks noGrp="1"/>
          </p:cNvSpPr>
          <p:nvPr>
            <p:ph type="title"/>
          </p:nvPr>
        </p:nvSpPr>
        <p:spPr/>
        <p:txBody>
          <a:bodyPr anchor="ctr"/>
          <a:lstStyle/>
          <a:p>
            <a:r>
              <a:rPr lang="en-US" dirty="0"/>
              <a:t>The Role of "Worst-Case" Scenarios</a:t>
            </a:r>
            <a:endParaRPr lang="en-IN" dirty="0"/>
          </a:p>
        </p:txBody>
      </p:sp>
      <p:sp>
        <p:nvSpPr>
          <p:cNvPr id="3" name="Content Placeholder 2">
            <a:extLst>
              <a:ext uri="{FF2B5EF4-FFF2-40B4-BE49-F238E27FC236}">
                <a16:creationId xmlns:a16="http://schemas.microsoft.com/office/drawing/2014/main" id="{57EB0B99-4863-9657-935A-068B71AA73D0}"/>
              </a:ext>
            </a:extLst>
          </p:cNvPr>
          <p:cNvSpPr>
            <a:spLocks noGrp="1"/>
          </p:cNvSpPr>
          <p:nvPr>
            <p:ph idx="1"/>
          </p:nvPr>
        </p:nvSpPr>
        <p:spPr/>
        <p:txBody>
          <a:bodyPr>
            <a:normAutofit/>
          </a:bodyPr>
          <a:lstStyle/>
          <a:p>
            <a:pPr marL="0" indent="0">
              <a:buNone/>
            </a:pPr>
            <a:r>
              <a:rPr lang="en-US" dirty="0"/>
              <a:t>While it's pleasant to imagine high returns, the worst-case scenario is often the most critical part of the analysis. This involves simulating extreme events—such as a global recession or a sudden industry collapse.</a:t>
            </a:r>
          </a:p>
          <a:p>
            <a:pPr marL="0" indent="0">
              <a:buNone/>
            </a:pPr>
            <a:r>
              <a:rPr lang="en-US" dirty="0"/>
              <a:t>The goal isn't just to predict a crash, but to:</a:t>
            </a:r>
          </a:p>
          <a:p>
            <a:pPr marL="457200" indent="-457200">
              <a:buFont typeface="+mj-lt"/>
              <a:buAutoNum type="arabicPeriod"/>
            </a:pPr>
            <a:r>
              <a:rPr lang="en-US" dirty="0"/>
              <a:t>Ensure the investor has enough liquidity to survive the downturn.</a:t>
            </a:r>
          </a:p>
          <a:p>
            <a:pPr marL="457200" indent="-457200">
              <a:buFont typeface="+mj-lt"/>
              <a:buAutoNum type="arabicPeriod"/>
            </a:pPr>
            <a:r>
              <a:rPr lang="en-US" dirty="0"/>
              <a:t>Prevent "emotional selling" by having a pre-determined plan for bad times.</a:t>
            </a:r>
          </a:p>
          <a:p>
            <a:pPr marL="457200" indent="-457200">
              <a:buFont typeface="+mj-lt"/>
              <a:buAutoNum type="arabicPeriod"/>
            </a:pPr>
            <a:r>
              <a:rPr lang="en-US" dirty="0"/>
              <a:t>Identify "hidden" risks that only appear when the market is under stress.</a:t>
            </a:r>
            <a:endParaRPr lang="en-IN" dirty="0"/>
          </a:p>
        </p:txBody>
      </p:sp>
    </p:spTree>
    <p:extLst>
      <p:ext uri="{BB962C8B-B14F-4D97-AF65-F5344CB8AC3E}">
        <p14:creationId xmlns:p14="http://schemas.microsoft.com/office/powerpoint/2010/main" val="38767593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C4C46-33EE-7874-0B21-F761C751C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7E931-746D-F088-CFC7-461074C6EEB4}"/>
              </a:ext>
            </a:extLst>
          </p:cNvPr>
          <p:cNvSpPr>
            <a:spLocks noGrp="1"/>
          </p:cNvSpPr>
          <p:nvPr>
            <p:ph type="title"/>
          </p:nvPr>
        </p:nvSpPr>
        <p:spPr/>
        <p:txBody>
          <a:bodyPr anchor="ctr"/>
          <a:lstStyle/>
          <a:p>
            <a:r>
              <a:rPr lang="en-IN" dirty="0"/>
              <a:t>Optimizing Investment Strategy</a:t>
            </a:r>
          </a:p>
        </p:txBody>
      </p:sp>
      <p:sp>
        <p:nvSpPr>
          <p:cNvPr id="3" name="Content Placeholder 2">
            <a:extLst>
              <a:ext uri="{FF2B5EF4-FFF2-40B4-BE49-F238E27FC236}">
                <a16:creationId xmlns:a16="http://schemas.microsoft.com/office/drawing/2014/main" id="{E459FA80-3180-979F-C256-5B79343E1A60}"/>
              </a:ext>
            </a:extLst>
          </p:cNvPr>
          <p:cNvSpPr>
            <a:spLocks noGrp="1"/>
          </p:cNvSpPr>
          <p:nvPr>
            <p:ph idx="1"/>
          </p:nvPr>
        </p:nvSpPr>
        <p:spPr/>
        <p:txBody>
          <a:bodyPr>
            <a:normAutofit/>
          </a:bodyPr>
          <a:lstStyle/>
          <a:p>
            <a:pPr marL="0" indent="0">
              <a:buNone/>
            </a:pPr>
            <a:r>
              <a:rPr lang="en-US" dirty="0"/>
              <a:t>Scenario analysis is not just about avoiding loss; it is a tool for optimization. By seeing how a portfolio reacts to different environments, an investor can:</a:t>
            </a:r>
          </a:p>
          <a:p>
            <a:pPr marL="361950" indent="-361950">
              <a:buFont typeface="Arial" panose="020B0604020202020204" pitchFamily="34" charset="0"/>
              <a:buChar char="•"/>
            </a:pPr>
            <a:r>
              <a:rPr lang="en-US" b="1" dirty="0"/>
              <a:t>Diversify More Effectively: </a:t>
            </a:r>
            <a:r>
              <a:rPr lang="en-US" dirty="0"/>
              <a:t>If the analysis shows that all assets fail simultaneously in a specific scenario, the investor knows they need to find uncorrelated assets.</a:t>
            </a:r>
          </a:p>
          <a:p>
            <a:pPr marL="361950" indent="-361950">
              <a:buFont typeface="Arial" panose="020B0604020202020204" pitchFamily="34" charset="0"/>
              <a:buChar char="•"/>
            </a:pPr>
            <a:r>
              <a:rPr lang="en-US" b="1" dirty="0"/>
              <a:t>Balance Risk vs. Reward: </a:t>
            </a:r>
            <a:r>
              <a:rPr lang="en-US" dirty="0"/>
              <a:t>It allows for "stress-testing" a strategy to see if the potential upside justifies the potential downside discovered in the worst-case models.</a:t>
            </a:r>
          </a:p>
          <a:p>
            <a:pPr marL="361950" indent="-361950">
              <a:buFont typeface="Arial" panose="020B0604020202020204" pitchFamily="34" charset="0"/>
              <a:buChar char="•"/>
            </a:pPr>
            <a:r>
              <a:rPr lang="en-US" b="1" dirty="0"/>
              <a:t>Enhance Decision Making: </a:t>
            </a:r>
            <a:r>
              <a:rPr lang="en-US" dirty="0"/>
              <a:t>It moves the investment process away from "gut feelings" toward a data-driven approach that accounts for uncertainty.</a:t>
            </a:r>
            <a:endParaRPr lang="en-IN" dirty="0"/>
          </a:p>
        </p:txBody>
      </p:sp>
    </p:spTree>
    <p:extLst>
      <p:ext uri="{BB962C8B-B14F-4D97-AF65-F5344CB8AC3E}">
        <p14:creationId xmlns:p14="http://schemas.microsoft.com/office/powerpoint/2010/main" val="21383367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439E-0441-F73B-0DF7-9B714EDDD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754BB-45C5-77B3-ED48-A9BA2660EC08}"/>
              </a:ext>
            </a:extLst>
          </p:cNvPr>
          <p:cNvSpPr>
            <a:spLocks noGrp="1"/>
          </p:cNvSpPr>
          <p:nvPr>
            <p:ph type="title"/>
          </p:nvPr>
        </p:nvSpPr>
        <p:spPr/>
        <p:txBody>
          <a:bodyPr anchor="ctr"/>
          <a:lstStyle/>
          <a:p>
            <a:r>
              <a:rPr lang="en-US" b="1" dirty="0"/>
              <a:t>Introduction to Data Governance &amp; Data Ethics</a:t>
            </a:r>
            <a:endParaRPr lang="en-IN" b="1" dirty="0"/>
          </a:p>
        </p:txBody>
      </p:sp>
      <p:sp>
        <p:nvSpPr>
          <p:cNvPr id="3" name="Content Placeholder 2">
            <a:extLst>
              <a:ext uri="{FF2B5EF4-FFF2-40B4-BE49-F238E27FC236}">
                <a16:creationId xmlns:a16="http://schemas.microsoft.com/office/drawing/2014/main" id="{A01E6D34-D814-D6B1-CF28-4F64D412690F}"/>
              </a:ext>
            </a:extLst>
          </p:cNvPr>
          <p:cNvSpPr>
            <a:spLocks noGrp="1"/>
          </p:cNvSpPr>
          <p:nvPr>
            <p:ph idx="1"/>
          </p:nvPr>
        </p:nvSpPr>
        <p:spPr/>
        <p:txBody>
          <a:bodyPr/>
          <a:lstStyle/>
          <a:p>
            <a:pPr marL="0" indent="0">
              <a:buNone/>
            </a:pPr>
            <a:r>
              <a:rPr lang="en-US" dirty="0"/>
              <a:t>Data Governance and Data Ethics are essential for managing and using data responsibly in modern organizations. Data Governance refers to the policies, rules, processes, and standards used to ensure data is accurate, secure, consistent, and properly managed throughout its lifecycle. It helps organizations maintain data quality, compliance, and accountability.</a:t>
            </a:r>
          </a:p>
          <a:p>
            <a:pPr marL="0" indent="0">
              <a:buNone/>
            </a:pPr>
            <a:r>
              <a:rPr lang="en-US" dirty="0"/>
              <a:t>Data Ethics focuses on the moral and ethical use of data, ensuring that personal and organizational information is collected, processed, and shared fairly, transparently, and without misuse. It emphasizes privacy, consent, fairness, and responsible decision-making.</a:t>
            </a:r>
          </a:p>
          <a:p>
            <a:pPr marL="0" indent="0">
              <a:buNone/>
            </a:pPr>
            <a:r>
              <a:rPr lang="en-US" dirty="0"/>
              <a:t>Together, Data Governance and Data Ethics help organizations protect sensitive information, comply with regulations, improve trust, and support secure and ethical data-driven decision-making.</a:t>
            </a:r>
            <a:endParaRPr lang="en-IN" dirty="0"/>
          </a:p>
        </p:txBody>
      </p:sp>
    </p:spTree>
    <p:extLst>
      <p:ext uri="{BB962C8B-B14F-4D97-AF65-F5344CB8AC3E}">
        <p14:creationId xmlns:p14="http://schemas.microsoft.com/office/powerpoint/2010/main" val="8453514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1541F-BC64-BA44-6F4A-577AC544D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8A4C3E-4D0E-DBEC-4E32-8B0B67B5D79A}"/>
              </a:ext>
            </a:extLst>
          </p:cNvPr>
          <p:cNvSpPr>
            <a:spLocks noGrp="1"/>
          </p:cNvSpPr>
          <p:nvPr>
            <p:ph type="title"/>
          </p:nvPr>
        </p:nvSpPr>
        <p:spPr/>
        <p:txBody>
          <a:bodyPr anchor="ctr"/>
          <a:lstStyle/>
          <a:p>
            <a:r>
              <a:rPr lang="en-US" dirty="0"/>
              <a:t>What is Data Governance?</a:t>
            </a:r>
          </a:p>
        </p:txBody>
      </p:sp>
      <p:sp>
        <p:nvSpPr>
          <p:cNvPr id="3" name="Content Placeholder 2">
            <a:extLst>
              <a:ext uri="{FF2B5EF4-FFF2-40B4-BE49-F238E27FC236}">
                <a16:creationId xmlns:a16="http://schemas.microsoft.com/office/drawing/2014/main" id="{05D40A40-0F3E-3CA7-02EC-AEFD31ABB08B}"/>
              </a:ext>
            </a:extLst>
          </p:cNvPr>
          <p:cNvSpPr>
            <a:spLocks noGrp="1"/>
          </p:cNvSpPr>
          <p:nvPr>
            <p:ph idx="1"/>
          </p:nvPr>
        </p:nvSpPr>
        <p:spPr/>
        <p:txBody>
          <a:bodyPr/>
          <a:lstStyle/>
          <a:p>
            <a:pPr marL="0" indent="0">
              <a:buNone/>
            </a:pPr>
            <a:r>
              <a:rPr lang="en-US" dirty="0"/>
              <a:t>Data Governance is a collection of processes, roles, policies, standards, and metrics that ensure the effective and efficient use of information in enabling an organization to achieve its goals.</a:t>
            </a:r>
          </a:p>
          <a:p>
            <a:pPr marL="0" indent="0">
              <a:buNone/>
            </a:pPr>
            <a:r>
              <a:rPr lang="en-US" dirty="0"/>
              <a:t>Rather than being a one-time project, it is a continuous discipline designed to ensure data is:</a:t>
            </a:r>
          </a:p>
          <a:p>
            <a:pPr marL="457200" indent="-457200">
              <a:buFont typeface="+mj-lt"/>
              <a:buAutoNum type="arabicPeriod"/>
            </a:pPr>
            <a:r>
              <a:rPr lang="en-US" b="1" dirty="0"/>
              <a:t>Secure and Private:</a:t>
            </a:r>
            <a:r>
              <a:rPr lang="en-US" dirty="0"/>
              <a:t> Protected from unauthorized access and compliant with regulations (GDPR, CCPA).</a:t>
            </a:r>
          </a:p>
          <a:p>
            <a:pPr marL="457200" indent="-457200">
              <a:buFont typeface="+mj-lt"/>
              <a:buAutoNum type="arabicPeriod"/>
            </a:pPr>
            <a:r>
              <a:rPr lang="en-US" b="1" dirty="0"/>
              <a:t>High Quality:</a:t>
            </a:r>
            <a:r>
              <a:rPr lang="en-US" dirty="0"/>
              <a:t> Accurate, complete, and consistent across all systems.</a:t>
            </a:r>
          </a:p>
          <a:p>
            <a:pPr marL="457200" indent="-457200">
              <a:buFont typeface="+mj-lt"/>
              <a:buAutoNum type="arabicPeriod"/>
            </a:pPr>
            <a:r>
              <a:rPr lang="en-US" b="1" dirty="0"/>
              <a:t>Discoverable:</a:t>
            </a:r>
            <a:r>
              <a:rPr lang="en-US" dirty="0"/>
              <a:t> Organized so that the right people can find the right data at the right time.</a:t>
            </a:r>
          </a:p>
          <a:p>
            <a:pPr marL="457200" indent="-457200">
              <a:buFont typeface="+mj-lt"/>
              <a:buAutoNum type="arabicPeriod"/>
            </a:pPr>
            <a:r>
              <a:rPr lang="en-US" b="1" dirty="0"/>
              <a:t>Actionable: </a:t>
            </a:r>
            <a:r>
              <a:rPr lang="en-US" dirty="0"/>
              <a:t>Validated so that leaders can make business decisions based on facts rather than intuition.</a:t>
            </a:r>
            <a:endParaRPr lang="en-IN" dirty="0"/>
          </a:p>
        </p:txBody>
      </p:sp>
    </p:spTree>
    <p:extLst>
      <p:ext uri="{BB962C8B-B14F-4D97-AF65-F5344CB8AC3E}">
        <p14:creationId xmlns:p14="http://schemas.microsoft.com/office/powerpoint/2010/main" val="1713479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4C5A-782C-87BA-3E4F-F065AEA05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9BAD1-9764-3D67-4F61-B91C3182D48D}"/>
              </a:ext>
            </a:extLst>
          </p:cNvPr>
          <p:cNvSpPr>
            <a:spLocks noGrp="1"/>
          </p:cNvSpPr>
          <p:nvPr>
            <p:ph type="title"/>
          </p:nvPr>
        </p:nvSpPr>
        <p:spPr/>
        <p:txBody>
          <a:bodyPr anchor="ctr"/>
          <a:lstStyle/>
          <a:p>
            <a:r>
              <a:rPr lang="en-US" dirty="0"/>
              <a:t>Policies and Procedures</a:t>
            </a:r>
          </a:p>
        </p:txBody>
      </p:sp>
      <p:sp>
        <p:nvSpPr>
          <p:cNvPr id="3" name="Content Placeholder 2">
            <a:extLst>
              <a:ext uri="{FF2B5EF4-FFF2-40B4-BE49-F238E27FC236}">
                <a16:creationId xmlns:a16="http://schemas.microsoft.com/office/drawing/2014/main" id="{DDF24ED2-A006-3A53-1340-8CE947E66DB4}"/>
              </a:ext>
            </a:extLst>
          </p:cNvPr>
          <p:cNvSpPr>
            <a:spLocks noGrp="1"/>
          </p:cNvSpPr>
          <p:nvPr>
            <p:ph idx="1"/>
          </p:nvPr>
        </p:nvSpPr>
        <p:spPr>
          <a:xfrm>
            <a:off x="1097280" y="1845733"/>
            <a:ext cx="10058400" cy="4810248"/>
          </a:xfrm>
        </p:spPr>
        <p:txBody>
          <a:bodyPr>
            <a:normAutofit lnSpcReduction="10000"/>
          </a:bodyPr>
          <a:lstStyle/>
          <a:p>
            <a:pPr marL="0" indent="0">
              <a:buNone/>
            </a:pPr>
            <a:r>
              <a:rPr lang="en-US" dirty="0"/>
              <a:t>Policies serve as the "constitution" of an organization's data. They define the rules for how data must be handled to ensure it remains an asset rather than a liability.</a:t>
            </a:r>
          </a:p>
          <a:p>
            <a:pPr marL="0" indent="0">
              <a:buNone/>
            </a:pPr>
            <a:r>
              <a:rPr lang="en-US" dirty="0"/>
              <a:t>Data Governance Structure Policy: This defines the "who" and "how" of decision-making. it establishes the authority of the Data Governance Council and explains how staff are assigned to governance duties.</a:t>
            </a:r>
          </a:p>
          <a:p>
            <a:pPr marL="457200" indent="-457200">
              <a:buFont typeface="+mj-lt"/>
              <a:buAutoNum type="arabicPeriod"/>
            </a:pPr>
            <a:r>
              <a:rPr lang="en-US" b="1" dirty="0"/>
              <a:t>Data Access Policy: </a:t>
            </a:r>
            <a:r>
              <a:rPr lang="en-US" dirty="0"/>
              <a:t>This policy balances the need for security with the need for efficiency. It ensures employees have the access necessary for their jobs while utilizing </a:t>
            </a:r>
            <a:r>
              <a:rPr lang="en-US" b="1" dirty="0"/>
              <a:t>Data Classification </a:t>
            </a:r>
            <a:r>
              <a:rPr lang="en-US" dirty="0"/>
              <a:t>(e.g., public, internal, confidential, or restricted) to protect sensitive information.</a:t>
            </a:r>
          </a:p>
          <a:p>
            <a:pPr marL="457200" indent="-457200">
              <a:buFont typeface="+mj-lt"/>
              <a:buAutoNum type="arabicPeriod"/>
            </a:pPr>
            <a:r>
              <a:rPr lang="en-US" b="1" dirty="0"/>
              <a:t>Data Usage Policy: </a:t>
            </a:r>
            <a:r>
              <a:rPr lang="en-US" dirty="0"/>
              <a:t>This sets the ethical and legal boundaries for using data. It dictates that data can only be used for its intended business purpose and strictly limits "update" or "delete" rights to specific, authorized roles to prevent data corruption.</a:t>
            </a:r>
          </a:p>
          <a:p>
            <a:pPr marL="457200" indent="-457200">
              <a:buFont typeface="+mj-lt"/>
              <a:buAutoNum type="arabicPeriod"/>
            </a:pPr>
            <a:r>
              <a:rPr lang="en-US" b="1" dirty="0"/>
              <a:t>Data Integrity and Integration Policy: </a:t>
            </a:r>
            <a:r>
              <a:rPr lang="en-US" dirty="0"/>
              <a:t>This focuses on data quality. It mandates that all data must be defined by clear metadata (definitions and sources) so it can be integrated correctly across different departments (e.g., ensuring "Marketing" and "Finance" define a "Customer" the same way).</a:t>
            </a:r>
            <a:endParaRPr lang="en-IN" dirty="0"/>
          </a:p>
        </p:txBody>
      </p:sp>
    </p:spTree>
    <p:extLst>
      <p:ext uri="{BB962C8B-B14F-4D97-AF65-F5344CB8AC3E}">
        <p14:creationId xmlns:p14="http://schemas.microsoft.com/office/powerpoint/2010/main" val="14178583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E29AA-8E0A-3136-3499-3132B35B2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C9786-D207-73A5-19F5-9C96ED670096}"/>
              </a:ext>
            </a:extLst>
          </p:cNvPr>
          <p:cNvSpPr>
            <a:spLocks noGrp="1"/>
          </p:cNvSpPr>
          <p:nvPr>
            <p:ph type="title"/>
          </p:nvPr>
        </p:nvSpPr>
        <p:spPr/>
        <p:txBody>
          <a:bodyPr anchor="ctr"/>
          <a:lstStyle/>
          <a:p>
            <a:r>
              <a:rPr lang="en-US" dirty="0"/>
              <a:t>Roles and Responsibilities</a:t>
            </a:r>
          </a:p>
        </p:txBody>
      </p:sp>
      <p:sp>
        <p:nvSpPr>
          <p:cNvPr id="3" name="Content Placeholder 2">
            <a:extLst>
              <a:ext uri="{FF2B5EF4-FFF2-40B4-BE49-F238E27FC236}">
                <a16:creationId xmlns:a16="http://schemas.microsoft.com/office/drawing/2014/main" id="{A7EDA677-FA42-9AAD-8ED8-E71AFF9D0453}"/>
              </a:ext>
            </a:extLst>
          </p:cNvPr>
          <p:cNvSpPr>
            <a:spLocks noGrp="1"/>
          </p:cNvSpPr>
          <p:nvPr>
            <p:ph idx="1"/>
          </p:nvPr>
        </p:nvSpPr>
        <p:spPr>
          <a:xfrm>
            <a:off x="1097280" y="1845733"/>
            <a:ext cx="10058400" cy="4565699"/>
          </a:xfrm>
        </p:spPr>
        <p:txBody>
          <a:bodyPr>
            <a:normAutofit fontScale="92500" lnSpcReduction="10000"/>
          </a:bodyPr>
          <a:lstStyle/>
          <a:p>
            <a:pPr marL="0" indent="0">
              <a:buNone/>
            </a:pPr>
            <a:r>
              <a:rPr lang="en-US" dirty="0"/>
              <a:t>To move governance from a set of rules to a living practice, organizations typically use a tiered structure of responsibility:</a:t>
            </a:r>
          </a:p>
          <a:p>
            <a:pPr marL="457200" indent="-457200">
              <a:buFont typeface="+mj-lt"/>
              <a:buAutoNum type="arabicPeriod"/>
            </a:pPr>
            <a:r>
              <a:rPr lang="en-US" b="1" dirty="0"/>
              <a:t>Executive Leadership / Steering Committee: </a:t>
            </a:r>
            <a:r>
              <a:rPr lang="en-US" dirty="0"/>
              <a:t>Usually composed of senior executives (CIO, CDO, or business unit heads). They provide the funding, set the high-level strategy, and resolve major conflicts between departments.</a:t>
            </a:r>
          </a:p>
          <a:p>
            <a:pPr marL="457200" indent="-457200">
              <a:buFont typeface="+mj-lt"/>
              <a:buAutoNum type="arabicPeriod"/>
            </a:pPr>
            <a:r>
              <a:rPr lang="en-US" b="1" dirty="0"/>
              <a:t>Data Governance Council: </a:t>
            </a:r>
            <a:r>
              <a:rPr lang="en-US" dirty="0"/>
              <a:t>The tactical body that creates and approves specific policies. They identify data "pain points" (like inaccurate reporting) and prioritize projects to fix them.</a:t>
            </a:r>
          </a:p>
          <a:p>
            <a:pPr marL="457200" indent="-457200">
              <a:buFont typeface="+mj-lt"/>
              <a:buAutoNum type="arabicPeriod"/>
            </a:pPr>
            <a:r>
              <a:rPr lang="en-US" b="1" dirty="0"/>
              <a:t>Data Stewards (The Business Experts): </a:t>
            </a:r>
            <a:r>
              <a:rPr lang="en-US" dirty="0"/>
              <a:t>These are the most critical roles. Stewards are responsible for the quality and "meaning" of the data. They classify data, define business terms, and ensure that the data in their specific domain (e.g., "Product Data") is accurate.</a:t>
            </a:r>
          </a:p>
          <a:p>
            <a:pPr marL="457200" indent="-457200">
              <a:buFont typeface="+mj-lt"/>
              <a:buAutoNum type="arabicPeriod"/>
            </a:pPr>
            <a:r>
              <a:rPr lang="en-US" b="1" dirty="0"/>
              <a:t>Data Custodians (The Technical Experts): </a:t>
            </a:r>
            <a:r>
              <a:rPr lang="en-US" dirty="0"/>
              <a:t>Typically found in IT, custodians are responsible for the "pipes." They manage the databases, ensure technical security (encryption), and implement the movement of data between systems according to the Stewards' rules.</a:t>
            </a:r>
          </a:p>
          <a:p>
            <a:pPr marL="457200" indent="-457200">
              <a:buFont typeface="+mj-lt"/>
              <a:buAutoNum type="arabicPeriod"/>
            </a:pPr>
            <a:r>
              <a:rPr lang="en-US" b="1" dirty="0"/>
              <a:t>Data Users: </a:t>
            </a:r>
            <a:r>
              <a:rPr lang="en-US" dirty="0"/>
              <a:t>Every employee who interacts with data. Their responsibility is to adhere to usage policies and report any data inconsistencies or security concerns they encounter.</a:t>
            </a:r>
            <a:endParaRPr lang="en-IN" dirty="0"/>
          </a:p>
        </p:txBody>
      </p:sp>
    </p:spTree>
    <p:extLst>
      <p:ext uri="{BB962C8B-B14F-4D97-AF65-F5344CB8AC3E}">
        <p14:creationId xmlns:p14="http://schemas.microsoft.com/office/powerpoint/2010/main" val="20699453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E4E0-32B7-0FCA-E85E-DEEE88556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C61E3-9E46-A313-F539-7646C7C6388E}"/>
              </a:ext>
            </a:extLst>
          </p:cNvPr>
          <p:cNvSpPr>
            <a:spLocks noGrp="1"/>
          </p:cNvSpPr>
          <p:nvPr>
            <p:ph type="title"/>
          </p:nvPr>
        </p:nvSpPr>
        <p:spPr/>
        <p:txBody>
          <a:bodyPr anchor="ctr"/>
          <a:lstStyle/>
          <a:p>
            <a:r>
              <a:rPr lang="en-US" dirty="0"/>
              <a:t>Principles of Data Ethics</a:t>
            </a:r>
          </a:p>
        </p:txBody>
      </p:sp>
      <p:sp>
        <p:nvSpPr>
          <p:cNvPr id="3" name="Content Placeholder 2">
            <a:extLst>
              <a:ext uri="{FF2B5EF4-FFF2-40B4-BE49-F238E27FC236}">
                <a16:creationId xmlns:a16="http://schemas.microsoft.com/office/drawing/2014/main" id="{62B7C601-2F34-AF1E-1702-0077F2AE28C1}"/>
              </a:ext>
            </a:extLst>
          </p:cNvPr>
          <p:cNvSpPr>
            <a:spLocks noGrp="1"/>
          </p:cNvSpPr>
          <p:nvPr>
            <p:ph idx="1"/>
          </p:nvPr>
        </p:nvSpPr>
        <p:spPr>
          <a:xfrm>
            <a:off x="1097280" y="1845733"/>
            <a:ext cx="10058400" cy="4565699"/>
          </a:xfrm>
        </p:spPr>
        <p:txBody>
          <a:bodyPr>
            <a:normAutofit/>
          </a:bodyPr>
          <a:lstStyle/>
          <a:p>
            <a:pPr marL="0" indent="0">
              <a:buNone/>
            </a:pPr>
            <a:r>
              <a:rPr lang="en-US" dirty="0"/>
              <a:t>Big Data ethics expands traditional data ethics to handle the "3 Vs": Volume, Velocity, and Variety. Because Big Data can often re-identify individuals from seemingly "anonymous" datasets, it requires a higher standard of care.</a:t>
            </a:r>
          </a:p>
          <a:p>
            <a:pPr marL="457200" indent="-457200">
              <a:buFont typeface="+mj-lt"/>
              <a:buAutoNum type="arabicPeriod"/>
            </a:pPr>
            <a:r>
              <a:rPr lang="en-US" b="1" dirty="0"/>
              <a:t>Human-Centricity: </a:t>
            </a:r>
            <a:r>
              <a:rPr lang="en-US" dirty="0"/>
              <a:t>Data is not just numbers; it represents human lives. Every analysis should consider the potential impact on individuals and society.</a:t>
            </a:r>
          </a:p>
          <a:p>
            <a:pPr marL="457200" indent="-457200">
              <a:buFont typeface="+mj-lt"/>
              <a:buAutoNum type="arabicPeriod"/>
            </a:pPr>
            <a:r>
              <a:rPr lang="en-US" b="1" dirty="0"/>
              <a:t>Purpose Limitation: </a:t>
            </a:r>
            <a:r>
              <a:rPr lang="en-US" dirty="0"/>
              <a:t>Data should only be used for the specific purpose for which it was collected. In Big Data, "mission creep" (using data for a new, unrelated project) is a major ethical violation.</a:t>
            </a:r>
          </a:p>
          <a:p>
            <a:pPr marL="457200" indent="-457200">
              <a:buFont typeface="+mj-lt"/>
              <a:buAutoNum type="arabicPeriod"/>
            </a:pPr>
            <a:r>
              <a:rPr lang="en-US" b="1" dirty="0"/>
              <a:t>Fairness and Non-Discrimination: </a:t>
            </a:r>
            <a:r>
              <a:rPr lang="en-US" dirty="0"/>
              <a:t>Big Data algorithms can unintentionally "bake in" historical biases. Ethics requires actively auditing data to ensure it doesn't unfairly target or exclude specific demographics.</a:t>
            </a:r>
            <a:endParaRPr lang="en-IN" dirty="0"/>
          </a:p>
        </p:txBody>
      </p:sp>
    </p:spTree>
    <p:extLst>
      <p:ext uri="{BB962C8B-B14F-4D97-AF65-F5344CB8AC3E}">
        <p14:creationId xmlns:p14="http://schemas.microsoft.com/office/powerpoint/2010/main" val="32776332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615D7-1FBA-748F-8083-DA387D09C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890C4-18A2-521E-0E43-BC36C74FB05D}"/>
              </a:ext>
            </a:extLst>
          </p:cNvPr>
          <p:cNvSpPr>
            <a:spLocks noGrp="1"/>
          </p:cNvSpPr>
          <p:nvPr>
            <p:ph type="title"/>
          </p:nvPr>
        </p:nvSpPr>
        <p:spPr/>
        <p:txBody>
          <a:bodyPr anchor="ctr"/>
          <a:lstStyle/>
          <a:p>
            <a:r>
              <a:rPr lang="en-US" dirty="0"/>
              <a:t>Privacy and Confidentiality</a:t>
            </a:r>
          </a:p>
        </p:txBody>
      </p:sp>
      <p:sp>
        <p:nvSpPr>
          <p:cNvPr id="3" name="Content Placeholder 2">
            <a:extLst>
              <a:ext uri="{FF2B5EF4-FFF2-40B4-BE49-F238E27FC236}">
                <a16:creationId xmlns:a16="http://schemas.microsoft.com/office/drawing/2014/main" id="{98CE7E45-E0DC-5D33-EBC3-D4A874C187CB}"/>
              </a:ext>
            </a:extLst>
          </p:cNvPr>
          <p:cNvSpPr>
            <a:spLocks noGrp="1"/>
          </p:cNvSpPr>
          <p:nvPr>
            <p:ph idx="1"/>
          </p:nvPr>
        </p:nvSpPr>
        <p:spPr>
          <a:xfrm>
            <a:off x="1097280" y="1845733"/>
            <a:ext cx="10058400" cy="4565699"/>
          </a:xfrm>
        </p:spPr>
        <p:txBody>
          <a:bodyPr>
            <a:normAutofit fontScale="92500" lnSpcReduction="10000"/>
          </a:bodyPr>
          <a:lstStyle/>
          <a:p>
            <a:pPr marL="0" indent="0">
              <a:buNone/>
            </a:pPr>
            <a:r>
              <a:rPr lang="en-US" dirty="0"/>
              <a:t>These principles focus on the protection of the individual’s identity and the security of their information.</a:t>
            </a:r>
          </a:p>
          <a:p>
            <a:pPr marL="457200" indent="-457200">
              <a:buFont typeface="+mj-lt"/>
              <a:buAutoNum type="arabicPeriod"/>
            </a:pPr>
            <a:r>
              <a:rPr lang="en-US" b="1" dirty="0"/>
              <a:t>Responsible Collection </a:t>
            </a:r>
          </a:p>
          <a:p>
            <a:pPr lvl="1">
              <a:buFont typeface="Arial" panose="020B0604020202020204" pitchFamily="34" charset="0"/>
              <a:buChar char="•"/>
            </a:pPr>
            <a:r>
              <a:rPr lang="en-US" sz="2000" b="1" dirty="0"/>
              <a:t>What: </a:t>
            </a:r>
            <a:r>
              <a:rPr lang="en-US" sz="2000" dirty="0"/>
              <a:t>Collecting only what is necessary (Data Minimization) and ensuring the collection method itself is not intrusive or deceptive.</a:t>
            </a:r>
          </a:p>
          <a:p>
            <a:pPr lvl="1">
              <a:buFont typeface="Arial" panose="020B0604020202020204" pitchFamily="34" charset="0"/>
              <a:buChar char="•"/>
            </a:pPr>
            <a:r>
              <a:rPr lang="en-US" sz="2000" b="1" dirty="0"/>
              <a:t>Key Concept: </a:t>
            </a:r>
            <a:r>
              <a:rPr lang="en-US" sz="2000" dirty="0"/>
              <a:t>Data should be gathered through legitimate channels, avoiding "scraping" sensitive personal info without clear authorization.</a:t>
            </a:r>
          </a:p>
          <a:p>
            <a:pPr marL="365760" indent="-457200">
              <a:buFont typeface="+mj-lt"/>
              <a:buAutoNum type="arabicPeriod"/>
            </a:pPr>
            <a:r>
              <a:rPr lang="en-US" b="1" dirty="0"/>
              <a:t>Consent, Confidentiality, and Communication</a:t>
            </a:r>
          </a:p>
          <a:p>
            <a:pPr marL="578358" lvl="1" indent="-285750">
              <a:buFont typeface="Arial" panose="020B0604020202020204" pitchFamily="34" charset="0"/>
              <a:buChar char="•"/>
            </a:pPr>
            <a:r>
              <a:rPr lang="en-US" sz="2000" b="1" dirty="0"/>
              <a:t>Consent: </a:t>
            </a:r>
            <a:r>
              <a:rPr lang="en-US" sz="2000" dirty="0"/>
              <a:t>Must be informed, granular, and freely given. A user should know exactly what they are agreeing to without being forced by "dark patterns" (misleading UI).</a:t>
            </a:r>
          </a:p>
          <a:p>
            <a:pPr marL="578358" lvl="1" indent="-285750">
              <a:buFont typeface="Arial" panose="020B0604020202020204" pitchFamily="34" charset="0"/>
              <a:buChar char="•"/>
            </a:pPr>
            <a:r>
              <a:rPr lang="en-US" sz="2000" b="1" dirty="0"/>
              <a:t>Confidentiality: </a:t>
            </a:r>
            <a:r>
              <a:rPr lang="en-US" sz="2000" dirty="0"/>
              <a:t>Once data is collected, the organization acts as a trustee. This involves using encryption and strict access controls to ensure the data is never leaked or sold to unauthorized third parties.</a:t>
            </a:r>
          </a:p>
          <a:p>
            <a:pPr marL="578358" lvl="1" indent="-285750">
              <a:buFont typeface="Arial" panose="020B0604020202020204" pitchFamily="34" charset="0"/>
              <a:buChar char="•"/>
            </a:pPr>
            <a:r>
              <a:rPr lang="en-US" sz="2000" b="1" dirty="0"/>
              <a:t>Communication: </a:t>
            </a:r>
            <a:r>
              <a:rPr lang="en-US" sz="2000" dirty="0"/>
              <a:t>Organizations must maintain an open line with the data subjects. If a data breach occurs or if the way data is used changes, the user must be notified immediately in plain language.</a:t>
            </a:r>
          </a:p>
        </p:txBody>
      </p:sp>
    </p:spTree>
    <p:extLst>
      <p:ext uri="{BB962C8B-B14F-4D97-AF65-F5344CB8AC3E}">
        <p14:creationId xmlns:p14="http://schemas.microsoft.com/office/powerpoint/2010/main" val="31603796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7658B-8BBF-0BA9-D41A-C15D04E5E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02361-5824-C088-263E-E0C0E4596BE3}"/>
              </a:ext>
            </a:extLst>
          </p:cNvPr>
          <p:cNvSpPr>
            <a:spLocks noGrp="1"/>
          </p:cNvSpPr>
          <p:nvPr>
            <p:ph type="title"/>
          </p:nvPr>
        </p:nvSpPr>
        <p:spPr/>
        <p:txBody>
          <a:bodyPr anchor="ctr"/>
          <a:lstStyle/>
          <a:p>
            <a:r>
              <a:rPr lang="en-US" dirty="0"/>
              <a:t>Privacy and Confidentiality</a:t>
            </a:r>
            <a:endParaRPr lang="en-US" b="1" dirty="0"/>
          </a:p>
        </p:txBody>
      </p:sp>
      <p:sp>
        <p:nvSpPr>
          <p:cNvPr id="3" name="Content Placeholder 2">
            <a:extLst>
              <a:ext uri="{FF2B5EF4-FFF2-40B4-BE49-F238E27FC236}">
                <a16:creationId xmlns:a16="http://schemas.microsoft.com/office/drawing/2014/main" id="{798D18E9-133A-4D5C-E903-F2BC2DB9A4FA}"/>
              </a:ext>
            </a:extLst>
          </p:cNvPr>
          <p:cNvSpPr>
            <a:spLocks noGrp="1"/>
          </p:cNvSpPr>
          <p:nvPr>
            <p:ph idx="1"/>
          </p:nvPr>
        </p:nvSpPr>
        <p:spPr>
          <a:xfrm>
            <a:off x="1097281" y="2444929"/>
            <a:ext cx="4998720" cy="3825241"/>
          </a:xfrm>
        </p:spPr>
        <p:txBody>
          <a:bodyPr>
            <a:normAutofit lnSpcReduction="10000"/>
          </a:bodyPr>
          <a:lstStyle/>
          <a:p>
            <a:pPr marL="0" indent="0">
              <a:buNone/>
            </a:pPr>
            <a:r>
              <a:rPr lang="en-US" dirty="0"/>
              <a:t>Ethics shouldn't just be a document; it must be part of the workflow.</a:t>
            </a:r>
          </a:p>
          <a:p>
            <a:pPr marL="457200" indent="-457200">
              <a:buFont typeface="+mj-lt"/>
              <a:buAutoNum type="arabicPeriod"/>
            </a:pPr>
            <a:r>
              <a:rPr lang="en-US" b="1" dirty="0"/>
              <a:t>Ethics by Design: </a:t>
            </a:r>
            <a:r>
              <a:rPr lang="en-US" dirty="0"/>
              <a:t>Integrating ethical checks into the software development lifecycle (SDLC).</a:t>
            </a:r>
          </a:p>
          <a:p>
            <a:pPr marL="457200" indent="-457200">
              <a:buFont typeface="+mj-lt"/>
              <a:buAutoNum type="arabicPeriod"/>
            </a:pPr>
            <a:r>
              <a:rPr lang="en-US" b="1" dirty="0"/>
              <a:t>Red Teaming: </a:t>
            </a:r>
            <a:r>
              <a:rPr lang="en-US" dirty="0"/>
              <a:t>Specifically trying to find ways an algorithm could be used unethically to fix the "leak" before it goes live.</a:t>
            </a:r>
          </a:p>
          <a:p>
            <a:pPr marL="457200" indent="-457200">
              <a:buFont typeface="+mj-lt"/>
              <a:buAutoNum type="arabicPeriod"/>
            </a:pPr>
            <a:r>
              <a:rPr lang="en-US" b="1" dirty="0"/>
              <a:t>Standardized Checklists: </a:t>
            </a:r>
            <a:r>
              <a:rPr lang="en-US" dirty="0"/>
              <a:t>Using frameworks to ensure every data project meets privacy and quality standards before launch.</a:t>
            </a:r>
            <a:endParaRPr lang="en-US" sz="2000" dirty="0"/>
          </a:p>
        </p:txBody>
      </p:sp>
      <p:sp>
        <p:nvSpPr>
          <p:cNvPr id="4" name="Content Placeholder 2">
            <a:extLst>
              <a:ext uri="{FF2B5EF4-FFF2-40B4-BE49-F238E27FC236}">
                <a16:creationId xmlns:a16="http://schemas.microsoft.com/office/drawing/2014/main" id="{DC7DE832-D97F-DC70-F58C-C373AA155389}"/>
              </a:ext>
            </a:extLst>
          </p:cNvPr>
          <p:cNvSpPr txBox="1">
            <a:spLocks/>
          </p:cNvSpPr>
          <p:nvPr/>
        </p:nvSpPr>
        <p:spPr>
          <a:xfrm>
            <a:off x="1097280" y="1737360"/>
            <a:ext cx="10058400" cy="707570"/>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sz="4000" dirty="0">
                <a:latin typeface="+mj-lt"/>
              </a:rPr>
              <a:t>Making Ethics Operational</a:t>
            </a:r>
          </a:p>
        </p:txBody>
      </p:sp>
      <p:pic>
        <p:nvPicPr>
          <p:cNvPr id="6" name="Picture 5">
            <a:extLst>
              <a:ext uri="{FF2B5EF4-FFF2-40B4-BE49-F238E27FC236}">
                <a16:creationId xmlns:a16="http://schemas.microsoft.com/office/drawing/2014/main" id="{E2FEAD22-2D47-D81D-02F4-04FA33290430}"/>
              </a:ext>
            </a:extLst>
          </p:cNvPr>
          <p:cNvPicPr>
            <a:picLocks noChangeAspect="1"/>
          </p:cNvPicPr>
          <p:nvPr/>
        </p:nvPicPr>
        <p:blipFill>
          <a:blip r:embed="rId2">
            <a:extLst>
              <a:ext uri="{28A0092B-C50C-407E-A947-70E740481C1C}">
                <a14:useLocalDpi xmlns:a14="http://schemas.microsoft.com/office/drawing/2010/main" val="0"/>
              </a:ext>
            </a:extLst>
          </a:blip>
          <a:srcRect l="3215" t="17619" r="2262" b="10476"/>
          <a:stretch>
            <a:fillRect/>
          </a:stretch>
        </p:blipFill>
        <p:spPr>
          <a:xfrm>
            <a:off x="6126480" y="2987430"/>
            <a:ext cx="5029200" cy="27402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1813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6791F-7DE7-0E27-95F1-1D5A770A2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8EAD5F-4E73-A3BE-BC99-30772FE67D76}"/>
              </a:ext>
            </a:extLst>
          </p:cNvPr>
          <p:cNvSpPr>
            <a:spLocks noGrp="1"/>
          </p:cNvSpPr>
          <p:nvPr>
            <p:ph type="title"/>
          </p:nvPr>
        </p:nvSpPr>
        <p:spPr/>
        <p:txBody>
          <a:bodyPr anchor="ctr"/>
          <a:lstStyle/>
          <a:p>
            <a:r>
              <a:rPr lang="en-US" dirty="0"/>
              <a:t>Transparency and Accountability</a:t>
            </a:r>
            <a:endParaRPr lang="en-US" b="1" dirty="0"/>
          </a:p>
        </p:txBody>
      </p:sp>
      <p:sp>
        <p:nvSpPr>
          <p:cNvPr id="3" name="Content Placeholder 2">
            <a:extLst>
              <a:ext uri="{FF2B5EF4-FFF2-40B4-BE49-F238E27FC236}">
                <a16:creationId xmlns:a16="http://schemas.microsoft.com/office/drawing/2014/main" id="{38CEDF0B-6491-1504-8133-BBFAFE5814B3}"/>
              </a:ext>
            </a:extLst>
          </p:cNvPr>
          <p:cNvSpPr>
            <a:spLocks noGrp="1"/>
          </p:cNvSpPr>
          <p:nvPr>
            <p:ph idx="1"/>
          </p:nvPr>
        </p:nvSpPr>
        <p:spPr>
          <a:xfrm>
            <a:off x="1097280" y="1845733"/>
            <a:ext cx="10058400" cy="4565699"/>
          </a:xfrm>
        </p:spPr>
        <p:txBody>
          <a:bodyPr>
            <a:normAutofit/>
          </a:bodyPr>
          <a:lstStyle/>
          <a:p>
            <a:pPr marL="457200" indent="-457200">
              <a:buFont typeface="+mj-lt"/>
              <a:buAutoNum type="arabicPeriod"/>
            </a:pPr>
            <a:r>
              <a:rPr lang="en-US" b="1" dirty="0"/>
              <a:t>Consent: </a:t>
            </a:r>
            <a:r>
              <a:rPr lang="en-US" dirty="0"/>
              <a:t>Consent means getting permission from individuals before collecting or using their personal data. It must be informed, voluntary, and can be withdrawn at any time. It is a key ethical principle in data handling.</a:t>
            </a:r>
          </a:p>
          <a:p>
            <a:pPr marL="457200" indent="-457200">
              <a:buFont typeface="+mj-lt"/>
              <a:buAutoNum type="arabicPeriod"/>
            </a:pPr>
            <a:r>
              <a:rPr lang="en-US" b="1" dirty="0"/>
              <a:t>Transparency: </a:t>
            </a:r>
            <a:r>
              <a:rPr lang="en-US" dirty="0"/>
              <a:t>Transparency means clearly informing people about how their data is used. Organizations should explain data processing purposes, user rights, involvement of third parties, and reasons for collecting data.</a:t>
            </a:r>
          </a:p>
          <a:p>
            <a:pPr marL="457200" indent="-457200">
              <a:buFont typeface="+mj-lt"/>
              <a:buAutoNum type="arabicPeriod"/>
            </a:pPr>
            <a:r>
              <a:rPr lang="en-US" b="1" dirty="0"/>
              <a:t>Accountability: </a:t>
            </a:r>
            <a:r>
              <a:rPr lang="en-US" dirty="0"/>
              <a:t>Organizations must take responsibility for how they use data, prove compliance with laws, and ensure proper monitoring of data-related projects through effective oversight mechanisms.</a:t>
            </a:r>
          </a:p>
        </p:txBody>
      </p:sp>
    </p:spTree>
    <p:extLst>
      <p:ext uri="{BB962C8B-B14F-4D97-AF65-F5344CB8AC3E}">
        <p14:creationId xmlns:p14="http://schemas.microsoft.com/office/powerpoint/2010/main" val="31554573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6F2E-B2B5-CB34-487E-D39E18780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46DAC-B35B-8676-C5E4-399820003A5D}"/>
              </a:ext>
            </a:extLst>
          </p:cNvPr>
          <p:cNvSpPr>
            <a:spLocks noGrp="1"/>
          </p:cNvSpPr>
          <p:nvPr>
            <p:ph type="title"/>
          </p:nvPr>
        </p:nvSpPr>
        <p:spPr/>
        <p:txBody>
          <a:bodyPr anchor="ctr"/>
          <a:lstStyle/>
          <a:p>
            <a:r>
              <a:rPr lang="en-US" dirty="0"/>
              <a:t>Transparency and Accountability</a:t>
            </a:r>
            <a:endParaRPr lang="en-US" b="1" dirty="0"/>
          </a:p>
        </p:txBody>
      </p:sp>
      <p:sp>
        <p:nvSpPr>
          <p:cNvPr id="3" name="Content Placeholder 2">
            <a:extLst>
              <a:ext uri="{FF2B5EF4-FFF2-40B4-BE49-F238E27FC236}">
                <a16:creationId xmlns:a16="http://schemas.microsoft.com/office/drawing/2014/main" id="{CD03D043-AEF7-7D4A-60B4-511D6F078C4E}"/>
              </a:ext>
            </a:extLst>
          </p:cNvPr>
          <p:cNvSpPr>
            <a:spLocks noGrp="1"/>
          </p:cNvSpPr>
          <p:nvPr>
            <p:ph idx="1"/>
          </p:nvPr>
        </p:nvSpPr>
        <p:spPr>
          <a:xfrm>
            <a:off x="1097280" y="1845733"/>
            <a:ext cx="10058400" cy="4565699"/>
          </a:xfrm>
        </p:spPr>
        <p:txBody>
          <a:bodyPr>
            <a:normAutofit/>
          </a:bodyPr>
          <a:lstStyle/>
          <a:p>
            <a:pPr marL="457200" indent="-457200">
              <a:buFont typeface="+mj-lt"/>
              <a:buAutoNum type="arabicPeriod" startAt="4"/>
            </a:pPr>
            <a:r>
              <a:rPr lang="en-US" b="1" dirty="0"/>
              <a:t>Fairness: </a:t>
            </a:r>
            <a:r>
              <a:rPr lang="en-US" dirty="0"/>
              <a:t>Fairness ensures equal and unbiased treatment in data handling. It focuses on preventing unjust impacts on individuals and reducing bias in data processing and decision-making systems.</a:t>
            </a:r>
          </a:p>
          <a:p>
            <a:pPr marL="457200" indent="-457200">
              <a:buFont typeface="+mj-lt"/>
              <a:buAutoNum type="arabicPeriod" startAt="4"/>
            </a:pPr>
            <a:r>
              <a:rPr lang="en-US" b="1" dirty="0"/>
              <a:t>Privacy and Security: </a:t>
            </a:r>
            <a:r>
              <a:rPr lang="en-US" dirty="0"/>
              <a:t>Privacy and security involve protecting personal data from misuse or unauthorized access. Organizations should follow data protection principles such as accuracy, confidentiality, transparency, and limited data usage.</a:t>
            </a:r>
          </a:p>
          <a:p>
            <a:pPr marL="457200" indent="-457200">
              <a:buFont typeface="+mj-lt"/>
              <a:buAutoNum type="arabicPeriod" startAt="4"/>
            </a:pPr>
            <a:r>
              <a:rPr lang="en-US" b="1" dirty="0"/>
              <a:t>Anonymisation: </a:t>
            </a:r>
            <a:r>
              <a:rPr lang="en-US" dirty="0"/>
              <a:t>Anonymisation is the process of removing personal identifiers from data so individuals cannot be re-identified. Once anonymized, the data is no longer considered personally identifiable information.</a:t>
            </a:r>
          </a:p>
        </p:txBody>
      </p:sp>
    </p:spTree>
    <p:extLst>
      <p:ext uri="{BB962C8B-B14F-4D97-AF65-F5344CB8AC3E}">
        <p14:creationId xmlns:p14="http://schemas.microsoft.com/office/powerpoint/2010/main" val="18185462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9D9AA-DF80-D0EF-75C9-54BA6B506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D24F1-98C1-0CD7-E414-00D460AAD8ED}"/>
              </a:ext>
            </a:extLst>
          </p:cNvPr>
          <p:cNvSpPr>
            <a:spLocks noGrp="1"/>
          </p:cNvSpPr>
          <p:nvPr>
            <p:ph type="title"/>
          </p:nvPr>
        </p:nvSpPr>
        <p:spPr/>
        <p:txBody>
          <a:bodyPr anchor="ctr"/>
          <a:lstStyle/>
          <a:p>
            <a:r>
              <a:rPr lang="en-US" dirty="0"/>
              <a:t>Transparency and Accountability Concept</a:t>
            </a:r>
          </a:p>
        </p:txBody>
      </p:sp>
      <p:graphicFrame>
        <p:nvGraphicFramePr>
          <p:cNvPr id="4" name="Content Placeholder 3">
            <a:extLst>
              <a:ext uri="{FF2B5EF4-FFF2-40B4-BE49-F238E27FC236}">
                <a16:creationId xmlns:a16="http://schemas.microsoft.com/office/drawing/2014/main" id="{140EB617-15B5-A690-30EC-406B93D88A5D}"/>
              </a:ext>
            </a:extLst>
          </p:cNvPr>
          <p:cNvGraphicFramePr>
            <a:graphicFrameLocks noGrp="1"/>
          </p:cNvGraphicFramePr>
          <p:nvPr>
            <p:ph idx="1"/>
            <p:extLst>
              <p:ext uri="{D42A27DB-BD31-4B8C-83A1-F6EECF244321}">
                <p14:modId xmlns:p14="http://schemas.microsoft.com/office/powerpoint/2010/main" val="466110071"/>
              </p:ext>
            </p:extLst>
          </p:nvPr>
        </p:nvGraphicFramePr>
        <p:xfrm>
          <a:off x="1096963" y="1846264"/>
          <a:ext cx="10058397" cy="3825195"/>
        </p:xfrm>
        <a:graphic>
          <a:graphicData uri="http://schemas.openxmlformats.org/drawingml/2006/table">
            <a:tbl>
              <a:tblPr firstRow="1" bandRow="1">
                <a:tableStyleId>{5940675A-B579-460E-94D1-54222C63F5DA}</a:tableStyleId>
              </a:tblPr>
              <a:tblGrid>
                <a:gridCol w="3352799">
                  <a:extLst>
                    <a:ext uri="{9D8B030D-6E8A-4147-A177-3AD203B41FA5}">
                      <a16:colId xmlns:a16="http://schemas.microsoft.com/office/drawing/2014/main" val="3344976443"/>
                    </a:ext>
                  </a:extLst>
                </a:gridCol>
                <a:gridCol w="3352799">
                  <a:extLst>
                    <a:ext uri="{9D8B030D-6E8A-4147-A177-3AD203B41FA5}">
                      <a16:colId xmlns:a16="http://schemas.microsoft.com/office/drawing/2014/main" val="3084863677"/>
                    </a:ext>
                  </a:extLst>
                </a:gridCol>
                <a:gridCol w="3352799">
                  <a:extLst>
                    <a:ext uri="{9D8B030D-6E8A-4147-A177-3AD203B41FA5}">
                      <a16:colId xmlns:a16="http://schemas.microsoft.com/office/drawing/2014/main" val="2670730744"/>
                    </a:ext>
                  </a:extLst>
                </a:gridCol>
              </a:tblGrid>
              <a:tr h="765039">
                <a:tc>
                  <a:txBody>
                    <a:bodyPr/>
                    <a:lstStyle/>
                    <a:p>
                      <a:pPr algn="ctr"/>
                      <a:r>
                        <a:rPr lang="en-IN" sz="2000" b="1" dirty="0"/>
                        <a:t>Concept</a:t>
                      </a:r>
                    </a:p>
                  </a:txBody>
                  <a:tcPr anchor="ctr"/>
                </a:tc>
                <a:tc>
                  <a:txBody>
                    <a:bodyPr/>
                    <a:lstStyle/>
                    <a:p>
                      <a:pPr algn="ctr"/>
                      <a:r>
                        <a:rPr lang="en-IN" sz="2000" b="1" dirty="0"/>
                        <a:t>Ethical Requirement</a:t>
                      </a:r>
                    </a:p>
                  </a:txBody>
                  <a:tcPr anchor="ctr"/>
                </a:tc>
                <a:tc>
                  <a:txBody>
                    <a:bodyPr/>
                    <a:lstStyle/>
                    <a:p>
                      <a:pPr algn="ctr"/>
                      <a:r>
                        <a:rPr lang="en-IN" sz="2000" b="1"/>
                        <a:t>Goal</a:t>
                      </a:r>
                      <a:endParaRPr lang="en-IN" sz="2000" b="1" dirty="0"/>
                    </a:p>
                  </a:txBody>
                  <a:tcPr anchor="ctr"/>
                </a:tc>
                <a:extLst>
                  <a:ext uri="{0D108BD9-81ED-4DB2-BD59-A6C34878D82A}">
                    <a16:rowId xmlns:a16="http://schemas.microsoft.com/office/drawing/2014/main" val="146629928"/>
                  </a:ext>
                </a:extLst>
              </a:tr>
              <a:tr h="765039">
                <a:tc>
                  <a:txBody>
                    <a:bodyPr/>
                    <a:lstStyle/>
                    <a:p>
                      <a:r>
                        <a:rPr lang="en-IN" sz="2000" dirty="0"/>
                        <a:t>Consent</a:t>
                      </a:r>
                    </a:p>
                  </a:txBody>
                  <a:tcPr/>
                </a:tc>
                <a:tc>
                  <a:txBody>
                    <a:bodyPr/>
                    <a:lstStyle/>
                    <a:p>
                      <a:r>
                        <a:rPr lang="en-US" sz="2000" dirty="0"/>
                        <a:t>Explicit &amp; Informed</a:t>
                      </a:r>
                      <a:endParaRPr lang="en-IN" sz="2000" dirty="0"/>
                    </a:p>
                  </a:txBody>
                  <a:tcPr/>
                </a:tc>
                <a:tc>
                  <a:txBody>
                    <a:bodyPr/>
                    <a:lstStyle/>
                    <a:p>
                      <a:r>
                        <a:rPr lang="en-US" sz="2000" dirty="0"/>
                        <a:t>To give users agency over their digital selves.</a:t>
                      </a:r>
                      <a:endParaRPr lang="en-IN" sz="2000" dirty="0"/>
                    </a:p>
                  </a:txBody>
                  <a:tcPr/>
                </a:tc>
                <a:extLst>
                  <a:ext uri="{0D108BD9-81ED-4DB2-BD59-A6C34878D82A}">
                    <a16:rowId xmlns:a16="http://schemas.microsoft.com/office/drawing/2014/main" val="1603744730"/>
                  </a:ext>
                </a:extLst>
              </a:tr>
              <a:tr h="765039">
                <a:tc>
                  <a:txBody>
                    <a:bodyPr/>
                    <a:lstStyle/>
                    <a:p>
                      <a:r>
                        <a:rPr lang="en-IN" sz="2000" dirty="0"/>
                        <a:t>Anonymization</a:t>
                      </a:r>
                    </a:p>
                  </a:txBody>
                  <a:tcPr/>
                </a:tc>
                <a:tc>
                  <a:txBody>
                    <a:bodyPr/>
                    <a:lstStyle/>
                    <a:p>
                      <a:r>
                        <a:rPr lang="en-US" sz="2000"/>
                        <a:t>Irreversible removal of IDs</a:t>
                      </a:r>
                      <a:endParaRPr lang="en-IN" sz="2000" dirty="0"/>
                    </a:p>
                  </a:txBody>
                  <a:tcPr/>
                </a:tc>
                <a:tc>
                  <a:txBody>
                    <a:bodyPr/>
                    <a:lstStyle/>
                    <a:p>
                      <a:r>
                        <a:rPr lang="en-US" sz="2000" dirty="0"/>
                        <a:t>To prevent tracking of specific individuals</a:t>
                      </a:r>
                      <a:endParaRPr lang="en-IN" sz="2000" dirty="0"/>
                    </a:p>
                  </a:txBody>
                  <a:tcPr/>
                </a:tc>
                <a:extLst>
                  <a:ext uri="{0D108BD9-81ED-4DB2-BD59-A6C34878D82A}">
                    <a16:rowId xmlns:a16="http://schemas.microsoft.com/office/drawing/2014/main" val="4236956046"/>
                  </a:ext>
                </a:extLst>
              </a:tr>
              <a:tr h="765039">
                <a:tc>
                  <a:txBody>
                    <a:bodyPr/>
                    <a:lstStyle/>
                    <a:p>
                      <a:r>
                        <a:rPr lang="en-IN" sz="2000" dirty="0"/>
                        <a:t>Accountability</a:t>
                      </a:r>
                    </a:p>
                  </a:txBody>
                  <a:tcPr/>
                </a:tc>
                <a:tc>
                  <a:txBody>
                    <a:bodyPr/>
                    <a:lstStyle/>
                    <a:p>
                      <a:r>
                        <a:rPr lang="en-US" sz="2000" dirty="0"/>
                        <a:t>Human-in-the-loop</a:t>
                      </a:r>
                      <a:endParaRPr lang="en-IN" sz="2000" dirty="0"/>
                    </a:p>
                  </a:txBody>
                  <a:tcPr/>
                </a:tc>
                <a:tc>
                  <a:txBody>
                    <a:bodyPr/>
                    <a:lstStyle/>
                    <a:p>
                      <a:r>
                        <a:rPr lang="en-US" sz="2000" dirty="0"/>
                        <a:t>To ensure someone is responsible for AI errors.</a:t>
                      </a:r>
                      <a:endParaRPr lang="en-IN" sz="2000" dirty="0"/>
                    </a:p>
                  </a:txBody>
                  <a:tcPr/>
                </a:tc>
                <a:extLst>
                  <a:ext uri="{0D108BD9-81ED-4DB2-BD59-A6C34878D82A}">
                    <a16:rowId xmlns:a16="http://schemas.microsoft.com/office/drawing/2014/main" val="969940714"/>
                  </a:ext>
                </a:extLst>
              </a:tr>
              <a:tr h="765039">
                <a:tc>
                  <a:txBody>
                    <a:bodyPr/>
                    <a:lstStyle/>
                    <a:p>
                      <a:r>
                        <a:rPr lang="en-IN" sz="2000" dirty="0"/>
                        <a:t>Transparency</a:t>
                      </a:r>
                    </a:p>
                  </a:txBody>
                  <a:tcPr/>
                </a:tc>
                <a:tc>
                  <a:txBody>
                    <a:bodyPr/>
                    <a:lstStyle/>
                    <a:p>
                      <a:r>
                        <a:rPr lang="en-US" sz="2000" dirty="0"/>
                        <a:t>Open algorithms/notices</a:t>
                      </a:r>
                      <a:endParaRPr lang="en-IN" sz="2000" dirty="0"/>
                    </a:p>
                  </a:txBody>
                  <a:tcPr/>
                </a:tc>
                <a:tc>
                  <a:txBody>
                    <a:bodyPr/>
                    <a:lstStyle/>
                    <a:p>
                      <a:r>
                        <a:rPr lang="en-US" sz="2000" dirty="0"/>
                        <a:t>To eliminate hidden biases and "shady" practices.</a:t>
                      </a:r>
                      <a:endParaRPr lang="en-IN" sz="2000" dirty="0"/>
                    </a:p>
                  </a:txBody>
                  <a:tcPr/>
                </a:tc>
                <a:extLst>
                  <a:ext uri="{0D108BD9-81ED-4DB2-BD59-A6C34878D82A}">
                    <a16:rowId xmlns:a16="http://schemas.microsoft.com/office/drawing/2014/main" val="3657048174"/>
                  </a:ext>
                </a:extLst>
              </a:tr>
            </a:tbl>
          </a:graphicData>
        </a:graphic>
      </p:graphicFrame>
    </p:spTree>
    <p:extLst>
      <p:ext uri="{BB962C8B-B14F-4D97-AF65-F5344CB8AC3E}">
        <p14:creationId xmlns:p14="http://schemas.microsoft.com/office/powerpoint/2010/main" val="36286350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00CB-5305-AB43-1AD6-100FBE157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9CE03-88F7-398E-B8A0-F16176CC6412}"/>
              </a:ext>
            </a:extLst>
          </p:cNvPr>
          <p:cNvSpPr>
            <a:spLocks noGrp="1"/>
          </p:cNvSpPr>
          <p:nvPr>
            <p:ph type="title"/>
          </p:nvPr>
        </p:nvSpPr>
        <p:spPr/>
        <p:txBody>
          <a:bodyPr anchor="ctr"/>
          <a:lstStyle/>
          <a:p>
            <a:r>
              <a:rPr lang="en-US" dirty="0"/>
              <a:t>Black Box Problem</a:t>
            </a:r>
          </a:p>
        </p:txBody>
      </p:sp>
      <p:sp>
        <p:nvSpPr>
          <p:cNvPr id="3" name="Content Placeholder 2">
            <a:extLst>
              <a:ext uri="{FF2B5EF4-FFF2-40B4-BE49-F238E27FC236}">
                <a16:creationId xmlns:a16="http://schemas.microsoft.com/office/drawing/2014/main" id="{7F2C47A8-F434-D54F-6600-A753EEB8E746}"/>
              </a:ext>
            </a:extLst>
          </p:cNvPr>
          <p:cNvSpPr>
            <a:spLocks noGrp="1"/>
          </p:cNvSpPr>
          <p:nvPr>
            <p:ph idx="1"/>
          </p:nvPr>
        </p:nvSpPr>
        <p:spPr>
          <a:xfrm>
            <a:off x="1221377" y="1937657"/>
            <a:ext cx="10058399" cy="4332514"/>
          </a:xfrm>
        </p:spPr>
        <p:txBody>
          <a:bodyPr>
            <a:normAutofit/>
          </a:bodyPr>
          <a:lstStyle/>
          <a:p>
            <a:pPr marL="0" indent="0">
              <a:buNone/>
            </a:pPr>
            <a:r>
              <a:rPr lang="en-US" b="1" dirty="0"/>
              <a:t>The "Black Box" problem—where data decisions are made without anyone knowing why.</a:t>
            </a:r>
          </a:p>
          <a:p>
            <a:pPr marL="457200" indent="-457200">
              <a:buFont typeface="+mj-lt"/>
              <a:buAutoNum type="arabicPeriod"/>
            </a:pPr>
            <a:r>
              <a:rPr lang="en-US" b="1" dirty="0"/>
              <a:t>The "Black Box" Problem: </a:t>
            </a:r>
            <a:r>
              <a:rPr lang="en-US" dirty="0"/>
              <a:t>Many AI models make decisions (like who gets a loan) that even the creators can't fully explain. Transparency demands "Explainability"—the ability to describe how a result was reached.</a:t>
            </a:r>
          </a:p>
          <a:p>
            <a:pPr marL="457200" indent="-457200">
              <a:buFont typeface="+mj-lt"/>
              <a:buAutoNum type="arabicPeriod"/>
            </a:pPr>
            <a:r>
              <a:rPr lang="en-US" b="1" dirty="0"/>
              <a:t>Ownership: </a:t>
            </a:r>
            <a:r>
              <a:rPr lang="en-US" dirty="0"/>
              <a:t>Who owns the data? Ethical principles suggest that while a company might store the data, the individual still maintains rights over how it represents them.</a:t>
            </a:r>
          </a:p>
          <a:p>
            <a:pPr marL="457200" indent="-457200">
              <a:buFont typeface="+mj-lt"/>
              <a:buAutoNum type="arabicPeriod"/>
            </a:pPr>
            <a:r>
              <a:rPr lang="en-US" b="1" dirty="0"/>
              <a:t>Data Provenance: </a:t>
            </a:r>
            <a:r>
              <a:rPr lang="en-US" dirty="0"/>
              <a:t>Knowing the history of a dataset—where it came from and how it was modified—to ensure it wasn't obtained unethically.</a:t>
            </a:r>
            <a:endParaRPr lang="en-US" sz="2000" dirty="0"/>
          </a:p>
        </p:txBody>
      </p:sp>
    </p:spTree>
    <p:extLst>
      <p:ext uri="{BB962C8B-B14F-4D97-AF65-F5344CB8AC3E}">
        <p14:creationId xmlns:p14="http://schemas.microsoft.com/office/powerpoint/2010/main" val="20119151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79AC5-467A-6E67-DBC3-D43B8FB2D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634DF-D43A-57E8-E1E4-7DFD3F01D0CE}"/>
              </a:ext>
            </a:extLst>
          </p:cNvPr>
          <p:cNvSpPr>
            <a:spLocks noGrp="1"/>
          </p:cNvSpPr>
          <p:nvPr>
            <p:ph type="title"/>
          </p:nvPr>
        </p:nvSpPr>
        <p:spPr/>
        <p:txBody>
          <a:bodyPr anchor="ctr"/>
          <a:lstStyle/>
          <a:p>
            <a:r>
              <a:rPr lang="en-US" dirty="0"/>
              <a:t>Why Does Data Ethics Matter?</a:t>
            </a:r>
          </a:p>
        </p:txBody>
      </p:sp>
      <p:sp>
        <p:nvSpPr>
          <p:cNvPr id="3" name="Content Placeholder 2">
            <a:extLst>
              <a:ext uri="{FF2B5EF4-FFF2-40B4-BE49-F238E27FC236}">
                <a16:creationId xmlns:a16="http://schemas.microsoft.com/office/drawing/2014/main" id="{F167E9BC-EB58-9830-AA2B-DA5C387633F4}"/>
              </a:ext>
            </a:extLst>
          </p:cNvPr>
          <p:cNvSpPr>
            <a:spLocks noGrp="1"/>
          </p:cNvSpPr>
          <p:nvPr>
            <p:ph idx="1"/>
          </p:nvPr>
        </p:nvSpPr>
        <p:spPr>
          <a:xfrm>
            <a:off x="1221377" y="1937657"/>
            <a:ext cx="10058399" cy="4332514"/>
          </a:xfrm>
        </p:spPr>
        <p:txBody>
          <a:bodyPr>
            <a:normAutofit/>
          </a:bodyPr>
          <a:lstStyle/>
          <a:p>
            <a:pPr marL="457200" indent="-457200">
              <a:buFont typeface="+mj-lt"/>
              <a:buAutoNum type="arabicPeriod"/>
            </a:pPr>
            <a:r>
              <a:rPr lang="en-US" b="1" dirty="0"/>
              <a:t>Mitigating Risk: </a:t>
            </a:r>
            <a:r>
              <a:rPr lang="en-US" dirty="0"/>
              <a:t>Ethical oversights lead to massive lawsuits, regulatory fines, and permanent brand damage.</a:t>
            </a:r>
          </a:p>
          <a:p>
            <a:pPr marL="457200" indent="-457200">
              <a:buFont typeface="+mj-lt"/>
              <a:buAutoNum type="arabicPeriod"/>
            </a:pPr>
            <a:r>
              <a:rPr lang="en-US" b="1" dirty="0"/>
              <a:t>Trust as Currency: </a:t>
            </a:r>
            <a:r>
              <a:rPr lang="en-US" dirty="0"/>
              <a:t>In a world of deepfakes and data breaches, trust is a competitive advantage. Users gravitate toward companies that treat their data with respect.</a:t>
            </a:r>
          </a:p>
          <a:p>
            <a:pPr marL="457200" indent="-457200">
              <a:buFont typeface="+mj-lt"/>
              <a:buAutoNum type="arabicPeriod"/>
            </a:pPr>
            <a:r>
              <a:rPr lang="en-US" b="1" dirty="0"/>
              <a:t>Social Stability: </a:t>
            </a:r>
            <a:r>
              <a:rPr lang="en-US" dirty="0"/>
              <a:t>Unethical data use (like mass surveillance or targeted misinformation) can destabilize communities. Accountability ensures that the power of data is used to empower people rather than manipulate them.</a:t>
            </a:r>
            <a:endParaRPr lang="en-US" sz="2000" dirty="0"/>
          </a:p>
        </p:txBody>
      </p:sp>
    </p:spTree>
    <p:extLst>
      <p:ext uri="{BB962C8B-B14F-4D97-AF65-F5344CB8AC3E}">
        <p14:creationId xmlns:p14="http://schemas.microsoft.com/office/powerpoint/2010/main" val="13899633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649A1-0A90-E204-99AF-24E1A8564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E58FA7-7221-E365-79BA-8345456A26EE}"/>
              </a:ext>
            </a:extLst>
          </p:cNvPr>
          <p:cNvSpPr>
            <a:spLocks noGrp="1"/>
          </p:cNvSpPr>
          <p:nvPr>
            <p:ph type="title"/>
          </p:nvPr>
        </p:nvSpPr>
        <p:spPr/>
        <p:txBody>
          <a:bodyPr anchor="ctr"/>
          <a:lstStyle/>
          <a:p>
            <a:r>
              <a:rPr lang="en-US" dirty="0"/>
              <a:t>Regulatory Compliance (e.g., CCPA, GDPR)</a:t>
            </a:r>
            <a:endParaRPr lang="en-IN" dirty="0"/>
          </a:p>
        </p:txBody>
      </p:sp>
      <p:sp>
        <p:nvSpPr>
          <p:cNvPr id="3" name="Content Placeholder 2">
            <a:extLst>
              <a:ext uri="{FF2B5EF4-FFF2-40B4-BE49-F238E27FC236}">
                <a16:creationId xmlns:a16="http://schemas.microsoft.com/office/drawing/2014/main" id="{B0D5EF04-44E3-BC41-8F21-198E0B78805F}"/>
              </a:ext>
            </a:extLst>
          </p:cNvPr>
          <p:cNvSpPr>
            <a:spLocks noGrp="1"/>
          </p:cNvSpPr>
          <p:nvPr>
            <p:ph idx="1"/>
          </p:nvPr>
        </p:nvSpPr>
        <p:spPr>
          <a:xfrm>
            <a:off x="1097280" y="1845733"/>
            <a:ext cx="10058400" cy="4457095"/>
          </a:xfrm>
        </p:spPr>
        <p:txBody>
          <a:bodyPr>
            <a:normAutofit/>
          </a:bodyPr>
          <a:lstStyle/>
          <a:p>
            <a:r>
              <a:rPr lang="en-US" dirty="0"/>
              <a:t>Regulatory compliance means that an organization follows the laws, rules, regulations, and industry standards set by governments or regulatory authorities. These rules are created to ensure businesses operate legally, ethically, securely, and responsibly.</a:t>
            </a:r>
          </a:p>
          <a:p>
            <a:r>
              <a:rPr lang="en-US" dirty="0"/>
              <a:t>In simple terms, regulatory compliance means:</a:t>
            </a:r>
          </a:p>
          <a:p>
            <a:r>
              <a:rPr lang="en-US" dirty="0"/>
              <a:t>“Following the required legal and industry rules while conducting business operations.”</a:t>
            </a:r>
          </a:p>
          <a:p>
            <a:r>
              <a:rPr lang="en-US" b="1" dirty="0"/>
              <a:t>Purpose of Regulatory Compliance</a:t>
            </a:r>
            <a:endParaRPr lang="en-US" dirty="0"/>
          </a:p>
          <a:p>
            <a:pPr marL="651383" lvl="1" indent="-358775">
              <a:buFont typeface="Arial" panose="020B0604020202020204" pitchFamily="34" charset="0"/>
              <a:buChar char="•"/>
            </a:pPr>
            <a:r>
              <a:rPr lang="en-US" sz="2000" dirty="0"/>
              <a:t>Protect customer and employee data</a:t>
            </a:r>
          </a:p>
          <a:p>
            <a:pPr marL="651383" lvl="1" indent="-358775">
              <a:buFont typeface="Arial" panose="020B0604020202020204" pitchFamily="34" charset="0"/>
              <a:buChar char="•"/>
            </a:pPr>
            <a:r>
              <a:rPr lang="en-US" sz="2000" dirty="0"/>
              <a:t>Maintain privacy and security</a:t>
            </a:r>
          </a:p>
          <a:p>
            <a:pPr marL="651383" lvl="1" indent="-358775">
              <a:buFont typeface="Arial" panose="020B0604020202020204" pitchFamily="34" charset="0"/>
              <a:buChar char="•"/>
            </a:pPr>
            <a:r>
              <a:rPr lang="en-US" sz="2000" dirty="0"/>
              <a:t>Prevent fraud and cyber threats</a:t>
            </a:r>
          </a:p>
          <a:p>
            <a:pPr marL="651383" lvl="1" indent="-358775">
              <a:buFont typeface="Arial" panose="020B0604020202020204" pitchFamily="34" charset="0"/>
              <a:buChar char="•"/>
            </a:pPr>
            <a:r>
              <a:rPr lang="en-US" sz="2000" dirty="0"/>
              <a:t>Ensure fair business practices</a:t>
            </a:r>
          </a:p>
          <a:p>
            <a:pPr marL="651383" lvl="1" indent="-358775">
              <a:buFont typeface="Arial" panose="020B0604020202020204" pitchFamily="34" charset="0"/>
              <a:buChar char="•"/>
            </a:pPr>
            <a:r>
              <a:rPr lang="en-US" sz="2000" dirty="0"/>
              <a:t>Avoid legal penalties and fines</a:t>
            </a:r>
          </a:p>
          <a:p>
            <a:pPr marL="651383" lvl="1" indent="-358775">
              <a:buFont typeface="Arial" panose="020B0604020202020204" pitchFamily="34" charset="0"/>
              <a:buChar char="•"/>
            </a:pPr>
            <a:r>
              <a:rPr lang="en-US" sz="2000" dirty="0"/>
              <a:t>Build customer trust and reputation</a:t>
            </a:r>
            <a:endParaRPr lang="en-IN" sz="2000" dirty="0"/>
          </a:p>
        </p:txBody>
      </p:sp>
    </p:spTree>
    <p:extLst>
      <p:ext uri="{BB962C8B-B14F-4D97-AF65-F5344CB8AC3E}">
        <p14:creationId xmlns:p14="http://schemas.microsoft.com/office/powerpoint/2010/main" val="14766542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4DCD2-3E84-181A-7D57-21DF593B8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73BB3-6A83-7ACF-0084-5587D0778D12}"/>
              </a:ext>
            </a:extLst>
          </p:cNvPr>
          <p:cNvSpPr>
            <a:spLocks noGrp="1"/>
          </p:cNvSpPr>
          <p:nvPr>
            <p:ph type="title"/>
          </p:nvPr>
        </p:nvSpPr>
        <p:spPr/>
        <p:txBody>
          <a:bodyPr anchor="ctr"/>
          <a:lstStyle/>
          <a:p>
            <a:r>
              <a:rPr lang="en-US" dirty="0"/>
              <a:t>CCPA</a:t>
            </a:r>
          </a:p>
        </p:txBody>
      </p:sp>
      <p:sp>
        <p:nvSpPr>
          <p:cNvPr id="6" name="Content Placeholder 5">
            <a:extLst>
              <a:ext uri="{FF2B5EF4-FFF2-40B4-BE49-F238E27FC236}">
                <a16:creationId xmlns:a16="http://schemas.microsoft.com/office/drawing/2014/main" id="{CB5CDE13-75C0-A618-ADB0-F1F6C51E5838}"/>
              </a:ext>
            </a:extLst>
          </p:cNvPr>
          <p:cNvSpPr>
            <a:spLocks noGrp="1"/>
          </p:cNvSpPr>
          <p:nvPr>
            <p:ph idx="1"/>
          </p:nvPr>
        </p:nvSpPr>
        <p:spPr>
          <a:xfrm>
            <a:off x="1097280" y="2007327"/>
            <a:ext cx="10058400" cy="4208416"/>
          </a:xfrm>
        </p:spPr>
        <p:txBody>
          <a:bodyPr>
            <a:normAutofit/>
          </a:bodyPr>
          <a:lstStyle/>
          <a:p>
            <a:r>
              <a:rPr lang="en-US" dirty="0"/>
              <a:t>The California Consumer Privacy Act (CCPA) is a privacy law introduced in California, USA, to protect the personal information of California residents. It gives consumers more control over how businesses collect, use, share, and sell their personal data.</a:t>
            </a:r>
          </a:p>
          <a:p>
            <a:r>
              <a:rPr lang="en-US" b="1" dirty="0"/>
              <a:t>Main Features of CCPA </a:t>
            </a:r>
          </a:p>
          <a:p>
            <a:pPr marL="651383" lvl="1" indent="-358775">
              <a:buFont typeface="Arial" panose="020B0604020202020204" pitchFamily="34" charset="0"/>
              <a:buChar char="•"/>
            </a:pPr>
            <a:r>
              <a:rPr lang="en-US" sz="2000" dirty="0"/>
              <a:t>Gives consumers the right to know what personal data is collected.</a:t>
            </a:r>
          </a:p>
          <a:p>
            <a:pPr marL="651383" lvl="1" indent="-358775">
              <a:buFont typeface="Arial" panose="020B0604020202020204" pitchFamily="34" charset="0"/>
              <a:buChar char="•"/>
            </a:pPr>
            <a:r>
              <a:rPr lang="en-US" sz="2000" dirty="0"/>
              <a:t>Allows users to request deletion of their data.</a:t>
            </a:r>
          </a:p>
          <a:p>
            <a:pPr marL="651383" lvl="1" indent="-358775">
              <a:buFont typeface="Arial" panose="020B0604020202020204" pitchFamily="34" charset="0"/>
              <a:buChar char="•"/>
            </a:pPr>
            <a:r>
              <a:rPr lang="en-US" sz="2000" dirty="0"/>
              <a:t>Provides the right to opt out of the sale of personal information.</a:t>
            </a:r>
          </a:p>
          <a:p>
            <a:pPr marL="651383" lvl="1" indent="-358775">
              <a:buFont typeface="Arial" panose="020B0604020202020204" pitchFamily="34" charset="0"/>
              <a:buChar char="•"/>
            </a:pPr>
            <a:r>
              <a:rPr lang="en-US" sz="2000" dirty="0"/>
              <a:t>Requires businesses to maintain transparency regarding data usage.</a:t>
            </a:r>
          </a:p>
          <a:p>
            <a:pPr marL="651383" lvl="1" indent="-358775">
              <a:buFont typeface="Arial" panose="020B0604020202020204" pitchFamily="34" charset="0"/>
              <a:buChar char="•"/>
            </a:pPr>
            <a:r>
              <a:rPr lang="en-US" sz="2000" dirty="0"/>
              <a:t>Applies mainly to businesses handling large amounts of California consumer data.</a:t>
            </a:r>
            <a:endParaRPr lang="en-IN" sz="2000" dirty="0"/>
          </a:p>
        </p:txBody>
      </p:sp>
    </p:spTree>
    <p:extLst>
      <p:ext uri="{BB962C8B-B14F-4D97-AF65-F5344CB8AC3E}">
        <p14:creationId xmlns:p14="http://schemas.microsoft.com/office/powerpoint/2010/main" val="40277404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DA717-D193-ABDF-E0D0-9C0CFA03F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0CBC3-AB0C-3FC3-2F8C-7D3B950B6703}"/>
              </a:ext>
            </a:extLst>
          </p:cNvPr>
          <p:cNvSpPr>
            <a:spLocks noGrp="1"/>
          </p:cNvSpPr>
          <p:nvPr>
            <p:ph type="title"/>
          </p:nvPr>
        </p:nvSpPr>
        <p:spPr/>
        <p:txBody>
          <a:bodyPr anchor="ctr"/>
          <a:lstStyle/>
          <a:p>
            <a:r>
              <a:rPr lang="en-US" dirty="0"/>
              <a:t>GDPR</a:t>
            </a:r>
          </a:p>
        </p:txBody>
      </p:sp>
      <p:sp>
        <p:nvSpPr>
          <p:cNvPr id="6" name="Content Placeholder 5">
            <a:extLst>
              <a:ext uri="{FF2B5EF4-FFF2-40B4-BE49-F238E27FC236}">
                <a16:creationId xmlns:a16="http://schemas.microsoft.com/office/drawing/2014/main" id="{A6AE650E-CD75-E0DB-8B1C-45FFC19D8C58}"/>
              </a:ext>
            </a:extLst>
          </p:cNvPr>
          <p:cNvSpPr>
            <a:spLocks noGrp="1"/>
          </p:cNvSpPr>
          <p:nvPr>
            <p:ph idx="1"/>
          </p:nvPr>
        </p:nvSpPr>
        <p:spPr>
          <a:xfrm>
            <a:off x="1097280" y="2007327"/>
            <a:ext cx="10058400" cy="4458788"/>
          </a:xfrm>
        </p:spPr>
        <p:txBody>
          <a:bodyPr>
            <a:normAutofit lnSpcReduction="10000"/>
          </a:bodyPr>
          <a:lstStyle/>
          <a:p>
            <a:pPr marL="0" indent="0">
              <a:buNone/>
            </a:pPr>
            <a:r>
              <a:rPr lang="en-US" dirty="0"/>
              <a:t>The General Data Protection Regulation (GDPR) is a European Union privacy regulation introduced in 2018. It governs how organizations collect, process, store, and manage the personal data of people in the EU and EEA regions.</a:t>
            </a:r>
          </a:p>
          <a:p>
            <a:pPr marL="0" indent="0">
              <a:buNone/>
            </a:pPr>
            <a:r>
              <a:rPr lang="en-US" b="1" dirty="0"/>
              <a:t>Main Features of GDPR</a:t>
            </a:r>
          </a:p>
          <a:p>
            <a:pPr marL="457200" indent="-457200">
              <a:buFont typeface="+mj-lt"/>
              <a:buAutoNum type="arabicPeriod"/>
            </a:pPr>
            <a:r>
              <a:rPr lang="en-US" dirty="0"/>
              <a:t>Requires businesses to obtain user consent before collecting data.</a:t>
            </a:r>
          </a:p>
          <a:p>
            <a:pPr marL="457200" indent="-457200">
              <a:buFont typeface="+mj-lt"/>
              <a:buAutoNum type="arabicPeriod"/>
            </a:pPr>
            <a:r>
              <a:rPr lang="en-US" dirty="0"/>
              <a:t>Gives individuals rights such as:</a:t>
            </a:r>
          </a:p>
          <a:p>
            <a:pPr marL="749808" lvl="1" indent="-457200"/>
            <a:r>
              <a:rPr lang="en-US" dirty="0"/>
              <a:t>Right to access data</a:t>
            </a:r>
          </a:p>
          <a:p>
            <a:pPr marL="749808" lvl="1" indent="-457200"/>
            <a:r>
              <a:rPr lang="en-US"/>
              <a:t>Right to correction</a:t>
            </a:r>
          </a:p>
          <a:p>
            <a:pPr marL="749808" lvl="1" indent="-457200"/>
            <a:r>
              <a:rPr lang="en-US"/>
              <a:t>Right to deletion (“Right to be Forgotten”)</a:t>
            </a:r>
          </a:p>
          <a:p>
            <a:pPr marL="749808" lvl="1" indent="-457200"/>
            <a:r>
              <a:rPr lang="en-US"/>
              <a:t>Right to data portability</a:t>
            </a:r>
          </a:p>
          <a:p>
            <a:pPr marL="342900" indent="-342900">
              <a:buFont typeface="+mj-lt"/>
              <a:buAutoNum type="arabicPeriod"/>
            </a:pPr>
            <a:r>
              <a:rPr lang="en-US"/>
              <a:t>Applies to any company worldwide handling EU citizen data.</a:t>
            </a:r>
          </a:p>
          <a:p>
            <a:pPr marL="342900" indent="-342900">
              <a:buFont typeface="+mj-lt"/>
              <a:buAutoNum type="arabicPeriod"/>
            </a:pPr>
            <a:r>
              <a:rPr lang="en-US"/>
              <a:t>Focuses heavily on privacy, accountability, and transparency.</a:t>
            </a:r>
            <a:endParaRPr lang="en-US" dirty="0"/>
          </a:p>
        </p:txBody>
      </p:sp>
    </p:spTree>
    <p:extLst>
      <p:ext uri="{BB962C8B-B14F-4D97-AF65-F5344CB8AC3E}">
        <p14:creationId xmlns:p14="http://schemas.microsoft.com/office/powerpoint/2010/main" val="33472696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9CCF2-8E3D-E257-1687-173F4BAF8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A6390-0522-B3CF-0468-E75B1F4FE3F5}"/>
              </a:ext>
            </a:extLst>
          </p:cNvPr>
          <p:cNvSpPr>
            <a:spLocks noGrp="1"/>
          </p:cNvSpPr>
          <p:nvPr>
            <p:ph type="title"/>
          </p:nvPr>
        </p:nvSpPr>
        <p:spPr/>
        <p:txBody>
          <a:bodyPr anchor="ctr"/>
          <a:lstStyle/>
          <a:p>
            <a:r>
              <a:rPr lang="en-US" dirty="0"/>
              <a:t>What is Considered Data Collection, Sale, and Processing in CCPA and GDPR?</a:t>
            </a:r>
          </a:p>
        </p:txBody>
      </p:sp>
      <p:sp>
        <p:nvSpPr>
          <p:cNvPr id="6" name="Content Placeholder 5">
            <a:extLst>
              <a:ext uri="{FF2B5EF4-FFF2-40B4-BE49-F238E27FC236}">
                <a16:creationId xmlns:a16="http://schemas.microsoft.com/office/drawing/2014/main" id="{1DF39FE8-D7C2-C9FF-33A2-D20EC7B9B138}"/>
              </a:ext>
            </a:extLst>
          </p:cNvPr>
          <p:cNvSpPr>
            <a:spLocks noGrp="1"/>
          </p:cNvSpPr>
          <p:nvPr>
            <p:ph idx="1"/>
          </p:nvPr>
        </p:nvSpPr>
        <p:spPr>
          <a:xfrm>
            <a:off x="1097280" y="2007327"/>
            <a:ext cx="10058400" cy="4458788"/>
          </a:xfrm>
        </p:spPr>
        <p:txBody>
          <a:bodyPr>
            <a:normAutofit/>
          </a:bodyPr>
          <a:lstStyle/>
          <a:p>
            <a:pPr marL="0" indent="0">
              <a:buNone/>
            </a:pPr>
            <a:r>
              <a:rPr lang="en-US" dirty="0"/>
              <a:t>Both CCPA and GDPR consider personal data as any information that can identify an individual, such as:</a:t>
            </a:r>
          </a:p>
          <a:p>
            <a:pPr marL="358775" indent="-358775">
              <a:buFont typeface="Wingdings" panose="05000000000000000000" pitchFamily="2" charset="2"/>
              <a:buChar char="Ø"/>
            </a:pPr>
            <a:r>
              <a:rPr lang="en-US" dirty="0"/>
              <a:t>Name</a:t>
            </a:r>
          </a:p>
          <a:p>
            <a:pPr marL="358775" indent="-358775">
              <a:buFont typeface="Wingdings" panose="05000000000000000000" pitchFamily="2" charset="2"/>
              <a:buChar char="Ø"/>
            </a:pPr>
            <a:r>
              <a:rPr lang="en-US" dirty="0"/>
              <a:t>Email address</a:t>
            </a:r>
          </a:p>
          <a:p>
            <a:pPr marL="358775" indent="-358775">
              <a:buFont typeface="Wingdings" panose="05000000000000000000" pitchFamily="2" charset="2"/>
              <a:buChar char="Ø"/>
            </a:pPr>
            <a:r>
              <a:rPr lang="en-US" dirty="0"/>
              <a:t>Phone number</a:t>
            </a:r>
          </a:p>
          <a:p>
            <a:pPr marL="358775" indent="-358775">
              <a:buFont typeface="Wingdings" panose="05000000000000000000" pitchFamily="2" charset="2"/>
              <a:buChar char="Ø"/>
            </a:pPr>
            <a:r>
              <a:rPr lang="en-US" dirty="0"/>
              <a:t>IP address</a:t>
            </a:r>
          </a:p>
          <a:p>
            <a:pPr marL="358775" indent="-358775">
              <a:buFont typeface="Wingdings" panose="05000000000000000000" pitchFamily="2" charset="2"/>
              <a:buChar char="Ø"/>
            </a:pPr>
            <a:r>
              <a:rPr lang="en-US" dirty="0"/>
              <a:t>Location data</a:t>
            </a:r>
          </a:p>
          <a:p>
            <a:pPr marL="358775" indent="-358775">
              <a:buFont typeface="Wingdings" panose="05000000000000000000" pitchFamily="2" charset="2"/>
              <a:buChar char="Ø"/>
            </a:pPr>
            <a:r>
              <a:rPr lang="en-US" dirty="0"/>
              <a:t>Device information</a:t>
            </a:r>
          </a:p>
          <a:p>
            <a:pPr marL="358775" indent="-358775">
              <a:buFont typeface="Wingdings" panose="05000000000000000000" pitchFamily="2" charset="2"/>
              <a:buChar char="Ø"/>
            </a:pPr>
            <a:r>
              <a:rPr lang="en-US" dirty="0"/>
              <a:t>Online activity records</a:t>
            </a:r>
          </a:p>
        </p:txBody>
      </p:sp>
    </p:spTree>
    <p:extLst>
      <p:ext uri="{BB962C8B-B14F-4D97-AF65-F5344CB8AC3E}">
        <p14:creationId xmlns:p14="http://schemas.microsoft.com/office/powerpoint/2010/main" val="23846420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0F8EE-AE4D-6BE3-6453-147A52F64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742E8-BF1B-77A0-F3D3-E379B68270DF}"/>
              </a:ext>
            </a:extLst>
          </p:cNvPr>
          <p:cNvSpPr>
            <a:spLocks noGrp="1"/>
          </p:cNvSpPr>
          <p:nvPr>
            <p:ph type="title"/>
          </p:nvPr>
        </p:nvSpPr>
        <p:spPr>
          <a:xfrm>
            <a:off x="1097280" y="286603"/>
            <a:ext cx="10058400" cy="1450757"/>
          </a:xfrm>
        </p:spPr>
        <p:txBody>
          <a:bodyPr anchor="ctr"/>
          <a:lstStyle/>
          <a:p>
            <a:r>
              <a:rPr lang="en-US" dirty="0"/>
              <a:t>Under GDPR</a:t>
            </a:r>
          </a:p>
        </p:txBody>
      </p:sp>
      <p:sp>
        <p:nvSpPr>
          <p:cNvPr id="6" name="Content Placeholder 5">
            <a:extLst>
              <a:ext uri="{FF2B5EF4-FFF2-40B4-BE49-F238E27FC236}">
                <a16:creationId xmlns:a16="http://schemas.microsoft.com/office/drawing/2014/main" id="{30421323-B30E-C0A7-0951-1F2FC3EA947F}"/>
              </a:ext>
            </a:extLst>
          </p:cNvPr>
          <p:cNvSpPr>
            <a:spLocks noGrp="1"/>
          </p:cNvSpPr>
          <p:nvPr>
            <p:ph idx="1"/>
          </p:nvPr>
        </p:nvSpPr>
        <p:spPr>
          <a:xfrm>
            <a:off x="1097280" y="2007327"/>
            <a:ext cx="10058400" cy="4458788"/>
          </a:xfrm>
        </p:spPr>
        <p:txBody>
          <a:bodyPr>
            <a:normAutofit lnSpcReduction="10000"/>
          </a:bodyPr>
          <a:lstStyle/>
          <a:p>
            <a:pPr marL="0" indent="0">
              <a:buNone/>
            </a:pPr>
            <a:r>
              <a:rPr lang="en-US" dirty="0"/>
              <a:t>The term “data processing” is very broad. It includes almost every action performed on personal data.</a:t>
            </a:r>
          </a:p>
          <a:p>
            <a:pPr marL="0" indent="0">
              <a:buNone/>
            </a:pPr>
            <a:r>
              <a:rPr lang="en-US" b="1" dirty="0"/>
              <a:t>GDPR considers these as processing:</a:t>
            </a:r>
          </a:p>
          <a:p>
            <a:pPr marL="457200" indent="-457200">
              <a:buFont typeface="+mj-lt"/>
              <a:buAutoNum type="arabicPeriod"/>
            </a:pPr>
            <a:r>
              <a:rPr lang="en-US" dirty="0"/>
              <a:t>Collecting user information</a:t>
            </a:r>
          </a:p>
          <a:p>
            <a:pPr marL="457200" indent="-457200">
              <a:buFont typeface="+mj-lt"/>
              <a:buAutoNum type="arabicPeriod"/>
            </a:pPr>
            <a:r>
              <a:rPr lang="en-US" dirty="0"/>
              <a:t>Recording or storing data</a:t>
            </a:r>
          </a:p>
          <a:p>
            <a:pPr marL="457200" indent="-457200">
              <a:buFont typeface="+mj-lt"/>
              <a:buAutoNum type="arabicPeriod"/>
            </a:pPr>
            <a:r>
              <a:rPr lang="en-US" dirty="0"/>
              <a:t>Organizing and analyzing data</a:t>
            </a:r>
          </a:p>
          <a:p>
            <a:pPr marL="457200" indent="-457200">
              <a:buFont typeface="+mj-lt"/>
              <a:buAutoNum type="arabicPeriod"/>
            </a:pPr>
            <a:r>
              <a:rPr lang="en-US" dirty="0"/>
              <a:t>Sharing data with third parties</a:t>
            </a:r>
          </a:p>
          <a:p>
            <a:pPr marL="457200" indent="-457200">
              <a:buFont typeface="+mj-lt"/>
              <a:buAutoNum type="arabicPeriod"/>
            </a:pPr>
            <a:r>
              <a:rPr lang="en-US" dirty="0"/>
              <a:t>Using cookies or tracking technologies</a:t>
            </a:r>
          </a:p>
          <a:p>
            <a:pPr marL="457200" indent="-457200">
              <a:buFont typeface="+mj-lt"/>
              <a:buAutoNum type="arabicPeriod"/>
            </a:pPr>
            <a:r>
              <a:rPr lang="en-US" dirty="0"/>
              <a:t>Profiling users for advertisements</a:t>
            </a:r>
          </a:p>
          <a:p>
            <a:pPr marL="457200" indent="-457200">
              <a:buFont typeface="+mj-lt"/>
              <a:buAutoNum type="arabicPeriod"/>
            </a:pPr>
            <a:r>
              <a:rPr lang="en-US" dirty="0"/>
              <a:t>Updating or modifying records</a:t>
            </a:r>
          </a:p>
          <a:p>
            <a:pPr marL="457200" indent="-457200">
              <a:buFont typeface="+mj-lt"/>
              <a:buAutoNum type="arabicPeriod"/>
            </a:pPr>
            <a:r>
              <a:rPr lang="en-US" dirty="0"/>
              <a:t>Deleting or erasing data</a:t>
            </a:r>
          </a:p>
        </p:txBody>
      </p:sp>
    </p:spTree>
    <p:extLst>
      <p:ext uri="{BB962C8B-B14F-4D97-AF65-F5344CB8AC3E}">
        <p14:creationId xmlns:p14="http://schemas.microsoft.com/office/powerpoint/2010/main" val="14305595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7E3E0-1A7C-CF5A-09C4-0AB1014B2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BE528-EBF7-F6E5-FF29-E2DC97B77287}"/>
              </a:ext>
            </a:extLst>
          </p:cNvPr>
          <p:cNvSpPr>
            <a:spLocks noGrp="1"/>
          </p:cNvSpPr>
          <p:nvPr>
            <p:ph type="title"/>
          </p:nvPr>
        </p:nvSpPr>
        <p:spPr/>
        <p:txBody>
          <a:bodyPr anchor="ctr"/>
          <a:lstStyle/>
          <a:p>
            <a:r>
              <a:rPr lang="en-US" dirty="0"/>
              <a:t>Under CCPA</a:t>
            </a:r>
          </a:p>
        </p:txBody>
      </p:sp>
      <p:graphicFrame>
        <p:nvGraphicFramePr>
          <p:cNvPr id="4" name="Table 3">
            <a:extLst>
              <a:ext uri="{FF2B5EF4-FFF2-40B4-BE49-F238E27FC236}">
                <a16:creationId xmlns:a16="http://schemas.microsoft.com/office/drawing/2014/main" id="{06EF22E7-5CAE-E33D-ECFD-C6168233A810}"/>
              </a:ext>
            </a:extLst>
          </p:cNvPr>
          <p:cNvGraphicFramePr>
            <a:graphicFrameLocks noGrp="1"/>
          </p:cNvGraphicFramePr>
          <p:nvPr>
            <p:extLst>
              <p:ext uri="{D42A27DB-BD31-4B8C-83A1-F6EECF244321}">
                <p14:modId xmlns:p14="http://schemas.microsoft.com/office/powerpoint/2010/main" val="1185506615"/>
              </p:ext>
            </p:extLst>
          </p:nvPr>
        </p:nvGraphicFramePr>
        <p:xfrm>
          <a:off x="1097280" y="1946364"/>
          <a:ext cx="10058400" cy="4454435"/>
        </p:xfrm>
        <a:graphic>
          <a:graphicData uri="http://schemas.openxmlformats.org/drawingml/2006/table">
            <a:tbl>
              <a:tblPr firstRow="1" bandRow="1">
                <a:tableStyleId>{5940675A-B579-460E-94D1-54222C63F5DA}</a:tableStyleId>
              </a:tblPr>
              <a:tblGrid>
                <a:gridCol w="3352800">
                  <a:extLst>
                    <a:ext uri="{9D8B030D-6E8A-4147-A177-3AD203B41FA5}">
                      <a16:colId xmlns:a16="http://schemas.microsoft.com/office/drawing/2014/main" val="3964021362"/>
                    </a:ext>
                  </a:extLst>
                </a:gridCol>
                <a:gridCol w="3352800">
                  <a:extLst>
                    <a:ext uri="{9D8B030D-6E8A-4147-A177-3AD203B41FA5}">
                      <a16:colId xmlns:a16="http://schemas.microsoft.com/office/drawing/2014/main" val="160635620"/>
                    </a:ext>
                  </a:extLst>
                </a:gridCol>
                <a:gridCol w="3352800">
                  <a:extLst>
                    <a:ext uri="{9D8B030D-6E8A-4147-A177-3AD203B41FA5}">
                      <a16:colId xmlns:a16="http://schemas.microsoft.com/office/drawing/2014/main" val="667448058"/>
                    </a:ext>
                  </a:extLst>
                </a:gridCol>
              </a:tblGrid>
              <a:tr h="1463307">
                <a:tc>
                  <a:txBody>
                    <a:bodyPr/>
                    <a:lstStyle/>
                    <a:p>
                      <a:pPr algn="l"/>
                      <a:r>
                        <a:rPr lang="en-IN" sz="2000" b="1" dirty="0"/>
                        <a:t>Data Collection : </a:t>
                      </a:r>
                    </a:p>
                    <a:p>
                      <a:r>
                        <a:rPr lang="en-US" sz="2000" dirty="0"/>
                        <a:t>This means gathering personal information from:</a:t>
                      </a:r>
                      <a:endParaRPr lang="en-IN"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b="1" dirty="0"/>
                        <a:t>Data Processing : </a:t>
                      </a:r>
                    </a:p>
                    <a:p>
                      <a:r>
                        <a:rPr lang="en-US" sz="2000" dirty="0"/>
                        <a:t>Processing refers to using the collected data for business activities such as: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000" b="1" dirty="0"/>
                        <a:t>Data Selling:</a:t>
                      </a:r>
                    </a:p>
                    <a:p>
                      <a:r>
                        <a:rPr lang="en-US" sz="2000" dirty="0"/>
                        <a:t>CCPA specifically focuses on the sale or sharing of personal data with another company or third party. Examples include:</a:t>
                      </a:r>
                      <a:endParaRPr lang="en-IN" sz="2000"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9015183"/>
                  </a:ext>
                </a:extLst>
              </a:tr>
              <a:tr h="476795">
                <a:tc>
                  <a:txBody>
                    <a:bodyPr/>
                    <a:lstStyle/>
                    <a:p>
                      <a:pPr marL="342900" indent="-342900" algn="l">
                        <a:buFont typeface="Arial" panose="020B0604020202020204" pitchFamily="34" charset="0"/>
                        <a:buChar char="•"/>
                      </a:pPr>
                      <a:r>
                        <a:rPr lang="en-IN" sz="2000" dirty="0"/>
                        <a:t>User</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IN" sz="2000" dirty="0"/>
                        <a:t>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IN" sz="2000" dirty="0"/>
                        <a:t>Sharing data with advertisers</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3601820"/>
                  </a:ext>
                </a:extLst>
              </a:tr>
              <a:tr h="489857">
                <a:tc>
                  <a:txBody>
                    <a:bodyPr/>
                    <a:lstStyle/>
                    <a:p>
                      <a:pPr marL="342900" indent="-342900" algn="l">
                        <a:buFont typeface="Arial" panose="020B0604020202020204" pitchFamily="34" charset="0"/>
                        <a:buChar char="•"/>
                      </a:pPr>
                      <a:r>
                        <a:rPr lang="en-IN" sz="2000" dirty="0"/>
                        <a:t>Vendor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IN" sz="2000" dirty="0"/>
                        <a:t>Customer analytics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IN" sz="2000" dirty="0"/>
                        <a:t>Selling customer lists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4726788"/>
                  </a:ext>
                </a:extLst>
              </a:tr>
              <a:tr h="522515">
                <a:tc>
                  <a:txBody>
                    <a:bodyPr/>
                    <a:lstStyle/>
                    <a:p>
                      <a:pPr marL="342900" indent="-342900" algn="l">
                        <a:buFont typeface="Arial" panose="020B0604020202020204" pitchFamily="34" charset="0"/>
                        <a:buChar char="•"/>
                      </a:pPr>
                      <a:r>
                        <a:rPr lang="en-IN" sz="2000" dirty="0"/>
                        <a:t>Websites</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IN" sz="2000" dirty="0"/>
                        <a:t>Personalization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US" sz="2000" dirty="0"/>
                        <a:t>Using third-party ad tracking systems</a:t>
                      </a:r>
                      <a:endParaRPr lang="en-IN" sz="20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4895398"/>
                  </a:ext>
                </a:extLst>
              </a:tr>
              <a:tr h="489857">
                <a:tc>
                  <a:txBody>
                    <a:bodyPr/>
                    <a:lstStyle/>
                    <a:p>
                      <a:pPr marL="342900" indent="-342900" algn="l">
                        <a:buFont typeface="Arial" panose="020B0604020202020204" pitchFamily="34" charset="0"/>
                        <a:buChar char="•"/>
                      </a:pPr>
                      <a:r>
                        <a:rPr lang="en-IN" sz="2000" dirty="0"/>
                        <a:t>Apps</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IN" sz="2000" dirty="0"/>
                        <a:t>Service improvement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3119280"/>
                  </a:ext>
                </a:extLst>
              </a:tr>
              <a:tr h="457201">
                <a:tc>
                  <a:txBody>
                    <a:bodyPr/>
                    <a:lstStyle/>
                    <a:p>
                      <a:pPr marL="342900" indent="-342900" algn="l">
                        <a:buFont typeface="Arial" panose="020B0604020202020204" pitchFamily="34" charset="0"/>
                        <a:buChar char="•"/>
                      </a:pPr>
                      <a:r>
                        <a:rPr lang="en-IN" sz="2000" dirty="0"/>
                        <a:t>Third – party providers</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IN" sz="2000" dirty="0"/>
                        <a:t>Advertising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2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3680563"/>
                  </a:ext>
                </a:extLst>
              </a:tr>
            </a:tbl>
          </a:graphicData>
        </a:graphic>
      </p:graphicFrame>
    </p:spTree>
    <p:extLst>
      <p:ext uri="{BB962C8B-B14F-4D97-AF65-F5344CB8AC3E}">
        <p14:creationId xmlns:p14="http://schemas.microsoft.com/office/powerpoint/2010/main" val="6241169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140B5-BBD7-5C69-071D-27D174FE9B32}"/>
              </a:ext>
            </a:extLst>
          </p:cNvPr>
          <p:cNvSpPr>
            <a:spLocks noGrp="1"/>
          </p:cNvSpPr>
          <p:nvPr>
            <p:ph type="title"/>
          </p:nvPr>
        </p:nvSpPr>
        <p:spPr>
          <a:xfrm>
            <a:off x="0" y="221289"/>
            <a:ext cx="12192000" cy="702303"/>
          </a:xfrm>
        </p:spPr>
        <p:txBody>
          <a:bodyPr anchor="ctr">
            <a:normAutofit fontScale="90000"/>
          </a:bodyPr>
          <a:lstStyle/>
          <a:p>
            <a:r>
              <a:rPr lang="en-IN" dirty="0"/>
              <a:t>Difference Between GDPR and CCPA</a:t>
            </a:r>
          </a:p>
        </p:txBody>
      </p:sp>
      <p:graphicFrame>
        <p:nvGraphicFramePr>
          <p:cNvPr id="4" name="Content Placeholder 3">
            <a:extLst>
              <a:ext uri="{FF2B5EF4-FFF2-40B4-BE49-F238E27FC236}">
                <a16:creationId xmlns:a16="http://schemas.microsoft.com/office/drawing/2014/main" id="{089585FB-486C-5F7F-DF2C-F43677BBFA0F}"/>
              </a:ext>
            </a:extLst>
          </p:cNvPr>
          <p:cNvGraphicFramePr>
            <a:graphicFrameLocks/>
          </p:cNvGraphicFramePr>
          <p:nvPr>
            <p:extLst>
              <p:ext uri="{D42A27DB-BD31-4B8C-83A1-F6EECF244321}">
                <p14:modId xmlns:p14="http://schemas.microsoft.com/office/powerpoint/2010/main" val="27691596"/>
              </p:ext>
            </p:extLst>
          </p:nvPr>
        </p:nvGraphicFramePr>
        <p:xfrm>
          <a:off x="0" y="1109631"/>
          <a:ext cx="12191997" cy="5777077"/>
        </p:xfrm>
        <a:graphic>
          <a:graphicData uri="http://schemas.openxmlformats.org/drawingml/2006/table">
            <a:tbl>
              <a:tblPr>
                <a:tableStyleId>{8A107856-5554-42FB-B03E-39F5DBC370BA}</a:tableStyleId>
              </a:tblPr>
              <a:tblGrid>
                <a:gridCol w="2514600">
                  <a:extLst>
                    <a:ext uri="{9D8B030D-6E8A-4147-A177-3AD203B41FA5}">
                      <a16:colId xmlns:a16="http://schemas.microsoft.com/office/drawing/2014/main" val="107378754"/>
                    </a:ext>
                  </a:extLst>
                </a:gridCol>
                <a:gridCol w="4626429">
                  <a:extLst>
                    <a:ext uri="{9D8B030D-6E8A-4147-A177-3AD203B41FA5}">
                      <a16:colId xmlns:a16="http://schemas.microsoft.com/office/drawing/2014/main" val="2178050865"/>
                    </a:ext>
                  </a:extLst>
                </a:gridCol>
                <a:gridCol w="5050968">
                  <a:extLst>
                    <a:ext uri="{9D8B030D-6E8A-4147-A177-3AD203B41FA5}">
                      <a16:colId xmlns:a16="http://schemas.microsoft.com/office/drawing/2014/main" val="1941431054"/>
                    </a:ext>
                  </a:extLst>
                </a:gridCol>
              </a:tblGrid>
              <a:tr h="369404">
                <a:tc>
                  <a:txBody>
                    <a:bodyPr/>
                    <a:lstStyle/>
                    <a:p>
                      <a:pPr algn="ctr">
                        <a:buNone/>
                      </a:pPr>
                      <a:r>
                        <a:rPr lang="en-IN" sz="2000" b="1" dirty="0"/>
                        <a:t>Aspect</a:t>
                      </a:r>
                    </a:p>
                  </a:txBody>
                  <a:tcPr marL="74847" marR="74847" marT="37423" marB="37423" anchor="ctr"/>
                </a:tc>
                <a:tc>
                  <a:txBody>
                    <a:bodyPr/>
                    <a:lstStyle/>
                    <a:p>
                      <a:pPr algn="ctr">
                        <a:buNone/>
                      </a:pPr>
                      <a:r>
                        <a:rPr lang="en-IN" sz="2000" b="1" dirty="0"/>
                        <a:t>GDPR</a:t>
                      </a:r>
                    </a:p>
                  </a:txBody>
                  <a:tcPr marL="74847" marR="74847" marT="37423" marB="37423" anchor="ctr"/>
                </a:tc>
                <a:tc>
                  <a:txBody>
                    <a:bodyPr/>
                    <a:lstStyle/>
                    <a:p>
                      <a:pPr algn="ctr">
                        <a:buNone/>
                      </a:pPr>
                      <a:r>
                        <a:rPr lang="en-IN" sz="2000" b="1" dirty="0"/>
                        <a:t>CCPA</a:t>
                      </a:r>
                    </a:p>
                  </a:txBody>
                  <a:tcPr marL="74847" marR="74847" marT="37423" marB="37423" anchor="ctr"/>
                </a:tc>
                <a:extLst>
                  <a:ext uri="{0D108BD9-81ED-4DB2-BD59-A6C34878D82A}">
                    <a16:rowId xmlns:a16="http://schemas.microsoft.com/office/drawing/2014/main" val="895256938"/>
                  </a:ext>
                </a:extLst>
              </a:tr>
              <a:tr h="485692">
                <a:tc>
                  <a:txBody>
                    <a:bodyPr/>
                    <a:lstStyle/>
                    <a:p>
                      <a:pPr>
                        <a:buNone/>
                      </a:pPr>
                      <a:r>
                        <a:rPr lang="en-IN" sz="2000" dirty="0"/>
                        <a:t>Region</a:t>
                      </a:r>
                    </a:p>
                  </a:txBody>
                  <a:tcPr marL="74847" marR="74847" marT="37423" marB="37423" anchor="ctr"/>
                </a:tc>
                <a:tc>
                  <a:txBody>
                    <a:bodyPr/>
                    <a:lstStyle/>
                    <a:p>
                      <a:pPr>
                        <a:buNone/>
                      </a:pPr>
                      <a:r>
                        <a:rPr lang="en-IN" sz="2000" dirty="0"/>
                        <a:t>European Union (EU)</a:t>
                      </a:r>
                    </a:p>
                  </a:txBody>
                  <a:tcPr marL="74847" marR="74847" marT="37423" marB="37423" anchor="ctr"/>
                </a:tc>
                <a:tc>
                  <a:txBody>
                    <a:bodyPr/>
                    <a:lstStyle/>
                    <a:p>
                      <a:pPr>
                        <a:buNone/>
                      </a:pPr>
                      <a:r>
                        <a:rPr lang="en-IN" sz="2000" dirty="0"/>
                        <a:t>California, USA</a:t>
                      </a:r>
                    </a:p>
                  </a:txBody>
                  <a:tcPr marL="74847" marR="74847" marT="37423" marB="37423" anchor="ctr"/>
                </a:tc>
                <a:extLst>
                  <a:ext uri="{0D108BD9-81ED-4DB2-BD59-A6C34878D82A}">
                    <a16:rowId xmlns:a16="http://schemas.microsoft.com/office/drawing/2014/main" val="2308634488"/>
                  </a:ext>
                </a:extLst>
              </a:tr>
              <a:tr h="617232">
                <a:tc>
                  <a:txBody>
                    <a:bodyPr/>
                    <a:lstStyle/>
                    <a:p>
                      <a:pPr>
                        <a:buNone/>
                      </a:pPr>
                      <a:r>
                        <a:rPr lang="en-IN" sz="2000" dirty="0"/>
                        <a:t>Consent Model</a:t>
                      </a:r>
                    </a:p>
                  </a:txBody>
                  <a:tcPr marL="74847" marR="74847" marT="37423" marB="37423" anchor="ctr"/>
                </a:tc>
                <a:tc>
                  <a:txBody>
                    <a:bodyPr/>
                    <a:lstStyle/>
                    <a:p>
                      <a:pPr>
                        <a:buNone/>
                      </a:pPr>
                      <a:r>
                        <a:rPr lang="en-IN" sz="2000"/>
                        <a:t>Opt-In (permission required first)</a:t>
                      </a:r>
                    </a:p>
                  </a:txBody>
                  <a:tcPr marL="74847" marR="74847" marT="37423" marB="37423" anchor="ctr"/>
                </a:tc>
                <a:tc>
                  <a:txBody>
                    <a:bodyPr/>
                    <a:lstStyle/>
                    <a:p>
                      <a:pPr>
                        <a:buNone/>
                      </a:pPr>
                      <a:r>
                        <a:rPr lang="en-US" sz="2000"/>
                        <a:t>Opt-Out (users stop data selling later)</a:t>
                      </a:r>
                    </a:p>
                  </a:txBody>
                  <a:tcPr marL="74847" marR="74847" marT="37423" marB="37423" anchor="ctr"/>
                </a:tc>
                <a:extLst>
                  <a:ext uri="{0D108BD9-81ED-4DB2-BD59-A6C34878D82A}">
                    <a16:rowId xmlns:a16="http://schemas.microsoft.com/office/drawing/2014/main" val="2301615093"/>
                  </a:ext>
                </a:extLst>
              </a:tr>
              <a:tr h="665980">
                <a:tc>
                  <a:txBody>
                    <a:bodyPr/>
                    <a:lstStyle/>
                    <a:p>
                      <a:pPr>
                        <a:buNone/>
                      </a:pPr>
                      <a:r>
                        <a:rPr lang="en-IN" sz="2000"/>
                        <a:t>Scope</a:t>
                      </a:r>
                    </a:p>
                  </a:txBody>
                  <a:tcPr marL="74847" marR="74847" marT="37423" marB="37423" anchor="ctr"/>
                </a:tc>
                <a:tc>
                  <a:txBody>
                    <a:bodyPr/>
                    <a:lstStyle/>
                    <a:p>
                      <a:pPr>
                        <a:buNone/>
                      </a:pPr>
                      <a:r>
                        <a:rPr lang="en-US" sz="2000" dirty="0"/>
                        <a:t>Applies to all organizations processing EU data</a:t>
                      </a:r>
                    </a:p>
                  </a:txBody>
                  <a:tcPr marL="74847" marR="74847" marT="37423" marB="37423" anchor="ctr"/>
                </a:tc>
                <a:tc>
                  <a:txBody>
                    <a:bodyPr/>
                    <a:lstStyle/>
                    <a:p>
                      <a:pPr>
                        <a:buNone/>
                      </a:pPr>
                      <a:r>
                        <a:rPr lang="en-US" sz="2000" dirty="0"/>
                        <a:t>Applies mainly to qualifying businesses in California</a:t>
                      </a:r>
                    </a:p>
                  </a:txBody>
                  <a:tcPr marL="74847" marR="74847" marT="37423" marB="37423" anchor="ctr"/>
                </a:tc>
                <a:extLst>
                  <a:ext uri="{0D108BD9-81ED-4DB2-BD59-A6C34878D82A}">
                    <a16:rowId xmlns:a16="http://schemas.microsoft.com/office/drawing/2014/main" val="1310099573"/>
                  </a:ext>
                </a:extLst>
              </a:tr>
              <a:tr h="617232">
                <a:tc>
                  <a:txBody>
                    <a:bodyPr/>
                    <a:lstStyle/>
                    <a:p>
                      <a:pPr>
                        <a:buNone/>
                      </a:pPr>
                      <a:r>
                        <a:rPr lang="en-IN" sz="2000"/>
                        <a:t>Focus</a:t>
                      </a:r>
                    </a:p>
                  </a:txBody>
                  <a:tcPr marL="74847" marR="74847" marT="37423" marB="37423" anchor="ctr"/>
                </a:tc>
                <a:tc>
                  <a:txBody>
                    <a:bodyPr/>
                    <a:lstStyle/>
                    <a:p>
                      <a:pPr>
                        <a:buNone/>
                      </a:pPr>
                      <a:r>
                        <a:rPr lang="en-IN" sz="2000" dirty="0"/>
                        <a:t>Data protection and privacy</a:t>
                      </a:r>
                    </a:p>
                  </a:txBody>
                  <a:tcPr marL="74847" marR="74847" marT="37423" marB="37423" anchor="ctr"/>
                </a:tc>
                <a:tc>
                  <a:txBody>
                    <a:bodyPr/>
                    <a:lstStyle/>
                    <a:p>
                      <a:pPr>
                        <a:buNone/>
                      </a:pPr>
                      <a:r>
                        <a:rPr lang="en-IN" sz="2000" dirty="0"/>
                        <a:t>Consumer rights and transparency</a:t>
                      </a:r>
                    </a:p>
                  </a:txBody>
                  <a:tcPr marL="74847" marR="74847" marT="37423" marB="37423" anchor="ctr"/>
                </a:tc>
                <a:extLst>
                  <a:ext uri="{0D108BD9-81ED-4DB2-BD59-A6C34878D82A}">
                    <a16:rowId xmlns:a16="http://schemas.microsoft.com/office/drawing/2014/main" val="1790720746"/>
                  </a:ext>
                </a:extLst>
              </a:tr>
              <a:tr h="617232">
                <a:tc>
                  <a:txBody>
                    <a:bodyPr/>
                    <a:lstStyle/>
                    <a:p>
                      <a:pPr>
                        <a:buNone/>
                      </a:pPr>
                      <a:r>
                        <a:rPr lang="en-IN" sz="2000" dirty="0"/>
                        <a:t>Data Processing</a:t>
                      </a:r>
                    </a:p>
                  </a:txBody>
                  <a:tcPr marL="74847" marR="74847" marT="37423" marB="37423" anchor="ctr"/>
                </a:tc>
                <a:tc>
                  <a:txBody>
                    <a:bodyPr/>
                    <a:lstStyle/>
                    <a:p>
                      <a:pPr>
                        <a:buNone/>
                      </a:pPr>
                      <a:r>
                        <a:rPr lang="en-US" sz="2000" dirty="0"/>
                        <a:t>Covers all forms of data handling</a:t>
                      </a:r>
                    </a:p>
                  </a:txBody>
                  <a:tcPr marL="74847" marR="74847" marT="37423" marB="37423" anchor="ctr"/>
                </a:tc>
                <a:tc>
                  <a:txBody>
                    <a:bodyPr/>
                    <a:lstStyle/>
                    <a:p>
                      <a:pPr>
                        <a:buNone/>
                      </a:pPr>
                      <a:r>
                        <a:rPr lang="en-US" sz="2000"/>
                        <a:t>Mainly collection, use, and sale of data</a:t>
                      </a:r>
                    </a:p>
                  </a:txBody>
                  <a:tcPr marL="74847" marR="74847" marT="37423" marB="37423" anchor="ctr"/>
                </a:tc>
                <a:extLst>
                  <a:ext uri="{0D108BD9-81ED-4DB2-BD59-A6C34878D82A}">
                    <a16:rowId xmlns:a16="http://schemas.microsoft.com/office/drawing/2014/main" val="3016387758"/>
                  </a:ext>
                </a:extLst>
              </a:tr>
              <a:tr h="529323">
                <a:tc>
                  <a:txBody>
                    <a:bodyPr/>
                    <a:lstStyle/>
                    <a:p>
                      <a:pPr>
                        <a:buNone/>
                      </a:pPr>
                      <a:r>
                        <a:rPr lang="en-IN" sz="2000"/>
                        <a:t>User Rights</a:t>
                      </a:r>
                    </a:p>
                  </a:txBody>
                  <a:tcPr marL="74847" marR="74847" marT="37423" marB="37423" anchor="ctr"/>
                </a:tc>
                <a:tc>
                  <a:txBody>
                    <a:bodyPr/>
                    <a:lstStyle/>
                    <a:p>
                      <a:pPr>
                        <a:buNone/>
                      </a:pPr>
                      <a:r>
                        <a:rPr lang="en-IN" sz="2000"/>
                        <a:t>Stronger and broader rights</a:t>
                      </a:r>
                    </a:p>
                  </a:txBody>
                  <a:tcPr marL="74847" marR="74847" marT="37423" marB="37423" anchor="ctr"/>
                </a:tc>
                <a:tc>
                  <a:txBody>
                    <a:bodyPr/>
                    <a:lstStyle/>
                    <a:p>
                      <a:pPr>
                        <a:buNone/>
                      </a:pPr>
                      <a:r>
                        <a:rPr lang="en-US" sz="2000"/>
                        <a:t>Focused on access and opting out</a:t>
                      </a:r>
                    </a:p>
                  </a:txBody>
                  <a:tcPr marL="74847" marR="74847" marT="37423" marB="37423" anchor="ctr"/>
                </a:tc>
                <a:extLst>
                  <a:ext uri="{0D108BD9-81ED-4DB2-BD59-A6C34878D82A}">
                    <a16:rowId xmlns:a16="http://schemas.microsoft.com/office/drawing/2014/main" val="406639561"/>
                  </a:ext>
                </a:extLst>
              </a:tr>
              <a:tr h="550593">
                <a:tc>
                  <a:txBody>
                    <a:bodyPr/>
                    <a:lstStyle/>
                    <a:p>
                      <a:pPr>
                        <a:buNone/>
                      </a:pPr>
                      <a:r>
                        <a:rPr lang="en-IN" sz="2000"/>
                        <a:t>Penalties</a:t>
                      </a:r>
                    </a:p>
                  </a:txBody>
                  <a:tcPr marL="74847" marR="74847" marT="37423" marB="37423" anchor="ctr"/>
                </a:tc>
                <a:tc>
                  <a:txBody>
                    <a:bodyPr/>
                    <a:lstStyle/>
                    <a:p>
                      <a:pPr>
                        <a:buNone/>
                      </a:pPr>
                      <a:r>
                        <a:rPr lang="en-US" sz="2000" dirty="0"/>
                        <a:t>Very high fines (up to 4% global revenue)</a:t>
                      </a:r>
                    </a:p>
                  </a:txBody>
                  <a:tcPr marL="74847" marR="74847" marT="37423" marB="37423" anchor="ctr"/>
                </a:tc>
                <a:tc>
                  <a:txBody>
                    <a:bodyPr/>
                    <a:lstStyle/>
                    <a:p>
                      <a:pPr>
                        <a:buNone/>
                      </a:pPr>
                      <a:r>
                        <a:rPr lang="en-IN" sz="2000"/>
                        <a:t>Lower fixed fines</a:t>
                      </a:r>
                    </a:p>
                  </a:txBody>
                  <a:tcPr marL="74847" marR="74847" marT="37423" marB="37423" anchor="ctr"/>
                </a:tc>
                <a:extLst>
                  <a:ext uri="{0D108BD9-81ED-4DB2-BD59-A6C34878D82A}">
                    <a16:rowId xmlns:a16="http://schemas.microsoft.com/office/drawing/2014/main" val="212794115"/>
                  </a:ext>
                </a:extLst>
              </a:tr>
              <a:tr h="678449">
                <a:tc>
                  <a:txBody>
                    <a:bodyPr/>
                    <a:lstStyle/>
                    <a:p>
                      <a:pPr>
                        <a:buNone/>
                      </a:pPr>
                      <a:r>
                        <a:rPr lang="en-IN" sz="2000"/>
                        <a:t>Applicability</a:t>
                      </a:r>
                    </a:p>
                  </a:txBody>
                  <a:tcPr marL="74847" marR="74847" marT="37423" marB="37423" anchor="ctr"/>
                </a:tc>
                <a:tc>
                  <a:txBody>
                    <a:bodyPr/>
                    <a:lstStyle/>
                    <a:p>
                      <a:pPr>
                        <a:buNone/>
                      </a:pPr>
                      <a:r>
                        <a:rPr lang="en-US" sz="2000"/>
                        <a:t>Worldwide if EU data is handled</a:t>
                      </a:r>
                    </a:p>
                  </a:txBody>
                  <a:tcPr marL="74847" marR="74847" marT="37423" marB="37423" anchor="ctr"/>
                </a:tc>
                <a:tc>
                  <a:txBody>
                    <a:bodyPr/>
                    <a:lstStyle/>
                    <a:p>
                      <a:pPr>
                        <a:buNone/>
                      </a:pPr>
                      <a:r>
                        <a:rPr lang="en-US" sz="2000"/>
                        <a:t>Businesses dealing with California residents</a:t>
                      </a:r>
                    </a:p>
                  </a:txBody>
                  <a:tcPr marL="74847" marR="74847" marT="37423" marB="37423" anchor="ctr"/>
                </a:tc>
                <a:extLst>
                  <a:ext uri="{0D108BD9-81ED-4DB2-BD59-A6C34878D82A}">
                    <a16:rowId xmlns:a16="http://schemas.microsoft.com/office/drawing/2014/main" val="1328976735"/>
                  </a:ext>
                </a:extLst>
              </a:tr>
              <a:tr h="617232">
                <a:tc>
                  <a:txBody>
                    <a:bodyPr/>
                    <a:lstStyle/>
                    <a:p>
                      <a:pPr>
                        <a:buNone/>
                      </a:pPr>
                      <a:r>
                        <a:rPr lang="en-IN" sz="2000"/>
                        <a:t>Data Sale Rules</a:t>
                      </a:r>
                    </a:p>
                  </a:txBody>
                  <a:tcPr marL="74847" marR="74847" marT="37423" marB="37423" anchor="ctr"/>
                </a:tc>
                <a:tc>
                  <a:txBody>
                    <a:bodyPr/>
                    <a:lstStyle/>
                    <a:p>
                      <a:pPr>
                        <a:buNone/>
                      </a:pPr>
                      <a:r>
                        <a:rPr lang="en-US" sz="2000"/>
                        <a:t>Requires lawful basis for processing</a:t>
                      </a:r>
                    </a:p>
                  </a:txBody>
                  <a:tcPr marL="74847" marR="74847" marT="37423" marB="37423" anchor="ctr"/>
                </a:tc>
                <a:tc>
                  <a:txBody>
                    <a:bodyPr/>
                    <a:lstStyle/>
                    <a:p>
                      <a:pPr>
                        <a:buNone/>
                      </a:pPr>
                      <a:r>
                        <a:rPr lang="en-US" sz="2000" dirty="0"/>
                        <a:t>Requires disclosure and opt-out for sale</a:t>
                      </a:r>
                    </a:p>
                  </a:txBody>
                  <a:tcPr marL="74847" marR="74847" marT="37423" marB="37423" anchor="ctr"/>
                </a:tc>
                <a:extLst>
                  <a:ext uri="{0D108BD9-81ED-4DB2-BD59-A6C34878D82A}">
                    <a16:rowId xmlns:a16="http://schemas.microsoft.com/office/drawing/2014/main" val="1966910847"/>
                  </a:ext>
                </a:extLst>
              </a:tr>
            </a:tbl>
          </a:graphicData>
        </a:graphic>
      </p:graphicFrame>
    </p:spTree>
    <p:extLst>
      <p:ext uri="{BB962C8B-B14F-4D97-AF65-F5344CB8AC3E}">
        <p14:creationId xmlns:p14="http://schemas.microsoft.com/office/powerpoint/2010/main" val="9836979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1DE06-1014-AAF4-CC20-3D1D3FC59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1046E-E0A6-54E1-034B-01849E1F71BF}"/>
              </a:ext>
            </a:extLst>
          </p:cNvPr>
          <p:cNvSpPr>
            <a:spLocks noGrp="1"/>
          </p:cNvSpPr>
          <p:nvPr>
            <p:ph type="title"/>
          </p:nvPr>
        </p:nvSpPr>
        <p:spPr/>
        <p:txBody>
          <a:bodyPr anchor="ctr"/>
          <a:lstStyle/>
          <a:p>
            <a:r>
              <a:rPr lang="en-US" dirty="0"/>
              <a:t>Building a Culture of Responsible Data Use</a:t>
            </a:r>
          </a:p>
        </p:txBody>
      </p:sp>
      <p:sp>
        <p:nvSpPr>
          <p:cNvPr id="3" name="Content Placeholder 2">
            <a:extLst>
              <a:ext uri="{FF2B5EF4-FFF2-40B4-BE49-F238E27FC236}">
                <a16:creationId xmlns:a16="http://schemas.microsoft.com/office/drawing/2014/main" id="{16CEE36A-38BF-A189-3A1D-F9E06FA39613}"/>
              </a:ext>
            </a:extLst>
          </p:cNvPr>
          <p:cNvSpPr>
            <a:spLocks noGrp="1"/>
          </p:cNvSpPr>
          <p:nvPr>
            <p:ph idx="1"/>
          </p:nvPr>
        </p:nvSpPr>
        <p:spPr>
          <a:xfrm>
            <a:off x="1097280" y="1845733"/>
            <a:ext cx="10058400" cy="4565699"/>
          </a:xfrm>
        </p:spPr>
        <p:txBody>
          <a:bodyPr>
            <a:normAutofit/>
          </a:bodyPr>
          <a:lstStyle/>
          <a:p>
            <a:pPr marL="0" indent="0">
              <a:buNone/>
            </a:pPr>
            <a:r>
              <a:rPr lang="en-US" dirty="0"/>
              <a:t>Businesses collect and use large amounts of customer, employee, and operational data to improve decision-making, enhance services, and support business growth. However, with increasing data usage comes the responsibility to manage data ethically, securely, and transparently.</a:t>
            </a:r>
          </a:p>
          <a:p>
            <a:pPr marL="0" indent="0">
              <a:buNone/>
            </a:pPr>
            <a:r>
              <a:rPr lang="en-US" dirty="0"/>
              <a:t>Responsible data practices help organizations protect privacy, maintain regulatory compliance, reduce cybersecurity risks, and build trust with customers and stakeholders. </a:t>
            </a:r>
          </a:p>
          <a:p>
            <a:pPr marL="0" indent="0">
              <a:buNone/>
            </a:pPr>
            <a:r>
              <a:rPr lang="en-US" dirty="0"/>
              <a:t>Technology plays a major role in supporting responsible data management through tools such as encryption, access controls, monitoring systems, and automated compliance solutions. At the same time, organizations face challenges such as growing data volumes, complex regulations, cybersecurity threats, and lack of employee awareness.</a:t>
            </a:r>
          </a:p>
          <a:p>
            <a:pPr marL="0" indent="0">
              <a:buNone/>
            </a:pPr>
            <a:r>
              <a:rPr lang="en-US" dirty="0"/>
              <a:t>To overcome these challenges, businesses must implement strong data governance policies, employee training programs, regular audits, and modern security technologies. By promoting accountability, transparency, and ethical decision-making, organizations can move beyond simple legal compliance and create a long-term culture of trust, security, and responsible innovation.</a:t>
            </a:r>
          </a:p>
        </p:txBody>
      </p:sp>
    </p:spTree>
    <p:extLst>
      <p:ext uri="{BB962C8B-B14F-4D97-AF65-F5344CB8AC3E}">
        <p14:creationId xmlns:p14="http://schemas.microsoft.com/office/powerpoint/2010/main" val="41725934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4A276-6346-3B2A-A7CA-67C37F5BA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A9654-A5BA-AA68-2CF8-B9F5FA2AB321}"/>
              </a:ext>
            </a:extLst>
          </p:cNvPr>
          <p:cNvSpPr>
            <a:spLocks noGrp="1"/>
          </p:cNvSpPr>
          <p:nvPr>
            <p:ph type="title"/>
          </p:nvPr>
        </p:nvSpPr>
        <p:spPr/>
        <p:txBody>
          <a:bodyPr anchor="ctr"/>
          <a:lstStyle/>
          <a:p>
            <a:r>
              <a:rPr lang="en-US" dirty="0"/>
              <a:t>Importance of Responsible Data Practices</a:t>
            </a:r>
          </a:p>
        </p:txBody>
      </p:sp>
      <p:sp>
        <p:nvSpPr>
          <p:cNvPr id="3" name="Content Placeholder 2">
            <a:extLst>
              <a:ext uri="{FF2B5EF4-FFF2-40B4-BE49-F238E27FC236}">
                <a16:creationId xmlns:a16="http://schemas.microsoft.com/office/drawing/2014/main" id="{8831A781-C454-C4CC-F799-FD4EB6AAF86F}"/>
              </a:ext>
            </a:extLst>
          </p:cNvPr>
          <p:cNvSpPr>
            <a:spLocks noGrp="1"/>
          </p:cNvSpPr>
          <p:nvPr>
            <p:ph idx="1"/>
          </p:nvPr>
        </p:nvSpPr>
        <p:spPr>
          <a:xfrm>
            <a:off x="1097280" y="1845733"/>
            <a:ext cx="10058400" cy="4565699"/>
          </a:xfrm>
        </p:spPr>
        <p:txBody>
          <a:bodyPr>
            <a:normAutofit/>
          </a:bodyPr>
          <a:lstStyle/>
          <a:p>
            <a:pPr marL="0" indent="0">
              <a:buNone/>
            </a:pPr>
            <a:r>
              <a:rPr lang="en-US" dirty="0"/>
              <a:t>Responsible data practices refer to the ethical, secure, and transparent handling of data throughout its lifecycle. Organizations must ensure that data is collected, stored, processed, and shared in a lawful and trustworthy manner.</a:t>
            </a:r>
          </a:p>
          <a:p>
            <a:pPr marL="0" indent="0">
              <a:buNone/>
            </a:pPr>
            <a:r>
              <a:rPr lang="en-US" b="1" dirty="0"/>
              <a:t>Why It Is Important</a:t>
            </a:r>
          </a:p>
          <a:p>
            <a:pPr marL="361950" indent="-361950">
              <a:buFont typeface="Arial" panose="020B0604020202020204" pitchFamily="34" charset="0"/>
              <a:buChar char="•"/>
            </a:pPr>
            <a:r>
              <a:rPr lang="en-US" dirty="0"/>
              <a:t>Protects customer privacy and sensitive information</a:t>
            </a:r>
          </a:p>
          <a:p>
            <a:pPr marL="361950" indent="-361950">
              <a:buFont typeface="Arial" panose="020B0604020202020204" pitchFamily="34" charset="0"/>
              <a:buChar char="•"/>
            </a:pPr>
            <a:r>
              <a:rPr lang="en-US" dirty="0"/>
              <a:t>Builds trust between organizations and customers</a:t>
            </a:r>
          </a:p>
          <a:p>
            <a:pPr marL="361950" indent="-361950">
              <a:buFont typeface="Arial" panose="020B0604020202020204" pitchFamily="34" charset="0"/>
              <a:buChar char="•"/>
            </a:pPr>
            <a:r>
              <a:rPr lang="en-US" dirty="0"/>
              <a:t>Helps organizations comply with regulations like GDPR and CCPA</a:t>
            </a:r>
          </a:p>
          <a:p>
            <a:pPr marL="361950" indent="-361950">
              <a:buFont typeface="Arial" panose="020B0604020202020204" pitchFamily="34" charset="0"/>
              <a:buChar char="•"/>
            </a:pPr>
            <a:r>
              <a:rPr lang="en-US" dirty="0"/>
              <a:t>Reduces risks of data breaches and misuse</a:t>
            </a:r>
          </a:p>
          <a:p>
            <a:pPr marL="361950" indent="-361950">
              <a:buFont typeface="Arial" panose="020B0604020202020204" pitchFamily="34" charset="0"/>
              <a:buChar char="•"/>
            </a:pPr>
            <a:r>
              <a:rPr lang="en-US" dirty="0"/>
              <a:t>Improves business reputation and customer confidence</a:t>
            </a:r>
          </a:p>
          <a:p>
            <a:pPr marL="0" indent="0">
              <a:buNone/>
            </a:pPr>
            <a:r>
              <a:rPr lang="en-US" dirty="0"/>
              <a:t>Responsible data use is not only about legal compliance but also about creating an ethical organizational culture focused on accountability and transparency.</a:t>
            </a:r>
          </a:p>
        </p:txBody>
      </p:sp>
    </p:spTree>
    <p:extLst>
      <p:ext uri="{BB962C8B-B14F-4D97-AF65-F5344CB8AC3E}">
        <p14:creationId xmlns:p14="http://schemas.microsoft.com/office/powerpoint/2010/main" val="32744625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3489F-9DF9-9BA2-C467-83F32F4F2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FA064-E8A8-D1CF-6E03-DCC533DB4D7A}"/>
              </a:ext>
            </a:extLst>
          </p:cNvPr>
          <p:cNvSpPr>
            <a:spLocks noGrp="1"/>
          </p:cNvSpPr>
          <p:nvPr>
            <p:ph type="title"/>
          </p:nvPr>
        </p:nvSpPr>
        <p:spPr/>
        <p:txBody>
          <a:bodyPr anchor="ctr"/>
          <a:lstStyle/>
          <a:p>
            <a:r>
              <a:rPr lang="en-US" dirty="0"/>
              <a:t>Role of Technology in Responsible Data Practices</a:t>
            </a:r>
          </a:p>
        </p:txBody>
      </p:sp>
      <p:sp>
        <p:nvSpPr>
          <p:cNvPr id="3" name="Content Placeholder 2">
            <a:extLst>
              <a:ext uri="{FF2B5EF4-FFF2-40B4-BE49-F238E27FC236}">
                <a16:creationId xmlns:a16="http://schemas.microsoft.com/office/drawing/2014/main" id="{887C18D1-A1C9-E51D-2D1B-32F5BDAFB2ED}"/>
              </a:ext>
            </a:extLst>
          </p:cNvPr>
          <p:cNvSpPr>
            <a:spLocks noGrp="1"/>
          </p:cNvSpPr>
          <p:nvPr>
            <p:ph idx="1"/>
          </p:nvPr>
        </p:nvSpPr>
        <p:spPr>
          <a:xfrm>
            <a:off x="1097280" y="1845733"/>
            <a:ext cx="10058400" cy="4565699"/>
          </a:xfrm>
        </p:spPr>
        <p:txBody>
          <a:bodyPr>
            <a:normAutofit/>
          </a:bodyPr>
          <a:lstStyle/>
          <a:p>
            <a:pPr marL="0" indent="0">
              <a:buNone/>
            </a:pPr>
            <a:r>
              <a:rPr lang="en-US" b="1" dirty="0"/>
              <a:t>Technology Supports Responsible Data Management</a:t>
            </a:r>
          </a:p>
          <a:p>
            <a:pPr marL="0" indent="0">
              <a:buNone/>
            </a:pPr>
            <a:r>
              <a:rPr lang="en-US" dirty="0"/>
              <a:t>Modern technologies help organizations maintain secure and compliant data practices.</a:t>
            </a:r>
          </a:p>
          <a:p>
            <a:pPr marL="0" indent="0">
              <a:buNone/>
            </a:pPr>
            <a:r>
              <a:rPr lang="en-US" b="1" dirty="0"/>
              <a:t>Technologies Used</a:t>
            </a:r>
          </a:p>
          <a:p>
            <a:pPr marL="457200" indent="-457200">
              <a:buFont typeface="+mj-lt"/>
              <a:buAutoNum type="arabicPeriod"/>
            </a:pPr>
            <a:r>
              <a:rPr lang="en-US" b="1" dirty="0"/>
              <a:t>Encryption</a:t>
            </a:r>
            <a:r>
              <a:rPr lang="en-US" dirty="0"/>
              <a:t>: Protects sensitive information from unauthorized access</a:t>
            </a:r>
          </a:p>
          <a:p>
            <a:pPr marL="457200" indent="-457200">
              <a:buFont typeface="+mj-lt"/>
              <a:buAutoNum type="arabicPeriod"/>
            </a:pPr>
            <a:r>
              <a:rPr lang="en-US" b="1" dirty="0"/>
              <a:t>Access Control Systems: </a:t>
            </a:r>
            <a:r>
              <a:rPr lang="en-US" dirty="0"/>
              <a:t>Restrict data access to authorized users only</a:t>
            </a:r>
          </a:p>
          <a:p>
            <a:pPr marL="457200" indent="-457200">
              <a:buFont typeface="+mj-lt"/>
              <a:buAutoNum type="arabicPeriod"/>
            </a:pPr>
            <a:r>
              <a:rPr lang="en-US" b="1" dirty="0"/>
              <a:t>Data Monitoring Tools: </a:t>
            </a:r>
            <a:r>
              <a:rPr lang="en-US" dirty="0"/>
              <a:t>Detect suspicious activities and potential breaches</a:t>
            </a:r>
          </a:p>
          <a:p>
            <a:pPr marL="457200" indent="-457200">
              <a:buFont typeface="+mj-lt"/>
              <a:buAutoNum type="arabicPeriod"/>
            </a:pPr>
            <a:r>
              <a:rPr lang="en-US" b="1" dirty="0"/>
              <a:t>AI and Automation: </a:t>
            </a:r>
            <a:r>
              <a:rPr lang="en-US" dirty="0"/>
              <a:t>Help identify compliance risks and manage data efficiently</a:t>
            </a:r>
          </a:p>
          <a:p>
            <a:pPr marL="457200" indent="-457200">
              <a:buFont typeface="+mj-lt"/>
              <a:buAutoNum type="arabicPeriod"/>
            </a:pPr>
            <a:r>
              <a:rPr lang="en-US" b="1" dirty="0"/>
              <a:t>Cloud Security Solutions: </a:t>
            </a:r>
            <a:r>
              <a:rPr lang="en-US" dirty="0"/>
              <a:t>Protect stored and shared data</a:t>
            </a:r>
          </a:p>
          <a:p>
            <a:pPr marL="457200" indent="-457200">
              <a:buFont typeface="+mj-lt"/>
              <a:buAutoNum type="arabicPeriod"/>
            </a:pPr>
            <a:r>
              <a:rPr lang="en-US" b="1" dirty="0"/>
              <a:t>Benefits of Technology </a:t>
            </a:r>
            <a:r>
              <a:rPr lang="en-US" dirty="0"/>
              <a:t>Improves data accuracy and integrity; Enhances cybersecurity protection, Simplifies compliance management, Enables real-time monitoring and auditing.</a:t>
            </a:r>
          </a:p>
        </p:txBody>
      </p:sp>
    </p:spTree>
    <p:extLst>
      <p:ext uri="{BB962C8B-B14F-4D97-AF65-F5344CB8AC3E}">
        <p14:creationId xmlns:p14="http://schemas.microsoft.com/office/powerpoint/2010/main" val="28353021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114C8-23C7-01A3-9839-84EAD83B0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25349-D5BA-2D03-9CD2-9024A5E13679}"/>
              </a:ext>
            </a:extLst>
          </p:cNvPr>
          <p:cNvSpPr>
            <a:spLocks noGrp="1"/>
          </p:cNvSpPr>
          <p:nvPr>
            <p:ph type="title"/>
          </p:nvPr>
        </p:nvSpPr>
        <p:spPr/>
        <p:txBody>
          <a:bodyPr anchor="ctr"/>
          <a:lstStyle/>
          <a:p>
            <a:r>
              <a:rPr lang="en-US" dirty="0"/>
              <a:t>Challenges in Implementing Responsible Data Practices</a:t>
            </a:r>
          </a:p>
        </p:txBody>
      </p:sp>
      <p:sp>
        <p:nvSpPr>
          <p:cNvPr id="3" name="Content Placeholder 2">
            <a:extLst>
              <a:ext uri="{FF2B5EF4-FFF2-40B4-BE49-F238E27FC236}">
                <a16:creationId xmlns:a16="http://schemas.microsoft.com/office/drawing/2014/main" id="{7C03C7A5-7D7A-F74C-AA23-E7DD6EF09549}"/>
              </a:ext>
            </a:extLst>
          </p:cNvPr>
          <p:cNvSpPr>
            <a:spLocks noGrp="1"/>
          </p:cNvSpPr>
          <p:nvPr>
            <p:ph idx="1"/>
          </p:nvPr>
        </p:nvSpPr>
        <p:spPr>
          <a:xfrm>
            <a:off x="1097280" y="1845733"/>
            <a:ext cx="10058400" cy="4565699"/>
          </a:xfrm>
        </p:spPr>
        <p:txBody>
          <a:bodyPr>
            <a:normAutofit/>
          </a:bodyPr>
          <a:lstStyle/>
          <a:p>
            <a:pPr marL="0" indent="0">
              <a:buNone/>
            </a:pPr>
            <a:r>
              <a:rPr lang="en-US" b="1" dirty="0"/>
              <a:t>Major Challenges Organizations Face</a:t>
            </a:r>
          </a:p>
          <a:p>
            <a:pPr marL="457200" indent="-457200">
              <a:buFont typeface="+mj-lt"/>
              <a:buAutoNum type="arabicPeriod"/>
            </a:pPr>
            <a:r>
              <a:rPr lang="en-US" dirty="0"/>
              <a:t>Lack of Employee Awareness</a:t>
            </a:r>
            <a:br>
              <a:rPr lang="en-US" dirty="0"/>
            </a:br>
            <a:r>
              <a:rPr lang="en-US" dirty="0"/>
              <a:t>Employees may not fully understand privacy regulations or proper data handling procedures.</a:t>
            </a:r>
          </a:p>
          <a:p>
            <a:pPr marL="457200" indent="-457200">
              <a:buFont typeface="+mj-lt"/>
              <a:buAutoNum type="arabicPeriod"/>
            </a:pPr>
            <a:r>
              <a:rPr lang="en-US" dirty="0"/>
              <a:t>Rapid Growth of Data</a:t>
            </a:r>
            <a:br>
              <a:rPr lang="en-US" dirty="0"/>
            </a:br>
            <a:r>
              <a:rPr lang="en-US" dirty="0"/>
              <a:t>Large volumes of structured and unstructured data become difficult to manage securely.</a:t>
            </a:r>
          </a:p>
          <a:p>
            <a:pPr marL="457200" indent="-457200">
              <a:buFont typeface="+mj-lt"/>
              <a:buAutoNum type="arabicPeriod"/>
            </a:pPr>
            <a:r>
              <a:rPr lang="en-US" dirty="0"/>
              <a:t>Complex Regulatory Requirements</a:t>
            </a:r>
            <a:br>
              <a:rPr lang="en-US" dirty="0"/>
            </a:br>
            <a:r>
              <a:rPr lang="en-US" dirty="0"/>
              <a:t>Different countries and regions have different privacy laws such as GDPR and CCPA.</a:t>
            </a:r>
          </a:p>
          <a:p>
            <a:pPr marL="457200" indent="-457200">
              <a:buFont typeface="+mj-lt"/>
              <a:buAutoNum type="arabicPeriod"/>
            </a:pPr>
            <a:r>
              <a:rPr lang="en-US" dirty="0"/>
              <a:t>Legacy Systems</a:t>
            </a:r>
            <a:br>
              <a:rPr lang="en-US" dirty="0"/>
            </a:br>
            <a:r>
              <a:rPr lang="en-US" dirty="0"/>
              <a:t>Old systems may lack modern security and compliance features.</a:t>
            </a:r>
          </a:p>
          <a:p>
            <a:pPr marL="457200" indent="-457200">
              <a:buFont typeface="+mj-lt"/>
              <a:buAutoNum type="arabicPeriod"/>
            </a:pPr>
            <a:r>
              <a:rPr lang="en-US" dirty="0"/>
              <a:t>Cybersecurity Threats</a:t>
            </a:r>
            <a:br>
              <a:rPr lang="en-US" dirty="0"/>
            </a:br>
            <a:r>
              <a:rPr lang="en-US" dirty="0"/>
              <a:t>Increasing cyberattacks and data breaches create major risks for organizations.</a:t>
            </a:r>
          </a:p>
        </p:txBody>
      </p:sp>
    </p:spTree>
    <p:extLst>
      <p:ext uri="{BB962C8B-B14F-4D97-AF65-F5344CB8AC3E}">
        <p14:creationId xmlns:p14="http://schemas.microsoft.com/office/powerpoint/2010/main" val="28716921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43043-3451-9217-6FD7-653C17156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7CC40-2C73-2C7F-31AB-6F694F2C94AD}"/>
              </a:ext>
            </a:extLst>
          </p:cNvPr>
          <p:cNvSpPr>
            <a:spLocks noGrp="1"/>
          </p:cNvSpPr>
          <p:nvPr>
            <p:ph type="title"/>
          </p:nvPr>
        </p:nvSpPr>
        <p:spPr/>
        <p:txBody>
          <a:bodyPr anchor="ctr"/>
          <a:lstStyle/>
          <a:p>
            <a:r>
              <a:rPr lang="en-US" dirty="0"/>
              <a:t>Strategies to Mitigate These Challenges</a:t>
            </a:r>
          </a:p>
        </p:txBody>
      </p:sp>
      <p:sp>
        <p:nvSpPr>
          <p:cNvPr id="3" name="Content Placeholder 2">
            <a:extLst>
              <a:ext uri="{FF2B5EF4-FFF2-40B4-BE49-F238E27FC236}">
                <a16:creationId xmlns:a16="http://schemas.microsoft.com/office/drawing/2014/main" id="{579C4ACE-A8F6-0D94-13D4-E74605EB9155}"/>
              </a:ext>
            </a:extLst>
          </p:cNvPr>
          <p:cNvSpPr>
            <a:spLocks noGrp="1"/>
          </p:cNvSpPr>
          <p:nvPr>
            <p:ph idx="1"/>
          </p:nvPr>
        </p:nvSpPr>
        <p:spPr>
          <a:xfrm>
            <a:off x="1097280" y="1924493"/>
            <a:ext cx="10058400" cy="4359349"/>
          </a:xfrm>
        </p:spPr>
        <p:txBody>
          <a:bodyPr>
            <a:noAutofit/>
          </a:bodyPr>
          <a:lstStyle/>
          <a:p>
            <a:pPr marL="457200" indent="-396000">
              <a:lnSpc>
                <a:spcPct val="70000"/>
              </a:lnSpc>
              <a:buFont typeface="+mj-lt"/>
              <a:buAutoNum type="arabicPeriod"/>
            </a:pPr>
            <a:r>
              <a:rPr lang="en-US" dirty="0"/>
              <a:t>Employee Training and Awareness</a:t>
            </a:r>
          </a:p>
          <a:p>
            <a:pPr marL="893763" lvl="1" indent="-273050">
              <a:lnSpc>
                <a:spcPct val="70000"/>
              </a:lnSpc>
              <a:buFont typeface="Arial" panose="020B0604020202020204" pitchFamily="34" charset="0"/>
              <a:buChar char="•"/>
            </a:pPr>
            <a:r>
              <a:rPr lang="en-US" sz="2000" dirty="0"/>
              <a:t>Conduct regular privacy and cybersecurity training</a:t>
            </a:r>
          </a:p>
          <a:p>
            <a:pPr marL="893763" lvl="1" indent="-273050">
              <a:lnSpc>
                <a:spcPct val="70000"/>
              </a:lnSpc>
              <a:buFont typeface="Arial" panose="020B0604020202020204" pitchFamily="34" charset="0"/>
              <a:buChar char="•"/>
            </a:pPr>
            <a:r>
              <a:rPr lang="en-US" sz="2000" dirty="0"/>
              <a:t>Educate employees about data regulations and ethical practices</a:t>
            </a:r>
          </a:p>
          <a:p>
            <a:pPr marL="457200" indent="-396000">
              <a:lnSpc>
                <a:spcPct val="70000"/>
              </a:lnSpc>
              <a:buFont typeface="+mj-lt"/>
              <a:buAutoNum type="arabicPeriod"/>
            </a:pPr>
            <a:r>
              <a:rPr lang="en-US" dirty="0"/>
              <a:t>Strong Data Governance Policies</a:t>
            </a:r>
          </a:p>
          <a:p>
            <a:pPr marL="893763" lvl="1" indent="-273050">
              <a:lnSpc>
                <a:spcPct val="70000"/>
              </a:lnSpc>
              <a:buFont typeface="Arial" panose="020B0604020202020204" pitchFamily="34" charset="0"/>
              <a:buChar char="•"/>
            </a:pPr>
            <a:r>
              <a:rPr lang="en-US" sz="2000" dirty="0"/>
              <a:t>Define rules for data collection, storage, sharing, and deletion</a:t>
            </a:r>
          </a:p>
          <a:p>
            <a:pPr marL="893763" lvl="1" indent="-273050">
              <a:lnSpc>
                <a:spcPct val="70000"/>
              </a:lnSpc>
              <a:buFont typeface="Arial" panose="020B0604020202020204" pitchFamily="34" charset="0"/>
              <a:buChar char="•"/>
            </a:pPr>
            <a:r>
              <a:rPr lang="en-US" sz="2000" dirty="0"/>
              <a:t>Establish accountability within departments</a:t>
            </a:r>
          </a:p>
          <a:p>
            <a:pPr marL="457200" indent="-396000">
              <a:lnSpc>
                <a:spcPct val="70000"/>
              </a:lnSpc>
              <a:buFont typeface="+mj-lt"/>
              <a:buAutoNum type="arabicPeriod"/>
            </a:pPr>
            <a:r>
              <a:rPr lang="en-US" dirty="0"/>
              <a:t>Use of Modern Security Technologies</a:t>
            </a:r>
          </a:p>
          <a:p>
            <a:pPr marL="893763" lvl="1" indent="-273050">
              <a:lnSpc>
                <a:spcPct val="70000"/>
              </a:lnSpc>
              <a:buFont typeface="Arial" panose="020B0604020202020204" pitchFamily="34" charset="0"/>
              <a:buChar char="•"/>
            </a:pPr>
            <a:r>
              <a:rPr lang="en-US" sz="2000" dirty="0"/>
              <a:t>Implement encryption and multi-factor authentication</a:t>
            </a:r>
          </a:p>
          <a:p>
            <a:pPr marL="893763" lvl="1" indent="-273050">
              <a:lnSpc>
                <a:spcPct val="70000"/>
              </a:lnSpc>
              <a:buFont typeface="Arial" panose="020B0604020202020204" pitchFamily="34" charset="0"/>
              <a:buChar char="•"/>
            </a:pPr>
            <a:r>
              <a:rPr lang="en-US" sz="2000" dirty="0"/>
              <a:t>Use automated compliance monitoring systems</a:t>
            </a:r>
          </a:p>
          <a:p>
            <a:pPr marL="457200" indent="-396000">
              <a:lnSpc>
                <a:spcPct val="70000"/>
              </a:lnSpc>
              <a:buFont typeface="+mj-lt"/>
              <a:buAutoNum type="arabicPeriod"/>
            </a:pPr>
            <a:r>
              <a:rPr lang="en-US" dirty="0"/>
              <a:t>Regular Audits and Risk Assessments</a:t>
            </a:r>
          </a:p>
          <a:p>
            <a:pPr marL="893763" lvl="1" indent="-273050">
              <a:lnSpc>
                <a:spcPct val="70000"/>
              </a:lnSpc>
              <a:buFont typeface="Arial" panose="020B0604020202020204" pitchFamily="34" charset="0"/>
              <a:buChar char="•"/>
            </a:pPr>
            <a:r>
              <a:rPr lang="en-US" sz="2000" dirty="0"/>
              <a:t>Identify vulnerabilities and compliance gaps</a:t>
            </a:r>
          </a:p>
          <a:p>
            <a:pPr marL="893763" lvl="1" indent="-273050">
              <a:lnSpc>
                <a:spcPct val="70000"/>
              </a:lnSpc>
              <a:buFont typeface="Arial" panose="020B0604020202020204" pitchFamily="34" charset="0"/>
              <a:buChar char="•"/>
            </a:pPr>
            <a:r>
              <a:rPr lang="en-US" sz="2000" dirty="0"/>
              <a:t>Continuously improve security measures</a:t>
            </a:r>
          </a:p>
          <a:p>
            <a:pPr marL="457200" indent="-396000">
              <a:lnSpc>
                <a:spcPct val="70000"/>
              </a:lnSpc>
              <a:buFont typeface="+mj-lt"/>
              <a:buAutoNum type="arabicPeriod"/>
            </a:pPr>
            <a:r>
              <a:rPr lang="en-US" dirty="0"/>
              <a:t>Leadership Support</a:t>
            </a:r>
          </a:p>
          <a:p>
            <a:pPr marL="893763" lvl="1" indent="-273050">
              <a:lnSpc>
                <a:spcPct val="70000"/>
              </a:lnSpc>
              <a:buFont typeface="Arial" panose="020B0604020202020204" pitchFamily="34" charset="0"/>
              <a:buChar char="•"/>
            </a:pPr>
            <a:r>
              <a:rPr lang="en-US" sz="2000" dirty="0"/>
              <a:t>Encourage management involvement in promoting responsible data culture</a:t>
            </a:r>
          </a:p>
        </p:txBody>
      </p:sp>
    </p:spTree>
    <p:extLst>
      <p:ext uri="{BB962C8B-B14F-4D97-AF65-F5344CB8AC3E}">
        <p14:creationId xmlns:p14="http://schemas.microsoft.com/office/powerpoint/2010/main" val="25903519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59C27-C4BB-B3AD-1784-0BF00D5D2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6380E-0137-0165-350F-AA171D2D5208}"/>
              </a:ext>
            </a:extLst>
          </p:cNvPr>
          <p:cNvSpPr>
            <a:spLocks noGrp="1"/>
          </p:cNvSpPr>
          <p:nvPr>
            <p:ph type="title"/>
          </p:nvPr>
        </p:nvSpPr>
        <p:spPr/>
        <p:txBody>
          <a:bodyPr anchor="ctr"/>
          <a:lstStyle/>
          <a:p>
            <a:r>
              <a:rPr lang="en-US" dirty="0"/>
              <a:t>Benefits of Responsible Data Practices</a:t>
            </a:r>
          </a:p>
        </p:txBody>
      </p:sp>
      <p:sp>
        <p:nvSpPr>
          <p:cNvPr id="3" name="Content Placeholder 2">
            <a:extLst>
              <a:ext uri="{FF2B5EF4-FFF2-40B4-BE49-F238E27FC236}">
                <a16:creationId xmlns:a16="http://schemas.microsoft.com/office/drawing/2014/main" id="{205DD49B-1AC0-D9F2-1092-DFD007C7DB60}"/>
              </a:ext>
            </a:extLst>
          </p:cNvPr>
          <p:cNvSpPr>
            <a:spLocks noGrp="1"/>
          </p:cNvSpPr>
          <p:nvPr>
            <p:ph idx="1"/>
          </p:nvPr>
        </p:nvSpPr>
        <p:spPr>
          <a:xfrm>
            <a:off x="1097280" y="1924493"/>
            <a:ext cx="10058400" cy="4359349"/>
          </a:xfrm>
        </p:spPr>
        <p:txBody>
          <a:bodyPr>
            <a:noAutofit/>
          </a:bodyPr>
          <a:lstStyle/>
          <a:p>
            <a:pPr marL="457200" indent="-432000">
              <a:lnSpc>
                <a:spcPct val="80000"/>
              </a:lnSpc>
              <a:buFont typeface="+mj-lt"/>
              <a:buAutoNum type="arabicPeriod"/>
            </a:pPr>
            <a:r>
              <a:rPr lang="en-US" dirty="0"/>
              <a:t>Improved Customer Trust</a:t>
            </a:r>
          </a:p>
          <a:p>
            <a:pPr marL="893763" lvl="1" indent="-350838">
              <a:lnSpc>
                <a:spcPct val="80000"/>
              </a:lnSpc>
            </a:pPr>
            <a:r>
              <a:rPr lang="en-US" sz="2000" dirty="0"/>
              <a:t>Customers feel more secure when their personal data is protected.</a:t>
            </a:r>
          </a:p>
          <a:p>
            <a:pPr marL="457200" indent="-432000">
              <a:lnSpc>
                <a:spcPct val="80000"/>
              </a:lnSpc>
              <a:buFont typeface="+mj-lt"/>
              <a:buAutoNum type="arabicPeriod"/>
            </a:pPr>
            <a:r>
              <a:rPr lang="en-US" dirty="0"/>
              <a:t>Better Regulatory Compliance</a:t>
            </a:r>
          </a:p>
          <a:p>
            <a:pPr marL="893763" lvl="1" indent="-350838">
              <a:lnSpc>
                <a:spcPct val="80000"/>
              </a:lnSpc>
            </a:pPr>
            <a:r>
              <a:rPr lang="en-US" sz="2000" dirty="0"/>
              <a:t>Helps organizations avoid legal penalties and regulatory fines.</a:t>
            </a:r>
          </a:p>
          <a:p>
            <a:pPr marL="457200" indent="-432000">
              <a:lnSpc>
                <a:spcPct val="80000"/>
              </a:lnSpc>
              <a:buFont typeface="+mj-lt"/>
              <a:buAutoNum type="arabicPeriod"/>
            </a:pPr>
            <a:r>
              <a:rPr lang="en-US" dirty="0"/>
              <a:t>Enhanced Data Security</a:t>
            </a:r>
          </a:p>
          <a:p>
            <a:pPr marL="893763" lvl="1" indent="-350838">
              <a:lnSpc>
                <a:spcPct val="80000"/>
              </a:lnSpc>
            </a:pPr>
            <a:r>
              <a:rPr lang="en-US" sz="2000" dirty="0"/>
              <a:t>Reduces risks of cyberattacks, unauthorized access, and data leaks.</a:t>
            </a:r>
          </a:p>
          <a:p>
            <a:pPr marL="457200" indent="-432000">
              <a:lnSpc>
                <a:spcPct val="80000"/>
              </a:lnSpc>
              <a:buFont typeface="+mj-lt"/>
              <a:buAutoNum type="arabicPeriod"/>
            </a:pPr>
            <a:r>
              <a:rPr lang="en-US" dirty="0"/>
              <a:t>Better Decision Making</a:t>
            </a:r>
          </a:p>
          <a:p>
            <a:pPr marL="893763" lvl="1" indent="-350838">
              <a:lnSpc>
                <a:spcPct val="80000"/>
              </a:lnSpc>
            </a:pPr>
            <a:r>
              <a:rPr lang="en-US" sz="2000" dirty="0"/>
              <a:t>High-quality and well-managed data improves analytics and business decisions.</a:t>
            </a:r>
          </a:p>
          <a:p>
            <a:pPr marL="457200" indent="-432000">
              <a:lnSpc>
                <a:spcPct val="80000"/>
              </a:lnSpc>
              <a:buFont typeface="+mj-lt"/>
              <a:buAutoNum type="arabicPeriod"/>
            </a:pPr>
            <a:r>
              <a:rPr lang="en-US" dirty="0"/>
              <a:t>Competitive Advantage</a:t>
            </a:r>
          </a:p>
          <a:p>
            <a:pPr marL="893763" lvl="1" indent="-350838">
              <a:lnSpc>
                <a:spcPct val="80000"/>
              </a:lnSpc>
            </a:pPr>
            <a:r>
              <a:rPr lang="en-US" sz="2000" dirty="0"/>
              <a:t>Organizations with strong privacy and ethical practices gain better market reputation.</a:t>
            </a:r>
          </a:p>
          <a:p>
            <a:pPr marL="457200" indent="-432000">
              <a:lnSpc>
                <a:spcPct val="80000"/>
              </a:lnSpc>
              <a:buFont typeface="+mj-lt"/>
              <a:buAutoNum type="arabicPeriod"/>
            </a:pPr>
            <a:r>
              <a:rPr lang="en-US" dirty="0"/>
              <a:t>Increased Operational Efficiency</a:t>
            </a:r>
          </a:p>
          <a:p>
            <a:pPr marL="893763" lvl="1" indent="-350838">
              <a:lnSpc>
                <a:spcPct val="80000"/>
              </a:lnSpc>
            </a:pPr>
            <a:r>
              <a:rPr lang="en-US" sz="2000" dirty="0"/>
              <a:t>Clear governance policies improve data management and reduce errors.</a:t>
            </a:r>
          </a:p>
        </p:txBody>
      </p:sp>
    </p:spTree>
    <p:extLst>
      <p:ext uri="{BB962C8B-B14F-4D97-AF65-F5344CB8AC3E}">
        <p14:creationId xmlns:p14="http://schemas.microsoft.com/office/powerpoint/2010/main" val="61836208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1178</TotalTime>
  <Words>7493</Words>
  <Application>Microsoft Office PowerPoint</Application>
  <PresentationFormat>Widescreen</PresentationFormat>
  <Paragraphs>618</Paragraphs>
  <Slides>76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76</vt:i4>
      </vt:variant>
    </vt:vector>
  </HeadingPairs>
  <TitlesOfParts>
    <vt:vector size="81" baseType="lpstr">
      <vt:lpstr>Arial</vt:lpstr>
      <vt:lpstr>Calibri</vt:lpstr>
      <vt:lpstr>Calibri Light</vt:lpstr>
      <vt:lpstr>Wingdings</vt:lpstr>
      <vt:lpstr>Retrospect</vt:lpstr>
      <vt:lpstr>Information Technology </vt:lpstr>
      <vt:lpstr>Introduction to IT and Business Systems</vt:lpstr>
      <vt:lpstr>Fundamentals of Information Technology</vt:lpstr>
      <vt:lpstr>Fundamentals of Information Technology</vt:lpstr>
      <vt:lpstr>Role of IT in Business Operations</vt:lpstr>
      <vt:lpstr>Role of IT in Business Operations</vt:lpstr>
      <vt:lpstr>Overview of Business Systems (e.g., ERP, CRM)</vt:lpstr>
      <vt:lpstr>Overview of Business Systems (e.g., ERP, CRM)</vt:lpstr>
      <vt:lpstr>Interplay between IT and Business Strategy</vt:lpstr>
      <vt:lpstr>Interplay between IT and Business Strategy</vt:lpstr>
      <vt:lpstr>Data Types, Sources, and Lifecycle</vt:lpstr>
      <vt:lpstr>Understanding Different Data Types</vt:lpstr>
      <vt:lpstr>Understanding Different Data Types</vt:lpstr>
      <vt:lpstr>Common Data Sources</vt:lpstr>
      <vt:lpstr>Common Data Sources</vt:lpstr>
      <vt:lpstr>Common Data Sources</vt:lpstr>
      <vt:lpstr>Data Collection Methods</vt:lpstr>
      <vt:lpstr>Data Collection Methods</vt:lpstr>
      <vt:lpstr>Data Lifecycle Management</vt:lpstr>
      <vt:lpstr>Data Lifecycle Management</vt:lpstr>
      <vt:lpstr>Data Quality and Integrity</vt:lpstr>
      <vt:lpstr>Introduction to Business Analyst Role</vt:lpstr>
      <vt:lpstr>Definition and Responsibilities of a Business Analyst</vt:lpstr>
      <vt:lpstr>Definition and Responsibilities of a Business Analyst</vt:lpstr>
      <vt:lpstr>Key Skills for Business Analysts</vt:lpstr>
      <vt:lpstr>Key Skills for Business Analysts</vt:lpstr>
      <vt:lpstr>Business Analysis Methodologies</vt:lpstr>
      <vt:lpstr>Business Analysis Methodologies</vt:lpstr>
      <vt:lpstr>Stakeholder Management</vt:lpstr>
      <vt:lpstr>Stakeholder Management</vt:lpstr>
      <vt:lpstr>Data vs. Information</vt:lpstr>
      <vt:lpstr>Key Differences Between Data vs. Information</vt:lpstr>
      <vt:lpstr>Distinguishing Raw Data from Processed Information</vt:lpstr>
      <vt:lpstr>Distinguishing Raw Data from Processed Information</vt:lpstr>
      <vt:lpstr>Transformation Process: Data → Information → Knowledge</vt:lpstr>
      <vt:lpstr>Transformation Process: Data → Information → Knowledge</vt:lpstr>
      <vt:lpstr>Value of Information in Decision Making</vt:lpstr>
      <vt:lpstr>Value of Information in Decision Making</vt:lpstr>
      <vt:lpstr>Overview of Data-Driven Decision Making</vt:lpstr>
      <vt:lpstr>Principles of Data-Driven Decision Making</vt:lpstr>
      <vt:lpstr>Principles of Data-Driven Decision Making</vt:lpstr>
      <vt:lpstr>Benefits of Using Data for Decisions</vt:lpstr>
      <vt:lpstr>Benefits of Using Data for Decisions</vt:lpstr>
      <vt:lpstr>Steps in the Data-Driven Decision Process</vt:lpstr>
      <vt:lpstr>Steps in the Data-Driven Decision Process</vt:lpstr>
      <vt:lpstr>Challenges and Pitfalls in Data-Driven Approaches</vt:lpstr>
      <vt:lpstr>Challenges and Pitfalls in Data-Driven Approaches</vt:lpstr>
      <vt:lpstr>Case Discussions / Real-Life Examples</vt:lpstr>
      <vt:lpstr>How Scenario Analysis Works</vt:lpstr>
      <vt:lpstr>The Role of "Worst-Case" Scenarios</vt:lpstr>
      <vt:lpstr>Optimizing Investment Strategy</vt:lpstr>
      <vt:lpstr>Introduction to Data Governance &amp; Data Ethics</vt:lpstr>
      <vt:lpstr>What is Data Governance?</vt:lpstr>
      <vt:lpstr>Policies and Procedures</vt:lpstr>
      <vt:lpstr>Roles and Responsibilities</vt:lpstr>
      <vt:lpstr>Principles of Data Ethics</vt:lpstr>
      <vt:lpstr>Privacy and Confidentiality</vt:lpstr>
      <vt:lpstr>Privacy and Confidentiality</vt:lpstr>
      <vt:lpstr>Transparency and Accountability</vt:lpstr>
      <vt:lpstr>Transparency and Accountability</vt:lpstr>
      <vt:lpstr>Transparency and Accountability Concept</vt:lpstr>
      <vt:lpstr>Black Box Problem</vt:lpstr>
      <vt:lpstr>Why Does Data Ethics Matter?</vt:lpstr>
      <vt:lpstr>Regulatory Compliance (e.g., CCPA, GDPR)</vt:lpstr>
      <vt:lpstr>CCPA</vt:lpstr>
      <vt:lpstr>GDPR</vt:lpstr>
      <vt:lpstr>What is Considered Data Collection, Sale, and Processing in CCPA and GDPR?</vt:lpstr>
      <vt:lpstr>Under GDPR</vt:lpstr>
      <vt:lpstr>Under CCPA</vt:lpstr>
      <vt:lpstr>Difference Between GDPR and CCPA</vt:lpstr>
      <vt:lpstr>Building a Culture of Responsible Data Use</vt:lpstr>
      <vt:lpstr>Importance of Responsible Data Practices</vt:lpstr>
      <vt:lpstr>Role of Technology in Responsible Data Practices</vt:lpstr>
      <vt:lpstr>Challenges in Implementing Responsible Data Practices</vt:lpstr>
      <vt:lpstr>Strategies to Mitigate These Challenges</vt:lpstr>
      <vt:lpstr>Benefits of Responsible Data Practices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 Roy</dc:creator>
  <cp:lastModifiedBy>Deep Roy</cp:lastModifiedBy>
  <cp:revision>55</cp:revision>
  <dcterms:created xsi:type="dcterms:W3CDTF">2026-05-02T05:09:42Z</dcterms:created>
  <dcterms:modified xsi:type="dcterms:W3CDTF">2026-05-10T07:53:42Z</dcterms:modified>
</cp:coreProperties>
</file>